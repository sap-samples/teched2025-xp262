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2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33" r:id="rId12"/>
  </p:sldMasterIdLst>
  <p:notesMasterIdLst>
    <p:notesMasterId r:id="rId43"/>
  </p:notesMasterIdLst>
  <p:handoutMasterIdLst>
    <p:handoutMasterId r:id="rId44"/>
  </p:handoutMasterIdLst>
  <p:sldIdLst>
    <p:sldId id="2147483223" r:id="rId13"/>
    <p:sldId id="2147483254" r:id="rId14"/>
    <p:sldId id="2147483265" r:id="rId15"/>
    <p:sldId id="2147483627" r:id="rId16"/>
    <p:sldId id="2147483646" r:id="rId17"/>
    <p:sldId id="2147483628" r:id="rId18"/>
    <p:sldId id="2147483647" r:id="rId19"/>
    <p:sldId id="289" r:id="rId20"/>
    <p:sldId id="256" r:id="rId21"/>
    <p:sldId id="2147483217" r:id="rId22"/>
    <p:sldId id="2147483629" r:id="rId23"/>
    <p:sldId id="263" r:id="rId24"/>
    <p:sldId id="2147483631" r:id="rId25"/>
    <p:sldId id="264" r:id="rId26"/>
    <p:sldId id="9079" r:id="rId27"/>
    <p:sldId id="2145707077" r:id="rId28"/>
    <p:sldId id="2147479298" r:id="rId29"/>
    <p:sldId id="265" r:id="rId30"/>
    <p:sldId id="268" r:id="rId31"/>
    <p:sldId id="266" r:id="rId32"/>
    <p:sldId id="269" r:id="rId33"/>
    <p:sldId id="270" r:id="rId34"/>
    <p:sldId id="258" r:id="rId35"/>
    <p:sldId id="257" r:id="rId36"/>
    <p:sldId id="267" r:id="rId37"/>
    <p:sldId id="2147479322" r:id="rId38"/>
    <p:sldId id="2147483634" r:id="rId39"/>
    <p:sldId id="2147483642" r:id="rId40"/>
    <p:sldId id="2147483643" r:id="rId41"/>
    <p:sldId id="305" r:id="rId42"/>
  </p:sldIdLst>
  <p:sldSz cx="12195175" cy="6858000"/>
  <p:notesSz cx="6858000" cy="9144000"/>
  <p:custDataLst>
    <p:tags r:id="rId45"/>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3294" userDrawn="1">
          <p15:clr>
            <a:srgbClr val="A4A3A4"/>
          </p15:clr>
        </p15:guide>
        <p15:guide id="3" pos="38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75DE60F-F061-9186-C55D-060D315FF4C4}" name="Feng, Carol" initials="CF" userId="S::carol.feng01@sap.com::3fc581bf-0d26-4965-807f-00fa63ae760c" providerId="AD"/>
  <p188:author id="{BC6C5612-28C7-3751-1D41-096D80330BAE}" name="Matha, Marco" initials="M" userId="S::marco.matha@sap.com::8420c2ae-e31e-47f6-8fc9-180103c16cde" providerId="AD"/>
  <p188:author id="{B6EC8343-9CFC-03A5-80FF-91AD473335E8}" name="Hughes, Jamie" initials="JH" userId="S::jamie.hughes@sap.com::36cfe3be-5d77-46c3-bb00-4a5421f3e788" providerId="AD"/>
  <p188:author id="{5770498A-2AA0-5C4E-2767-32307344AD47}" name="Meagher, Jason" initials="MJ" userId="S::jason.meagher@sap.com::8df69b86-b6d1-4eb4-ac27-953ba6154118" providerId="AD"/>
  <p188:author id="{A0D2B7AF-1744-6A17-5999-E465F81803B5}" name="Bitz, Heidi" initials="HB" userId="S::heidi.bitz@sap.com::9967a29f-0951-4f19-aaf9-5b3fc039a285" providerId="AD"/>
  <p188:author id="{63B4E3E9-1F0E-BEB1-68BB-990E46E861E2}" name="Doreen Peters | ahorn. gmbh" initials="DP" userId="S::doreen@ahorngmbh.de::0c6c1e55-9a7d-45af-ad92-0b8be940a904" providerId="AD"/>
  <p188:author id="{36CCD9F5-6E60-7A73-1DCF-5563810D4955}" name="Maguire, Erin Rose (external - Service)" initials="MS" userId="S::erin.maguire@sap.com::31cd2fe5-b7ee-43ed-a3b6-34dde073ece3" providerId="AD"/>
  <p188:author id="{C20625FD-0F39-6CE0-C5B3-6DB553A9E917}" name="Krueger, Imke (external - Service)" initials="IK" userId="S::imke.krueger@sap.com::7a718e30-7757-4c5f-a851-fb217b5d2b30"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AF0"/>
    <a:srgbClr val="2CE0BF"/>
    <a:srgbClr val="016EFB"/>
    <a:srgbClr val="00278A"/>
    <a:srgbClr val="00144A"/>
    <a:srgbClr val="EBF8FF"/>
    <a:srgbClr val="FFFFFF"/>
    <a:srgbClr val="02414C"/>
    <a:srgbClr val="FFB300"/>
    <a:srgbClr val="D3B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41"/>
    <p:restoredTop sz="96625"/>
  </p:normalViewPr>
  <p:slideViewPr>
    <p:cSldViewPr snapToGrid="0">
      <p:cViewPr varScale="1">
        <p:scale>
          <a:sx n="158" d="100"/>
          <a:sy n="158" d="100"/>
        </p:scale>
        <p:origin x="200" y="1248"/>
      </p:cViewPr>
      <p:guideLst>
        <p:guide orient="horz" pos="3294"/>
        <p:guide pos="3841"/>
      </p:guideLst>
    </p:cSldViewPr>
  </p:slideViewPr>
  <p:notesTextViewPr>
    <p:cViewPr>
      <p:scale>
        <a:sx n="1" d="1"/>
        <a:sy n="1" d="1"/>
      </p:scale>
      <p:origin x="0" y="0"/>
    </p:cViewPr>
  </p:notesTextViewPr>
  <p:sorterViewPr>
    <p:cViewPr>
      <p:scale>
        <a:sx n="1" d="1"/>
        <a:sy n="1" d="1"/>
      </p:scale>
      <p:origin x="0" y="0"/>
    </p:cViewPr>
  </p:sorterViewPr>
  <p:notesViewPr>
    <p:cSldViewPr snapToGrid="0">
      <p:cViewPr varScale="1">
        <p:scale>
          <a:sx n="155" d="100"/>
          <a:sy n="155" d="100"/>
        </p:scale>
        <p:origin x="4848" y="19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9" Type="http://schemas.openxmlformats.org/officeDocument/2006/relationships/slide" Target="slides/slide27.xml"/><Relationship Id="rId21" Type="http://schemas.openxmlformats.org/officeDocument/2006/relationships/slide" Target="slides/slide9.xml"/><Relationship Id="rId34" Type="http://schemas.openxmlformats.org/officeDocument/2006/relationships/slide" Target="slides/slide22.xml"/><Relationship Id="rId42" Type="http://schemas.openxmlformats.org/officeDocument/2006/relationships/slide" Target="slides/slide30.xml"/><Relationship Id="rId47" Type="http://schemas.openxmlformats.org/officeDocument/2006/relationships/viewProps" Target="viewProps.xml"/><Relationship Id="rId50" Type="http://schemas.microsoft.com/office/2018/10/relationships/authors" Target="authors.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slide" Target="slides/slide4.xml"/><Relationship Id="rId29" Type="http://schemas.openxmlformats.org/officeDocument/2006/relationships/slide" Target="slides/slide17.xml"/><Relationship Id="rId11" Type="http://schemas.openxmlformats.org/officeDocument/2006/relationships/customXml" Target="../customXml/item11.xml"/><Relationship Id="rId24" Type="http://schemas.openxmlformats.org/officeDocument/2006/relationships/slide" Target="slides/slide12.xml"/><Relationship Id="rId32" Type="http://schemas.openxmlformats.org/officeDocument/2006/relationships/slide" Target="slides/slide20.xml"/><Relationship Id="rId37" Type="http://schemas.openxmlformats.org/officeDocument/2006/relationships/slide" Target="slides/slide25.xml"/><Relationship Id="rId40" Type="http://schemas.openxmlformats.org/officeDocument/2006/relationships/slide" Target="slides/slide28.xml"/><Relationship Id="rId45" Type="http://schemas.openxmlformats.org/officeDocument/2006/relationships/tags" Target="tags/tag1.xml"/><Relationship Id="rId5" Type="http://schemas.openxmlformats.org/officeDocument/2006/relationships/customXml" Target="../customXml/item5.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36" Type="http://schemas.openxmlformats.org/officeDocument/2006/relationships/slide" Target="slides/slide24.xml"/><Relationship Id="rId49" Type="http://schemas.openxmlformats.org/officeDocument/2006/relationships/tableStyles" Target="tableStyles.xml"/><Relationship Id="rId10" Type="http://schemas.openxmlformats.org/officeDocument/2006/relationships/customXml" Target="../customXml/item10.xml"/><Relationship Id="rId19" Type="http://schemas.openxmlformats.org/officeDocument/2006/relationships/slide" Target="slides/slide7.xml"/><Relationship Id="rId31" Type="http://schemas.openxmlformats.org/officeDocument/2006/relationships/slide" Target="slides/slide19.xml"/><Relationship Id="rId44"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slide" Target="slides/slide18.xml"/><Relationship Id="rId35" Type="http://schemas.openxmlformats.org/officeDocument/2006/relationships/slide" Target="slides/slide23.xml"/><Relationship Id="rId43" Type="http://schemas.openxmlformats.org/officeDocument/2006/relationships/notesMaster" Target="notesMasters/notesMaster1.xml"/><Relationship Id="rId48" Type="http://schemas.openxmlformats.org/officeDocument/2006/relationships/theme" Target="theme/theme1.xml"/><Relationship Id="rId8" Type="http://schemas.openxmlformats.org/officeDocument/2006/relationships/customXml" Target="../customXml/item8.xml"/><Relationship Id="rId3" Type="http://schemas.openxmlformats.org/officeDocument/2006/relationships/customXml" Target="../customXml/item3.xml"/><Relationship Id="rId12" Type="http://schemas.openxmlformats.org/officeDocument/2006/relationships/slideMaster" Target="slideMasters/slideMaster1.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slide" Target="slides/slide21.xml"/><Relationship Id="rId38" Type="http://schemas.openxmlformats.org/officeDocument/2006/relationships/slide" Target="slides/slide26.xml"/><Relationship Id="rId46" Type="http://schemas.openxmlformats.org/officeDocument/2006/relationships/presProps" Target="presProps.xml"/><Relationship Id="rId20" Type="http://schemas.openxmlformats.org/officeDocument/2006/relationships/slide" Target="slides/slide8.xml"/><Relationship Id="rId41" Type="http://schemas.openxmlformats.org/officeDocument/2006/relationships/slide" Target="slides/slide29.xml"/><Relationship Id="rId1" Type="http://schemas.openxmlformats.org/officeDocument/2006/relationships/customXml" Target="../customXml/item1.xml"/><Relationship Id="rId6" Type="http://schemas.openxmlformats.org/officeDocument/2006/relationships/customXml" Target="../customXml/item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72 Brand" panose="020B0504030603020204" pitchFamily="34" charset="0"/>
              </a:rPr>
              <a:pPr algn="ctr"/>
              <a:t>‹Nr.›</a:t>
            </a:fld>
            <a:endParaRPr lang="de-DE" sz="1000">
              <a:latin typeface="72 Brand" panose="020B0504030603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b="0" i="0">
                <a:latin typeface="72 Brand" panose="020B0504030603020204" pitchFamily="34" charset="0"/>
              </a:defRPr>
            </a:lvl1pPr>
          </a:lstStyle>
          <a:p>
            <a:fld id="{7D8C2C35-2B8A-446E-BEC0-FD36716C29AC}" type="slidenum">
              <a:rPr lang="en-DE" smtClean="0"/>
              <a:pPr/>
              <a:t>‹Nr.›</a:t>
            </a:fld>
            <a:endParaRPr lang="en-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b="0" i="0" kern="1200">
        <a:solidFill>
          <a:schemeClr val="tx1"/>
        </a:solidFill>
        <a:latin typeface="72 Brand" panose="020B0504030603020204" pitchFamily="34" charset="0"/>
        <a:ea typeface="+mn-ea"/>
        <a:cs typeface="+mn-cs"/>
      </a:defRPr>
    </a:lvl1pPr>
    <a:lvl2pPr marL="180000" indent="-180000" algn="l" defTabSz="1088776" rtl="0" eaLnBrk="1" latinLnBrk="0" hangingPunct="1">
      <a:buClr>
        <a:schemeClr val="accent1"/>
      </a:buClr>
      <a:buSzPct val="100000"/>
      <a:buFont typeface="Wingdings" pitchFamily="2" charset="2"/>
      <a:buChar char=""/>
      <a:defRPr sz="1400" b="0" i="0" kern="1200">
        <a:solidFill>
          <a:schemeClr val="tx1"/>
        </a:solidFill>
        <a:latin typeface="72 Brand" panose="020B0504030603020204" pitchFamily="34" charset="0"/>
        <a:ea typeface="+mn-ea"/>
        <a:cs typeface="+mn-cs"/>
      </a:defRPr>
    </a:lvl2pPr>
    <a:lvl3pPr marL="360000" indent="-180000" algn="l" defTabSz="1088776" rtl="0" eaLnBrk="1" latinLnBrk="0" hangingPunct="1">
      <a:buClr>
        <a:schemeClr val="accent2"/>
      </a:buClr>
      <a:buSzPct val="80000"/>
      <a:buFont typeface="Symbol" pitchFamily="18" charset="2"/>
      <a:buChar char="-"/>
      <a:defRPr sz="1200" b="0" i="0" kern="1200">
        <a:solidFill>
          <a:schemeClr val="tx1"/>
        </a:solidFill>
        <a:latin typeface="72 Brand" panose="020B0504030603020204" pitchFamily="34" charset="0"/>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7D8C2C35-2B8A-446E-BEC0-FD36716C29AC}" type="slidenum">
              <a:rPr lang="de-DE" smtClean="0"/>
              <a:pPr/>
              <a:t>2</a:t>
            </a:fld>
            <a:endParaRPr lang="de-DE"/>
          </a:p>
        </p:txBody>
      </p:sp>
      <p:sp>
        <p:nvSpPr>
          <p:cNvPr id="9" name="Slide Image Placeholder 8"/>
          <p:cNvSpPr>
            <a:spLocks noGrp="1" noRot="1" noChangeAspect="1"/>
          </p:cNvSpPr>
          <p:nvPr>
            <p:ph type="sldImg"/>
          </p:nvPr>
        </p:nvSpPr>
        <p:spPr>
          <a:xfrm>
            <a:off x="547688" y="612775"/>
            <a:ext cx="5762625" cy="3241675"/>
          </a:xfrm>
        </p:spPr>
        <p:txBody>
          <a:bodyPr/>
          <a:lstStyle/>
          <a:p>
            <a:endParaRPr lang="de-DE"/>
          </a:p>
        </p:txBody>
      </p:sp>
      <p:sp>
        <p:nvSpPr>
          <p:cNvPr id="10" name="Notes Placeholder 9"/>
          <p:cNvSpPr>
            <a:spLocks noGrp="1"/>
          </p:cNvSpPr>
          <p:nvPr>
            <p:ph type="body" idx="1"/>
          </p:nvPr>
        </p:nvSpPr>
        <p:spPr/>
        <p:txBody>
          <a:bodyPr>
            <a:normAutofit/>
          </a:bodyPr>
          <a:lstStyle/>
          <a:p>
            <a:endParaRPr lang="en-US"/>
          </a:p>
        </p:txBody>
      </p:sp>
    </p:spTree>
    <p:extLst>
      <p:ext uri="{BB962C8B-B14F-4D97-AF65-F5344CB8AC3E}">
        <p14:creationId xmlns:p14="http://schemas.microsoft.com/office/powerpoint/2010/main" val="771772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4463" y="390525"/>
            <a:ext cx="7146926" cy="4019550"/>
          </a:xfrm>
        </p:spPr>
        <p:txBody>
          <a:bodyPr/>
          <a:lstStyle/>
          <a:p>
            <a:endParaRPr lang="de-DE"/>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de-DE" smtClean="0"/>
              <a:pPr/>
              <a:t>4</a:t>
            </a:fld>
            <a:endParaRPr lang="de-DE"/>
          </a:p>
        </p:txBody>
      </p:sp>
    </p:spTree>
    <p:extLst>
      <p:ext uri="{BB962C8B-B14F-4D97-AF65-F5344CB8AC3E}">
        <p14:creationId xmlns:p14="http://schemas.microsoft.com/office/powerpoint/2010/main" val="874118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1EE76-C3B6-B2A9-064C-754DB3F8FDC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279D6B6-D29D-3DF7-D65E-13E378547A5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17DFB47-142E-3283-0216-C0BEE74DC5C1}"/>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6ECE5248-A9F7-9528-81CF-3C9B5B4DF9B1}"/>
              </a:ext>
            </a:extLst>
          </p:cNvPr>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en-DE" sz="8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5</a:t>
            </a:fld>
            <a:endParaRPr kumimoji="0" lang="en-DE" sz="8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0437227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1088776" rtl="0" eaLnBrk="1" fontAlgn="auto" latinLnBrk="0" hangingPunct="1">
              <a:lnSpc>
                <a:spcPct val="100000"/>
              </a:lnSpc>
              <a:spcBef>
                <a:spcPts val="0"/>
              </a:spcBef>
              <a:spcAft>
                <a:spcPts val="0"/>
              </a:spcAft>
              <a:buClrTx/>
              <a:buSzTx/>
              <a:buFontTx/>
              <a:buNone/>
              <a:tabLst/>
              <a:defRPr/>
            </a:pPr>
            <a:endParaRPr lang="en-US" b="0" i="0">
              <a:solidFill>
                <a:srgbClr val="3C3C3C"/>
              </a:solidFill>
              <a:effectLst/>
              <a:latin typeface="SAPRegular"/>
            </a:endParaRPr>
          </a:p>
        </p:txBody>
      </p:sp>
      <p:sp>
        <p:nvSpPr>
          <p:cNvPr id="4" name="Slide Number Placeholder 3"/>
          <p:cNvSpPr>
            <a:spLocks noGrp="1"/>
          </p:cNvSpPr>
          <p:nvPr>
            <p:ph type="sldNum" sz="quarter" idx="5"/>
          </p:nvPr>
        </p:nvSpPr>
        <p:spPr/>
        <p:txBody>
          <a:bodyPr/>
          <a:lstStyle/>
          <a:p>
            <a:pPr marL="0" marR="0" lvl="0" indent="0" algn="ctr" defTabSz="1088776" rtl="0" eaLnBrk="1" fontAlgn="auto" latinLnBrk="0" hangingPunct="1">
              <a:lnSpc>
                <a:spcPct val="100000"/>
              </a:lnSpc>
              <a:spcBef>
                <a:spcPts val="0"/>
              </a:spcBef>
              <a:spcAft>
                <a:spcPts val="0"/>
              </a:spcAft>
              <a:buClrTx/>
              <a:buSzTx/>
              <a:buFontTx/>
              <a:buNone/>
              <a:tabLst/>
              <a:defRPr/>
            </a:pPr>
            <a:fld id="{7D8C2C35-2B8A-446E-BEC0-FD36716C29AC}" type="slidenum">
              <a:rPr kumimoji="0" lang="de-DE" sz="800" b="0" i="0" u="none" strike="noStrike" kern="1200" cap="none" spc="0" normalizeH="0" baseline="0" noProof="0" smtClean="0">
                <a:ln>
                  <a:noFill/>
                </a:ln>
                <a:solidFill>
                  <a:srgbClr val="000000"/>
                </a:solidFill>
                <a:effectLst/>
                <a:uLnTx/>
                <a:uFillTx/>
                <a:latin typeface="Arial"/>
                <a:ea typeface="+mn-ea"/>
                <a:cs typeface="+mn-cs"/>
              </a:rPr>
              <a:pPr marL="0" marR="0" lvl="0" indent="0" algn="ctr" defTabSz="1088776" rtl="0" eaLnBrk="1" fontAlgn="auto" latinLnBrk="0" hangingPunct="1">
                <a:lnSpc>
                  <a:spcPct val="100000"/>
                </a:lnSpc>
                <a:spcBef>
                  <a:spcPts val="0"/>
                </a:spcBef>
                <a:spcAft>
                  <a:spcPts val="0"/>
                </a:spcAft>
                <a:buClrTx/>
                <a:buSzTx/>
                <a:buFontTx/>
                <a:buNone/>
                <a:tabLst/>
                <a:defRPr/>
              </a:pPr>
              <a:t>7</a:t>
            </a:fld>
            <a:endParaRPr kumimoji="0" lang="de-DE" sz="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2935658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https://</a:t>
            </a:r>
            <a:r>
              <a:rPr lang="en-US" err="1"/>
              <a:t>me.sap.com</a:t>
            </a:r>
            <a:r>
              <a:rPr lang="en-US"/>
              <a:t>/notes/3578329</a:t>
            </a:r>
          </a:p>
        </p:txBody>
      </p:sp>
      <p:sp>
        <p:nvSpPr>
          <p:cNvPr id="4" name="Foliennummernplatzhalter 3"/>
          <p:cNvSpPr>
            <a:spLocks noGrp="1"/>
          </p:cNvSpPr>
          <p:nvPr>
            <p:ph type="sldNum" sz="quarter" idx="5"/>
          </p:nvPr>
        </p:nvSpPr>
        <p:spPr/>
        <p:txBody>
          <a:bodyPr/>
          <a:lstStyle/>
          <a:p>
            <a:fld id="{6AF2345D-7833-5E40-B717-EC5A44ACDF82}" type="slidenum">
              <a:rPr lang="en-US" smtClean="0"/>
              <a:t>8</a:t>
            </a:fld>
            <a:endParaRPr lang="en-US"/>
          </a:p>
        </p:txBody>
      </p:sp>
    </p:spTree>
    <p:extLst>
      <p:ext uri="{BB962C8B-B14F-4D97-AF65-F5344CB8AC3E}">
        <p14:creationId xmlns:p14="http://schemas.microsoft.com/office/powerpoint/2010/main" val="1926586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76E5-2CA0-8F15-4F7D-0A2608A32085}"/>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A2C296C-DA80-1402-5E1F-9F69E7B2A5F9}"/>
              </a:ext>
            </a:extLst>
          </p:cNvPr>
          <p:cNvSpPr>
            <a:spLocks noGrp="1" noRot="1" noChangeAspect="1"/>
          </p:cNvSpPr>
          <p:nvPr>
            <p:ph type="sldImg"/>
          </p:nvPr>
        </p:nvSpPr>
        <p:spPr/>
        <p:txBody>
          <a:bodyPr/>
          <a:lstStyle/>
          <a:p>
            <a:endParaRPr lang="de-DE"/>
          </a:p>
        </p:txBody>
      </p:sp>
      <p:sp>
        <p:nvSpPr>
          <p:cNvPr id="3" name="Notizenplatzhalter 2">
            <a:extLst>
              <a:ext uri="{FF2B5EF4-FFF2-40B4-BE49-F238E27FC236}">
                <a16:creationId xmlns:a16="http://schemas.microsoft.com/office/drawing/2014/main" id="{16CB9EAC-ABD1-179B-4C24-0E2275830F5E}"/>
              </a:ext>
            </a:extLst>
          </p:cNvPr>
          <p:cNvSpPr>
            <a:spLocks noGrp="1"/>
          </p:cNvSpPr>
          <p:nvPr>
            <p:ph type="body" idx="1"/>
          </p:nvPr>
        </p:nvSpPr>
        <p:spPr/>
        <p:txBody>
          <a:bodyPr/>
          <a:lstStyle/>
          <a:p>
            <a:endParaRPr lang="en-US"/>
          </a:p>
        </p:txBody>
      </p:sp>
      <p:sp>
        <p:nvSpPr>
          <p:cNvPr id="4" name="Foliennummernplatzhalter 3">
            <a:extLst>
              <a:ext uri="{FF2B5EF4-FFF2-40B4-BE49-F238E27FC236}">
                <a16:creationId xmlns:a16="http://schemas.microsoft.com/office/drawing/2014/main" id="{2BF0C9C5-AC5A-27B6-2225-58E2353233F3}"/>
              </a:ext>
            </a:extLst>
          </p:cNvPr>
          <p:cNvSpPr>
            <a:spLocks noGrp="1"/>
          </p:cNvSpPr>
          <p:nvPr>
            <p:ph type="sldNum" sz="quarter" idx="5"/>
          </p:nvPr>
        </p:nvSpPr>
        <p:spPr/>
        <p:txBody>
          <a:bodyPr/>
          <a:lstStyle/>
          <a:p>
            <a:fld id="{7D8C2C35-2B8A-446E-BEC0-FD36716C29AC}" type="slidenum">
              <a:rPr lang="de-DE" smtClean="0"/>
              <a:pPr/>
              <a:t>13</a:t>
            </a:fld>
            <a:endParaRPr lang="de-DE"/>
          </a:p>
        </p:txBody>
      </p:sp>
    </p:spTree>
    <p:extLst>
      <p:ext uri="{BB962C8B-B14F-4D97-AF65-F5344CB8AC3E}">
        <p14:creationId xmlns:p14="http://schemas.microsoft.com/office/powerpoint/2010/main" val="13206335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de-DE"/>
          </a:p>
        </p:txBody>
      </p:sp>
      <p:sp>
        <p:nvSpPr>
          <p:cNvPr id="3" name="Notes Placeholder 2"/>
          <p:cNvSpPr>
            <a:spLocks noGrp="1"/>
          </p:cNvSpPr>
          <p:nvPr>
            <p:ph type="body" idx="1"/>
          </p:nvPr>
        </p:nvSpPr>
        <p:spPr/>
        <p:txBody>
          <a:bodyPr/>
          <a:lstStyle/>
          <a:p>
            <a:endParaRPr lang="en-US" noProof="0"/>
          </a:p>
        </p:txBody>
      </p:sp>
      <p:sp>
        <p:nvSpPr>
          <p:cNvPr id="4" name="Slide Number Placeholder 3"/>
          <p:cNvSpPr>
            <a:spLocks noGrp="1"/>
          </p:cNvSpPr>
          <p:nvPr>
            <p:ph type="sldNum" sz="quarter" idx="10"/>
          </p:nvPr>
        </p:nvSpPr>
        <p:spPr/>
        <p:txBody>
          <a:bodyPr/>
          <a:lstStyle/>
          <a:p>
            <a:pPr marL="0" marR="0" lvl="0" indent="0" algn="r" defTabSz="1220084" rtl="0" eaLnBrk="1" fontAlgn="auto" latinLnBrk="0" hangingPunct="1">
              <a:lnSpc>
                <a:spcPct val="100000"/>
              </a:lnSpc>
              <a:spcBef>
                <a:spcPts val="0"/>
              </a:spcBef>
              <a:spcAft>
                <a:spcPts val="0"/>
              </a:spcAft>
              <a:buClrTx/>
              <a:buSzTx/>
              <a:buFontTx/>
              <a:buNone/>
              <a:tabLst/>
              <a:defRPr/>
            </a:pPr>
            <a:fld id="{50BA142A-422A-42AA-9E63-183E3460DBC6}" type="slidenum">
              <a:rPr kumimoji="0" lang="de-DE"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20084"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2364752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txBody>
          <a:bodyPr/>
          <a:lstStyle/>
          <a:p>
            <a:endParaRPr lang="de-DE"/>
          </a:p>
        </p:txBody>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fld id="{7D8C2C35-2B8A-446E-BEC0-FD36716C29AC}" type="slidenum">
              <a:rPr lang="de-DE" smtClean="0"/>
              <a:pPr/>
              <a:t>16</a:t>
            </a:fld>
            <a:endParaRPr lang="de-DE"/>
          </a:p>
        </p:txBody>
      </p:sp>
    </p:spTree>
    <p:extLst>
      <p:ext uri="{BB962C8B-B14F-4D97-AF65-F5344CB8AC3E}">
        <p14:creationId xmlns:p14="http://schemas.microsoft.com/office/powerpoint/2010/main" val="1792553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69473-6554-7B94-A0A1-AB6A961D2C5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302A031-7B60-4A4B-48C4-D4847DEC003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DCA624B-4624-C2A7-089F-59469E0B3F10}"/>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C3424E20-B6DC-C7B2-F97E-B7B52A09685B}"/>
              </a:ext>
            </a:extLst>
          </p:cNvPr>
          <p:cNvSpPr>
            <a:spLocks noGrp="1"/>
          </p:cNvSpPr>
          <p:nvPr>
            <p:ph type="sldNum" sz="quarter" idx="5"/>
          </p:nvPr>
        </p:nvSpPr>
        <p:spPr/>
        <p:txBody>
          <a:bodyPr/>
          <a:lstStyle/>
          <a:p>
            <a:fld id="{7D8C2C35-2B8A-446E-BEC0-FD36716C29AC}" type="slidenum">
              <a:rPr lang="de-DE" smtClean="0"/>
              <a:pPr/>
              <a:t>19</a:t>
            </a:fld>
            <a:endParaRPr lang="de-DE"/>
          </a:p>
        </p:txBody>
      </p:sp>
    </p:spTree>
    <p:extLst>
      <p:ext uri="{BB962C8B-B14F-4D97-AF65-F5344CB8AC3E}">
        <p14:creationId xmlns:p14="http://schemas.microsoft.com/office/powerpoint/2010/main" val="18990624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674E-64CF-C70B-67E4-7C0C9DF277A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BDC127D-2677-9D41-42E0-1DF53718DDD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1D8FC59-F612-92DB-6595-4251BD6CC767}"/>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AC091AD7-95FA-4582-ADB4-06398C56DFFD}"/>
              </a:ext>
            </a:extLst>
          </p:cNvPr>
          <p:cNvSpPr>
            <a:spLocks noGrp="1"/>
          </p:cNvSpPr>
          <p:nvPr>
            <p:ph type="sldNum" sz="quarter" idx="5"/>
          </p:nvPr>
        </p:nvSpPr>
        <p:spPr/>
        <p:txBody>
          <a:bodyPr/>
          <a:lstStyle/>
          <a:p>
            <a:fld id="{7D8C2C35-2B8A-446E-BEC0-FD36716C29AC}" type="slidenum">
              <a:rPr lang="de-DE" smtClean="0"/>
              <a:pPr/>
              <a:t>20</a:t>
            </a:fld>
            <a:endParaRPr lang="de-DE"/>
          </a:p>
        </p:txBody>
      </p:sp>
    </p:spTree>
    <p:extLst>
      <p:ext uri="{BB962C8B-B14F-4D97-AF65-F5344CB8AC3E}">
        <p14:creationId xmlns:p14="http://schemas.microsoft.com/office/powerpoint/2010/main" val="2747290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620F8-AC67-CCAB-AB33-0FF7AF7A30E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C8CD2E3-9DEE-130C-66D3-20247282B969}"/>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9BD3503-CB78-5566-27AF-555A4E600B32}"/>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FD76839C-B629-0E67-1327-0EBE86E53D04}"/>
              </a:ext>
            </a:extLst>
          </p:cNvPr>
          <p:cNvSpPr>
            <a:spLocks noGrp="1"/>
          </p:cNvSpPr>
          <p:nvPr>
            <p:ph type="sldNum" sz="quarter" idx="5"/>
          </p:nvPr>
        </p:nvSpPr>
        <p:spPr/>
        <p:txBody>
          <a:bodyPr/>
          <a:lstStyle/>
          <a:p>
            <a:fld id="{7D8C2C35-2B8A-446E-BEC0-FD36716C29AC}" type="slidenum">
              <a:rPr lang="de-DE" smtClean="0"/>
              <a:pPr/>
              <a:t>21</a:t>
            </a:fld>
            <a:endParaRPr lang="de-DE"/>
          </a:p>
        </p:txBody>
      </p:sp>
    </p:spTree>
    <p:extLst>
      <p:ext uri="{BB962C8B-B14F-4D97-AF65-F5344CB8AC3E}">
        <p14:creationId xmlns:p14="http://schemas.microsoft.com/office/powerpoint/2010/main" val="3691763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716E5-7807-CEFD-40BF-EA96D6B68CF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640F21C0-A9F1-80C9-6652-EB74A851E51B}"/>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423FE24-F2C2-D5D2-AF25-3BD6320CBCBA}"/>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39F54C0C-97B0-6E40-01AA-B7EE479564E6}"/>
              </a:ext>
            </a:extLst>
          </p:cNvPr>
          <p:cNvSpPr>
            <a:spLocks noGrp="1"/>
          </p:cNvSpPr>
          <p:nvPr>
            <p:ph type="sldNum" sz="quarter" idx="5"/>
          </p:nvPr>
        </p:nvSpPr>
        <p:spPr/>
        <p:txBody>
          <a:bodyPr/>
          <a:lstStyle/>
          <a:p>
            <a:fld id="{7D8C2C35-2B8A-446E-BEC0-FD36716C29AC}" type="slidenum">
              <a:rPr lang="de-DE" smtClean="0"/>
              <a:pPr/>
              <a:t>22</a:t>
            </a:fld>
            <a:endParaRPr lang="de-DE"/>
          </a:p>
        </p:txBody>
      </p:sp>
    </p:spTree>
    <p:extLst>
      <p:ext uri="{BB962C8B-B14F-4D97-AF65-F5344CB8AC3E}">
        <p14:creationId xmlns:p14="http://schemas.microsoft.com/office/powerpoint/2010/main" val="27554740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a:p>
        </p:txBody>
      </p:sp>
      <p:sp>
        <p:nvSpPr>
          <p:cNvPr id="4" name="Foliennummernplatzhalter 3"/>
          <p:cNvSpPr>
            <a:spLocks noGrp="1"/>
          </p:cNvSpPr>
          <p:nvPr>
            <p:ph type="sldNum" sz="quarter" idx="5"/>
          </p:nvPr>
        </p:nvSpPr>
        <p:spPr/>
        <p:txBody>
          <a:bodyPr/>
          <a:lstStyle/>
          <a:p>
            <a:fld id="{7D8C2C35-2B8A-446E-BEC0-FD36716C29AC}" type="slidenum">
              <a:rPr lang="de-DE" smtClean="0"/>
              <a:pPr/>
              <a:t>26</a:t>
            </a:fld>
            <a:endParaRPr lang="de-DE"/>
          </a:p>
        </p:txBody>
      </p:sp>
    </p:spTree>
    <p:extLst>
      <p:ext uri="{BB962C8B-B14F-4D97-AF65-F5344CB8AC3E}">
        <p14:creationId xmlns:p14="http://schemas.microsoft.com/office/powerpoint/2010/main" val="2038590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DCE93-6630-2751-CD03-11512F71181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E65294E-0004-8A23-E2FB-07FB745D6E12}"/>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D0ACCAC-E8B3-197F-28FA-2BA6450175C3}"/>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AC43BCAF-EFFF-6C26-358A-62D94F775078}"/>
              </a:ext>
            </a:extLst>
          </p:cNvPr>
          <p:cNvSpPr>
            <a:spLocks noGrp="1"/>
          </p:cNvSpPr>
          <p:nvPr>
            <p:ph type="sldNum" sz="quarter" idx="5"/>
          </p:nvPr>
        </p:nvSpPr>
        <p:spPr/>
        <p:txBody>
          <a:bodyPr/>
          <a:lstStyle/>
          <a:p>
            <a:fld id="{7D8C2C35-2B8A-446E-BEC0-FD36716C29AC}" type="slidenum">
              <a:rPr lang="de-DE" smtClean="0"/>
              <a:pPr/>
              <a:t>27</a:t>
            </a:fld>
            <a:endParaRPr lang="de-DE"/>
          </a:p>
        </p:txBody>
      </p:sp>
    </p:spTree>
    <p:extLst>
      <p:ext uri="{BB962C8B-B14F-4D97-AF65-F5344CB8AC3E}">
        <p14:creationId xmlns:p14="http://schemas.microsoft.com/office/powerpoint/2010/main" val="8375910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98DF3-80D1-24B4-A4A1-8E78462AD35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A7A79FFC-BA34-64BB-CE1F-9BF80A52328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2A5FD66-6930-0A73-9D94-6AB070C50FA2}"/>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020CDFDF-C329-C4E2-5922-E63D682BC133}"/>
              </a:ext>
            </a:extLst>
          </p:cNvPr>
          <p:cNvSpPr>
            <a:spLocks noGrp="1"/>
          </p:cNvSpPr>
          <p:nvPr>
            <p:ph type="sldNum" sz="quarter" idx="5"/>
          </p:nvPr>
        </p:nvSpPr>
        <p:spPr/>
        <p:txBody>
          <a:bodyPr/>
          <a:lstStyle/>
          <a:p>
            <a:fld id="{7D8C2C35-2B8A-446E-BEC0-FD36716C29AC}" type="slidenum">
              <a:rPr lang="de-DE" smtClean="0"/>
              <a:pPr/>
              <a:t>28</a:t>
            </a:fld>
            <a:endParaRPr lang="de-DE"/>
          </a:p>
        </p:txBody>
      </p:sp>
    </p:spTree>
    <p:extLst>
      <p:ext uri="{BB962C8B-B14F-4D97-AF65-F5344CB8AC3E}">
        <p14:creationId xmlns:p14="http://schemas.microsoft.com/office/powerpoint/2010/main" val="36000084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856B3-D311-3E11-AE5A-4ABFAB212DAF}"/>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2AF771D-B605-57A7-FF67-BF3946BF699D}"/>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40C2CEEB-7D56-C2FD-32BF-7E26123C0D63}"/>
              </a:ext>
            </a:extLst>
          </p:cNvPr>
          <p:cNvSpPr>
            <a:spLocks noGrp="1"/>
          </p:cNvSpPr>
          <p:nvPr>
            <p:ph type="body" idx="1"/>
          </p:nvPr>
        </p:nvSpPr>
        <p:spPr/>
        <p:txBody>
          <a:bodyPr/>
          <a:lstStyle/>
          <a:p>
            <a:endParaRPr lang="en-US" dirty="0"/>
          </a:p>
        </p:txBody>
      </p:sp>
      <p:sp>
        <p:nvSpPr>
          <p:cNvPr id="4" name="Foliennummernplatzhalter 3">
            <a:extLst>
              <a:ext uri="{FF2B5EF4-FFF2-40B4-BE49-F238E27FC236}">
                <a16:creationId xmlns:a16="http://schemas.microsoft.com/office/drawing/2014/main" id="{2655A797-5AB6-5E3E-F444-804D819AAD95}"/>
              </a:ext>
            </a:extLst>
          </p:cNvPr>
          <p:cNvSpPr>
            <a:spLocks noGrp="1"/>
          </p:cNvSpPr>
          <p:nvPr>
            <p:ph type="sldNum" sz="quarter" idx="5"/>
          </p:nvPr>
        </p:nvSpPr>
        <p:spPr/>
        <p:txBody>
          <a:bodyPr/>
          <a:lstStyle/>
          <a:p>
            <a:fld id="{7D8C2C35-2B8A-446E-BEC0-FD36716C29AC}" type="slidenum">
              <a:rPr lang="de-DE" smtClean="0"/>
              <a:pPr/>
              <a:t>29</a:t>
            </a:fld>
            <a:endParaRPr lang="de-DE"/>
          </a:p>
        </p:txBody>
      </p:sp>
    </p:spTree>
    <p:extLst>
      <p:ext uri="{BB962C8B-B14F-4D97-AF65-F5344CB8AC3E}">
        <p14:creationId xmlns:p14="http://schemas.microsoft.com/office/powerpoint/2010/main" val="13036045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2.xml"/><Relationship Id="rId5" Type="http://schemas.openxmlformats.org/officeDocument/2006/relationships/image" Target="../media/image6.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Dark Blue">
    <p:bg>
      <p:bgPr>
        <a:solidFill>
          <a:srgbClr val="00144A"/>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99" y="1858963"/>
            <a:ext cx="4271575" cy="1844550"/>
          </a:xfrm>
        </p:spPr>
        <p:txBody>
          <a:bodyPr anchor="b" anchorCtr="0">
            <a:noAutofit/>
          </a:bodyPr>
          <a:lstStyle>
            <a:lvl1pPr>
              <a:lnSpc>
                <a:spcPct val="90000"/>
              </a:lnSpc>
              <a:defRPr sz="3200"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600" kern="0">
              <a:ea typeface="72 Brand" pitchFamily="34" charset="-128"/>
              <a:cs typeface="72 Brand" pitchFamily="34" charset="-128"/>
            </a:endParaRPr>
          </a:p>
        </p:txBody>
      </p:sp>
      <p:pic>
        <p:nvPicPr>
          <p:cNvPr id="6" name="object 10">
            <a:extLst>
              <a:ext uri="{FF2B5EF4-FFF2-40B4-BE49-F238E27FC236}">
                <a16:creationId xmlns:a16="http://schemas.microsoft.com/office/drawing/2014/main" id="{C6B76F5E-4398-BD16-B5D6-62F9A27FF810}"/>
              </a:ext>
            </a:extLst>
          </p:cNvPr>
          <p:cNvPicPr/>
          <p:nvPr userDrawn="1"/>
        </p:nvPicPr>
        <p:blipFill>
          <a:blip r:embed="rId3"/>
          <a:srcRect/>
          <a:stretch/>
        </p:blipFill>
        <p:spPr>
          <a:xfrm>
            <a:off x="293337" y="284307"/>
            <a:ext cx="1516538" cy="214363"/>
          </a:xfrm>
          <a:prstGeom prst="rect">
            <a:avLst/>
          </a:prstGeom>
        </p:spPr>
      </p:pic>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7"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dirty="0"/>
              <a:t>Speaker Name, SAP</a:t>
            </a:r>
          </a:p>
          <a:p>
            <a:pPr lvl="0"/>
            <a:r>
              <a:rPr lang="en-US" dirty="0"/>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7"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9" name="Picture 8" descr="A black and white logo&#10;&#10;AI-generated content may be incorrect.">
            <a:extLst>
              <a:ext uri="{FF2B5EF4-FFF2-40B4-BE49-F238E27FC236}">
                <a16:creationId xmlns:a16="http://schemas.microsoft.com/office/drawing/2014/main" id="{3805DC2B-6B5F-D1FB-BFD0-EF9A7EC4DD86}"/>
              </a:ext>
            </a:extLst>
          </p:cNvPr>
          <p:cNvPicPr>
            <a:picLocks noChangeAspect="1"/>
          </p:cNvPicPr>
          <p:nvPr userDrawn="1"/>
        </p:nvPicPr>
        <p:blipFill>
          <a:blip r:embed="rId4"/>
          <a:stretch>
            <a:fillRect/>
          </a:stretch>
        </p:blipFill>
        <p:spPr>
          <a:xfrm>
            <a:off x="282575" y="6213693"/>
            <a:ext cx="1769400" cy="360000"/>
          </a:xfrm>
          <a:prstGeom prst="rect">
            <a:avLst/>
          </a:prstGeom>
        </p:spPr>
      </p:pic>
      <p:pic>
        <p:nvPicPr>
          <p:cNvPr id="7" name="Grafik 6" descr="Ein Bild, das Grafiken, Screenshot, Farbigkeit, Grafikdesign enthält.&#10;&#10;KI-generierte Inhalte können fehlerhaft sein.">
            <a:extLst>
              <a:ext uri="{FF2B5EF4-FFF2-40B4-BE49-F238E27FC236}">
                <a16:creationId xmlns:a16="http://schemas.microsoft.com/office/drawing/2014/main" id="{DA354FE0-E933-A50A-AB72-1D22C950D781}"/>
              </a:ext>
            </a:extLst>
          </p:cNvPr>
          <p:cNvPicPr>
            <a:picLocks noChangeAspect="1"/>
          </p:cNvPicPr>
          <p:nvPr userDrawn="1"/>
        </p:nvPicPr>
        <p:blipFill>
          <a:blip r:embed="rId5"/>
          <a:stretch>
            <a:fillRect/>
          </a:stretch>
        </p:blipFill>
        <p:spPr>
          <a:xfrm>
            <a:off x="5126806" y="1301192"/>
            <a:ext cx="6366344" cy="3671500"/>
          </a:xfrm>
          <a:prstGeom prst="rect">
            <a:avLst/>
          </a:prstGeom>
        </p:spPr>
      </p:pic>
    </p:spTree>
    <p:extLst>
      <p:ext uri="{BB962C8B-B14F-4D97-AF65-F5344CB8AC3E}">
        <p14:creationId xmlns:p14="http://schemas.microsoft.com/office/powerpoint/2010/main" val="26672572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userDrawn="1">
          <p15:clr>
            <a:srgbClr val="FBAE40"/>
          </p15:clr>
        </p15:guide>
        <p15:guide id="2" orient="horz" pos="1171" userDrawn="1">
          <p15:clr>
            <a:srgbClr val="FBAE40"/>
          </p15:clr>
        </p15:guide>
        <p15:guide id="3" orient="horz" pos="2523" userDrawn="1">
          <p15:clr>
            <a:srgbClr val="FBAE40"/>
          </p15:clr>
        </p15:guide>
        <p15:guide id="4" orient="horz" pos="2334" userDrawn="1">
          <p15:clr>
            <a:srgbClr val="FBAE40"/>
          </p15:clr>
        </p15:guide>
        <p15:guide id="5" orient="horz" pos="3022" userDrawn="1">
          <p15:clr>
            <a:srgbClr val="FBAE40"/>
          </p15:clr>
        </p15:guide>
        <p15:guide id="7" orient="horz" pos="414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Light Blue">
    <p:bg>
      <p:bgPr>
        <a:solidFill>
          <a:srgbClr val="EBF8FF"/>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99" y="1858963"/>
            <a:ext cx="4271575" cy="1844550"/>
          </a:xfrm>
        </p:spPr>
        <p:txBody>
          <a:bodyPr anchor="b" anchorCtr="0">
            <a:noAutofit/>
          </a:bodyPr>
          <a:lstStyle>
            <a:lvl1pPr>
              <a:lnSpc>
                <a:spcPct val="90000"/>
              </a:lnSpc>
              <a:defRPr sz="3200" b="0" i="0">
                <a:solidFill>
                  <a:srgbClr val="002A86"/>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600" kern="0">
              <a:ea typeface="72 Brand" pitchFamily="34" charset="-128"/>
              <a:cs typeface="72 Brand" pitchFamily="34" charset="-128"/>
            </a:endParaRPr>
          </a:p>
        </p:txBody>
      </p:sp>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7"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en-US" dirty="0"/>
              <a:t>Speaker Name, SAP</a:t>
            </a:r>
          </a:p>
          <a:p>
            <a:pPr marL="0" marR="0" lvl="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a:pPr>
            <a:r>
              <a:rPr lang="en-US" dirty="0"/>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7"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rgbClr val="002A86"/>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3" name="Picture 2">
            <a:extLst>
              <a:ext uri="{FF2B5EF4-FFF2-40B4-BE49-F238E27FC236}">
                <a16:creationId xmlns:a16="http://schemas.microsoft.com/office/drawing/2014/main" id="{CC50B4BD-0486-A000-F88E-89BE29A25CBE}"/>
              </a:ext>
            </a:extLst>
          </p:cNvPr>
          <p:cNvPicPr>
            <a:picLocks noChangeAspect="1"/>
          </p:cNvPicPr>
          <p:nvPr userDrawn="1"/>
        </p:nvPicPr>
        <p:blipFill>
          <a:blip r:embed="rId2"/>
          <a:srcRect/>
          <a:stretch/>
        </p:blipFill>
        <p:spPr>
          <a:xfrm>
            <a:off x="282575" y="6213693"/>
            <a:ext cx="1769400" cy="360000"/>
          </a:xfrm>
          <a:prstGeom prst="rect">
            <a:avLst/>
          </a:prstGeom>
        </p:spPr>
      </p:pic>
      <p:pic>
        <p:nvPicPr>
          <p:cNvPr id="6" name="object 10">
            <a:extLst>
              <a:ext uri="{FF2B5EF4-FFF2-40B4-BE49-F238E27FC236}">
                <a16:creationId xmlns:a16="http://schemas.microsoft.com/office/drawing/2014/main" id="{92D6A363-6BEF-2C40-6B0A-34B319255EDB}"/>
              </a:ext>
            </a:extLst>
          </p:cNvPr>
          <p:cNvPicPr/>
          <p:nvPr userDrawn="1"/>
        </p:nvPicPr>
        <p:blipFill>
          <a:blip r:embed="rId3"/>
          <a:srcRect/>
          <a:stretch/>
        </p:blipFill>
        <p:spPr>
          <a:xfrm>
            <a:off x="293337" y="284307"/>
            <a:ext cx="1516538" cy="214362"/>
          </a:xfrm>
          <a:prstGeom prst="rect">
            <a:avLst/>
          </a:prstGeom>
        </p:spPr>
      </p:pic>
      <p:pic>
        <p:nvPicPr>
          <p:cNvPr id="7" name="Grafik 6" descr="Ein Bild, das Grafiken, Screenshot, Farbigkeit, Grafikdesign enthält.&#10;&#10;KI-generierte Inhalte können fehlerhaft sein.">
            <a:extLst>
              <a:ext uri="{FF2B5EF4-FFF2-40B4-BE49-F238E27FC236}">
                <a16:creationId xmlns:a16="http://schemas.microsoft.com/office/drawing/2014/main" id="{BA2DCB41-EB4A-3009-CBEE-99B35A164510}"/>
              </a:ext>
            </a:extLst>
          </p:cNvPr>
          <p:cNvPicPr>
            <a:picLocks noChangeAspect="1"/>
          </p:cNvPicPr>
          <p:nvPr userDrawn="1"/>
        </p:nvPicPr>
        <p:blipFill>
          <a:blip r:embed="rId4"/>
          <a:stretch>
            <a:fillRect/>
          </a:stretch>
        </p:blipFill>
        <p:spPr>
          <a:xfrm>
            <a:off x="5126806" y="1301192"/>
            <a:ext cx="6366344" cy="3671500"/>
          </a:xfrm>
          <a:prstGeom prst="rect">
            <a:avLst/>
          </a:prstGeom>
        </p:spPr>
      </p:pic>
    </p:spTree>
    <p:extLst>
      <p:ext uri="{BB962C8B-B14F-4D97-AF65-F5344CB8AC3E}">
        <p14:creationId xmlns:p14="http://schemas.microsoft.com/office/powerpoint/2010/main" val="4232026312"/>
      </p:ext>
    </p:extLst>
  </p:cSld>
  <p:clrMapOvr>
    <a:masterClrMapping/>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2 Dark Blue">
    <p:bg>
      <p:bgPr>
        <a:solidFill>
          <a:srgbClr val="00144A"/>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99" y="1858963"/>
            <a:ext cx="4271575" cy="1844550"/>
          </a:xfrm>
        </p:spPr>
        <p:txBody>
          <a:bodyPr anchor="b" anchorCtr="0">
            <a:noAutofit/>
          </a:bodyPr>
          <a:lstStyle>
            <a:lvl1pPr>
              <a:lnSpc>
                <a:spcPct val="90000"/>
              </a:lnSpc>
              <a:defRPr sz="3200" b="0" i="0">
                <a:solidFill>
                  <a:schemeClr val="bg1"/>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600" kern="0">
              <a:ea typeface="72 Brand" pitchFamily="34" charset="-128"/>
              <a:cs typeface="72 Brand" pitchFamily="34" charset="-128"/>
            </a:endParaRPr>
          </a:p>
        </p:txBody>
      </p:sp>
      <p:pic>
        <p:nvPicPr>
          <p:cNvPr id="6" name="object 10">
            <a:extLst>
              <a:ext uri="{FF2B5EF4-FFF2-40B4-BE49-F238E27FC236}">
                <a16:creationId xmlns:a16="http://schemas.microsoft.com/office/drawing/2014/main" id="{C6B76F5E-4398-BD16-B5D6-62F9A27FF810}"/>
              </a:ext>
            </a:extLst>
          </p:cNvPr>
          <p:cNvPicPr/>
          <p:nvPr userDrawn="1"/>
        </p:nvPicPr>
        <p:blipFill>
          <a:blip r:embed="rId3"/>
          <a:srcRect/>
          <a:stretch/>
        </p:blipFill>
        <p:spPr>
          <a:xfrm>
            <a:off x="293337" y="284307"/>
            <a:ext cx="1516538" cy="214363"/>
          </a:xfrm>
          <a:prstGeom prst="rect">
            <a:avLst/>
          </a:prstGeom>
        </p:spPr>
      </p:pic>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7"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en-US" dirty="0"/>
              <a:t>Speaker Name, SAP</a:t>
            </a:r>
          </a:p>
          <a:p>
            <a:pPr lvl="0"/>
            <a:r>
              <a:rPr lang="en-US" dirty="0"/>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7"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chemeClr val="bg1"/>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9" name="Picture 8" descr="A black and white logo&#10;&#10;AI-generated content may be incorrect.">
            <a:extLst>
              <a:ext uri="{FF2B5EF4-FFF2-40B4-BE49-F238E27FC236}">
                <a16:creationId xmlns:a16="http://schemas.microsoft.com/office/drawing/2014/main" id="{3805DC2B-6B5F-D1FB-BFD0-EF9A7EC4DD86}"/>
              </a:ext>
            </a:extLst>
          </p:cNvPr>
          <p:cNvPicPr>
            <a:picLocks noChangeAspect="1"/>
          </p:cNvPicPr>
          <p:nvPr userDrawn="1"/>
        </p:nvPicPr>
        <p:blipFill>
          <a:blip r:embed="rId4"/>
          <a:stretch>
            <a:fillRect/>
          </a:stretch>
        </p:blipFill>
        <p:spPr>
          <a:xfrm>
            <a:off x="282575" y="6213693"/>
            <a:ext cx="1769400" cy="360000"/>
          </a:xfrm>
          <a:prstGeom prst="rect">
            <a:avLst/>
          </a:prstGeom>
        </p:spPr>
      </p:pic>
      <p:pic>
        <p:nvPicPr>
          <p:cNvPr id="11" name="Grafik 10" descr="Ein Bild, das Kleidung, Menschliches Gesicht, Person, Screenshot enthält.&#10;&#10;KI-generierte Inhalte können fehlerhaft sein.">
            <a:extLst>
              <a:ext uri="{FF2B5EF4-FFF2-40B4-BE49-F238E27FC236}">
                <a16:creationId xmlns:a16="http://schemas.microsoft.com/office/drawing/2014/main" id="{CDF68E14-0038-7C57-0570-81320A0E7D64}"/>
              </a:ext>
            </a:extLst>
          </p:cNvPr>
          <p:cNvPicPr>
            <a:picLocks noChangeAspect="1"/>
          </p:cNvPicPr>
          <p:nvPr userDrawn="1"/>
        </p:nvPicPr>
        <p:blipFill>
          <a:blip r:embed="rId5"/>
          <a:stretch>
            <a:fillRect/>
          </a:stretch>
        </p:blipFill>
        <p:spPr>
          <a:xfrm>
            <a:off x="4445353" y="956737"/>
            <a:ext cx="7374114" cy="4944525"/>
          </a:xfrm>
          <a:prstGeom prst="rect">
            <a:avLst/>
          </a:prstGeom>
        </p:spPr>
      </p:pic>
    </p:spTree>
    <p:extLst>
      <p:ext uri="{BB962C8B-B14F-4D97-AF65-F5344CB8AC3E}">
        <p14:creationId xmlns:p14="http://schemas.microsoft.com/office/powerpoint/2010/main" val="2007447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181">
          <p15:clr>
            <a:srgbClr val="FBAE40"/>
          </p15:clr>
        </p15:guide>
        <p15:guide id="2" orient="horz" pos="1171">
          <p15:clr>
            <a:srgbClr val="FBAE40"/>
          </p15:clr>
        </p15:guide>
        <p15:guide id="3" orient="horz" pos="2523">
          <p15:clr>
            <a:srgbClr val="FBAE40"/>
          </p15:clr>
        </p15:guide>
        <p15:guide id="4" orient="horz" pos="2334">
          <p15:clr>
            <a:srgbClr val="FBAE40"/>
          </p15:clr>
        </p15:guide>
        <p15:guide id="5" orient="horz" pos="3022">
          <p15:clr>
            <a:srgbClr val="FBAE40"/>
          </p15:clr>
        </p15:guide>
        <p15:guide id="7" orient="horz" pos="414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ver with Keyvisual 2 Light Blue">
    <p:bg>
      <p:bgPr>
        <a:solidFill>
          <a:srgbClr val="EBF8FF"/>
        </a:solidFill>
        <a:effectLst/>
      </p:bgPr>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287999" y="1858963"/>
            <a:ext cx="4271575" cy="1844550"/>
          </a:xfrm>
        </p:spPr>
        <p:txBody>
          <a:bodyPr anchor="b" anchorCtr="0">
            <a:noAutofit/>
          </a:bodyPr>
          <a:lstStyle>
            <a:lvl1pPr>
              <a:lnSpc>
                <a:spcPct val="90000"/>
              </a:lnSpc>
              <a:defRPr sz="3200" b="0" i="0">
                <a:solidFill>
                  <a:srgbClr val="002A86"/>
                </a:solidFill>
                <a:latin typeface="+mj-lt"/>
                <a:cs typeface="72" panose="020B0503030000000003"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 </a:t>
            </a:r>
            <a:br>
              <a:rPr lang="en-US"/>
            </a:br>
            <a:r>
              <a:rPr lang="en-US"/>
              <a:t>and here</a:t>
            </a:r>
            <a:endParaRPr lang="de-DE" sz="3600" kern="0">
              <a:ea typeface="72 Brand" pitchFamily="34" charset="-128"/>
              <a:cs typeface="72 Brand" pitchFamily="34" charset="-128"/>
            </a:endParaRPr>
          </a:p>
        </p:txBody>
      </p:sp>
      <p:sp>
        <p:nvSpPr>
          <p:cNvPr id="2" name="Text placeholder - column 1">
            <a:extLst>
              <a:ext uri="{FF2B5EF4-FFF2-40B4-BE49-F238E27FC236}">
                <a16:creationId xmlns:a16="http://schemas.microsoft.com/office/drawing/2014/main" id="{BCDC6924-8FC6-12CF-060C-A88CC6F109C7}"/>
              </a:ext>
            </a:extLst>
          </p:cNvPr>
          <p:cNvSpPr>
            <a:spLocks noGrp="1"/>
          </p:cNvSpPr>
          <p:nvPr>
            <p:ph type="body" sz="quarter" idx="23" hasCustomPrompt="1"/>
          </p:nvPr>
        </p:nvSpPr>
        <p:spPr>
          <a:xfrm>
            <a:off x="293337" y="4027469"/>
            <a:ext cx="4271575" cy="503434"/>
          </a:xfrm>
          <a:prstGeom prst="rect">
            <a:avLst/>
          </a:prstGeom>
        </p:spPr>
        <p:txBody>
          <a:bodyPr anchor="b" anchorCtr="0">
            <a:normAutofit/>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en-US" dirty="0"/>
              <a:t>Speaker Name, SAP</a:t>
            </a:r>
          </a:p>
          <a:p>
            <a:pPr marL="0" marR="0" lvl="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a:pPr>
            <a:r>
              <a:rPr lang="en-US" dirty="0"/>
              <a:t>Speaker Name 2, SAP</a:t>
            </a:r>
          </a:p>
        </p:txBody>
      </p:sp>
      <p:sp>
        <p:nvSpPr>
          <p:cNvPr id="5" name="Text placeholder - column 1">
            <a:extLst>
              <a:ext uri="{FF2B5EF4-FFF2-40B4-BE49-F238E27FC236}">
                <a16:creationId xmlns:a16="http://schemas.microsoft.com/office/drawing/2014/main" id="{9435ADCE-3465-AF4F-B7CC-68F2609F193D}"/>
              </a:ext>
            </a:extLst>
          </p:cNvPr>
          <p:cNvSpPr>
            <a:spLocks noGrp="1"/>
          </p:cNvSpPr>
          <p:nvPr>
            <p:ph type="body" sz="quarter" idx="25" hasCustomPrompt="1"/>
          </p:nvPr>
        </p:nvSpPr>
        <p:spPr>
          <a:xfrm>
            <a:off x="293337" y="4623706"/>
            <a:ext cx="4271575" cy="231153"/>
          </a:xfrm>
          <a:prstGeom prst="rect">
            <a:avLst/>
          </a:prstGeom>
        </p:spPr>
        <p:txBody>
          <a:bodyPr>
            <a:normAutofit/>
          </a:bodyPr>
          <a:lstStyle>
            <a:lvl1pPr marL="0" marR="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sz="1400">
                <a:solidFill>
                  <a:srgbClr val="002A86"/>
                </a:solidFill>
              </a:defRPr>
            </a:lvl1pPr>
          </a:lstStyle>
          <a:p>
            <a:pPr marL="0" marR="0" lvl="0" indent="0" algn="l" defTabSz="1088558" rtl="0" eaLnBrk="1" fontAlgn="auto" latinLnBrk="0" hangingPunct="1">
              <a:lnSpc>
                <a:spcPct val="100000"/>
              </a:lnSpc>
              <a:spcBef>
                <a:spcPts val="1800"/>
              </a:spcBef>
              <a:spcAft>
                <a:spcPts val="0"/>
              </a:spcAft>
              <a:buClrTx/>
              <a:buSzPct val="80000"/>
              <a:buFont typeface="72 Brand" panose="02000000000000000000" pitchFamily="2" charset="0"/>
              <a:buChar char="​"/>
              <a:tabLst/>
              <a:defRPr/>
            </a:pPr>
            <a:r>
              <a:rPr lang="en-US"/>
              <a:t>Month Year</a:t>
            </a:r>
          </a:p>
        </p:txBody>
      </p:sp>
      <p:pic>
        <p:nvPicPr>
          <p:cNvPr id="6" name="object 10">
            <a:extLst>
              <a:ext uri="{FF2B5EF4-FFF2-40B4-BE49-F238E27FC236}">
                <a16:creationId xmlns:a16="http://schemas.microsoft.com/office/drawing/2014/main" id="{E06F435B-B4F2-3C3B-FF01-F2FED0B04E5B}"/>
              </a:ext>
            </a:extLst>
          </p:cNvPr>
          <p:cNvPicPr/>
          <p:nvPr userDrawn="1"/>
        </p:nvPicPr>
        <p:blipFill>
          <a:blip r:embed="rId2"/>
          <a:srcRect/>
          <a:stretch/>
        </p:blipFill>
        <p:spPr>
          <a:xfrm>
            <a:off x="293337" y="284307"/>
            <a:ext cx="1516538" cy="214362"/>
          </a:xfrm>
          <a:prstGeom prst="rect">
            <a:avLst/>
          </a:prstGeom>
        </p:spPr>
      </p:pic>
      <p:pic>
        <p:nvPicPr>
          <p:cNvPr id="3" name="Picture 2">
            <a:extLst>
              <a:ext uri="{FF2B5EF4-FFF2-40B4-BE49-F238E27FC236}">
                <a16:creationId xmlns:a16="http://schemas.microsoft.com/office/drawing/2014/main" id="{CC50B4BD-0486-A000-F88E-89BE29A25CBE}"/>
              </a:ext>
            </a:extLst>
          </p:cNvPr>
          <p:cNvPicPr>
            <a:picLocks noChangeAspect="1"/>
          </p:cNvPicPr>
          <p:nvPr userDrawn="1"/>
        </p:nvPicPr>
        <p:blipFill>
          <a:blip r:embed="rId3"/>
          <a:srcRect/>
          <a:stretch/>
        </p:blipFill>
        <p:spPr>
          <a:xfrm>
            <a:off x="282575" y="6213693"/>
            <a:ext cx="1769400" cy="360000"/>
          </a:xfrm>
          <a:prstGeom prst="rect">
            <a:avLst/>
          </a:prstGeom>
        </p:spPr>
      </p:pic>
      <p:pic>
        <p:nvPicPr>
          <p:cNvPr id="14" name="Grafik 13" descr="Ein Bild, das Menschliches Gesicht, Kleidung, Person, Screenshot enthält.&#10;&#10;KI-generierte Inhalte können fehlerhaft sein.">
            <a:extLst>
              <a:ext uri="{FF2B5EF4-FFF2-40B4-BE49-F238E27FC236}">
                <a16:creationId xmlns:a16="http://schemas.microsoft.com/office/drawing/2014/main" id="{BC94FE32-1FCE-ADF8-9FCE-0CEF75FF74E2}"/>
              </a:ext>
            </a:extLst>
          </p:cNvPr>
          <p:cNvPicPr>
            <a:picLocks noChangeAspect="1"/>
          </p:cNvPicPr>
          <p:nvPr userDrawn="1"/>
        </p:nvPicPr>
        <p:blipFill>
          <a:blip r:embed="rId4"/>
          <a:stretch>
            <a:fillRect/>
          </a:stretch>
        </p:blipFill>
        <p:spPr>
          <a:xfrm>
            <a:off x="4618213" y="1155471"/>
            <a:ext cx="6876985" cy="4605881"/>
          </a:xfrm>
          <a:prstGeom prst="rect">
            <a:avLst/>
          </a:prstGeom>
        </p:spPr>
      </p:pic>
    </p:spTree>
    <p:extLst>
      <p:ext uri="{BB962C8B-B14F-4D97-AF65-F5344CB8AC3E}">
        <p14:creationId xmlns:p14="http://schemas.microsoft.com/office/powerpoint/2010/main" val="2645798199"/>
      </p:ext>
    </p:extLst>
  </p:cSld>
  <p:clrMapOvr>
    <a:masterClrMapping/>
  </p:clrMapOvr>
  <p:extLst>
    <p:ext uri="{DCECCB84-F9BA-43D5-87BE-67443E8EF086}">
      <p15:sldGuideLst xmlns:p15="http://schemas.microsoft.com/office/powerpoint/2012/main">
        <p15:guide id="1" pos="181" userDrawn="1">
          <p15:clr>
            <a:srgbClr val="FBAE40"/>
          </p15:clr>
        </p15:guide>
        <p15:guide id="2" orient="horz" pos="1171" userDrawn="1">
          <p15:clr>
            <a:srgbClr val="FBAE40"/>
          </p15:clr>
        </p15:guide>
        <p15:guide id="3" orient="horz" pos="2523" userDrawn="1">
          <p15:clr>
            <a:srgbClr val="FBAE40"/>
          </p15:clr>
        </p15:guide>
        <p15:guide id="4" orient="horz" pos="2334" userDrawn="1">
          <p15:clr>
            <a:srgbClr val="FBAE40"/>
          </p15:clr>
        </p15:guide>
        <p15:guide id="5" orient="horz" pos="3022" userDrawn="1">
          <p15:clr>
            <a:srgbClr val="FBAE40"/>
          </p15:clr>
        </p15:guide>
        <p15:guide id="7" orient="horz" pos="414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0"/>
            <a:ext cx="5211000" cy="409019"/>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6212683" cy="4787900"/>
          </a:xfrm>
        </p:spPr>
        <p:txBody>
          <a:bodyPr/>
          <a:lstStyle>
            <a:lvl1pPr>
              <a:defRPr/>
            </a:lvl1pPr>
          </a:lstStyle>
          <a:p>
            <a:pPr lvl="0"/>
            <a:r>
              <a:rPr lang="en-US"/>
              <a:t>Agenda Item/Divider Headline</a:t>
            </a:r>
          </a:p>
          <a:p>
            <a:pPr lvl="1"/>
            <a:r>
              <a:rPr lang="en-US"/>
              <a:t>Details</a:t>
            </a:r>
          </a:p>
        </p:txBody>
      </p:sp>
      <p:sp>
        <p:nvSpPr>
          <p:cNvPr id="11" name="Picture Placeholder 1/3 right">
            <a:extLst>
              <a:ext uri="{FF2B5EF4-FFF2-40B4-BE49-F238E27FC236}">
                <a16:creationId xmlns:a16="http://schemas.microsoft.com/office/drawing/2014/main" id="{DBDDA8C9-7B43-6F20-0BFB-64A2FA0DFDAC}"/>
              </a:ext>
            </a:extLst>
          </p:cNvPr>
          <p:cNvSpPr>
            <a:spLocks noGrp="1"/>
          </p:cNvSpPr>
          <p:nvPr>
            <p:ph type="pic" sz="quarter" idx="10" hasCustomPrompt="1"/>
          </p:nvPr>
        </p:nvSpPr>
        <p:spPr bwMode="gray">
          <a:xfrm>
            <a:off x="7364186" y="0"/>
            <a:ext cx="4830989"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1" pos="311" userDrawn="1">
          <p15:clr>
            <a:srgbClr val="FBAE40"/>
          </p15:clr>
        </p15:guide>
        <p15:guide id="2" orient="horz" pos="970" userDrawn="1">
          <p15:clr>
            <a:srgbClr val="FBAE40"/>
          </p15:clr>
        </p15:guide>
        <p15:guide id="3" pos="7364" userDrawn="1">
          <p15:clr>
            <a:srgbClr val="FBAE40"/>
          </p15:clr>
        </p15:guide>
        <p15:guide id="4" orient="horz" pos="316" userDrawn="1">
          <p15:clr>
            <a:srgbClr val="FBAE40"/>
          </p15:clr>
        </p15:guide>
        <p15:guide id="5" orient="horz" pos="551" userDrawn="1">
          <p15:clr>
            <a:srgbClr val="FBAE40"/>
          </p15:clr>
        </p15:guide>
        <p15:guide id="6" orient="horz" pos="3997"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Page Dark Blue">
    <p:bg>
      <p:bgPr>
        <a:solidFill>
          <a:srgbClr val="00144A"/>
        </a:solidFill>
        <a:effectLst/>
      </p:bgPr>
    </p:bg>
    <p:spTree>
      <p:nvGrpSpPr>
        <p:cNvPr id="1" name=""/>
        <p:cNvGrpSpPr/>
        <p:nvPr/>
      </p:nvGrpSpPr>
      <p:grpSpPr>
        <a:xfrm>
          <a:off x="0" y="0"/>
          <a:ext cx="0" cy="0"/>
          <a:chOff x="0" y="0"/>
          <a:chExt cx="0" cy="0"/>
        </a:xfrm>
      </p:grpSpPr>
      <p:sp>
        <p:nvSpPr>
          <p:cNvPr id="4" name="Divider text">
            <a:extLst>
              <a:ext uri="{FF2B5EF4-FFF2-40B4-BE49-F238E27FC236}">
                <a16:creationId xmlns:a16="http://schemas.microsoft.com/office/drawing/2014/main" id="{A412289E-F61C-C4C6-EF03-71EF2CFBC0E6}"/>
              </a:ext>
            </a:extLst>
          </p:cNvPr>
          <p:cNvSpPr>
            <a:spLocks noGrp="1"/>
          </p:cNvSpPr>
          <p:nvPr>
            <p:ph type="ctrTitle" hasCustomPrompt="1"/>
          </p:nvPr>
        </p:nvSpPr>
        <p:spPr bwMode="black">
          <a:xfrm>
            <a:off x="498475" y="1579893"/>
            <a:ext cx="4695317" cy="2538986"/>
          </a:xfrm>
        </p:spPr>
        <p:txBody>
          <a:bodyPr anchor="ctr" anchorCtr="0">
            <a:noAutofit/>
          </a:bodyPr>
          <a:lstStyle>
            <a:lvl1pPr>
              <a:defRPr sz="3600" b="0" i="0">
                <a:solidFill>
                  <a:schemeClr val="bg1"/>
                </a:solidFill>
                <a:latin typeface="72 Brand Medium" panose="020B0504030603020204" pitchFamily="34" charset="0"/>
              </a:defRPr>
            </a:lvl1pPr>
          </a:lstStyle>
          <a:p>
            <a:r>
              <a:rPr lang="en-US" dirty="0"/>
              <a:t>Divider page</a:t>
            </a:r>
            <a:endParaRPr lang="de-DE" dirty="0"/>
          </a:p>
        </p:txBody>
      </p:sp>
      <p:pic>
        <p:nvPicPr>
          <p:cNvPr id="3" name="Grafik 2" descr="Ein Bild, das Screenshot, Grafiken, Farbigkeit, Electric Blue (Farbe) enthält.&#10;&#10;KI-generierte Inhalte können fehlerhaft sein.">
            <a:extLst>
              <a:ext uri="{FF2B5EF4-FFF2-40B4-BE49-F238E27FC236}">
                <a16:creationId xmlns:a16="http://schemas.microsoft.com/office/drawing/2014/main" id="{74DEEBDB-220B-FC33-E9F5-E0355E26E011}"/>
              </a:ext>
            </a:extLst>
          </p:cNvPr>
          <p:cNvPicPr>
            <a:picLocks noChangeAspect="1"/>
          </p:cNvPicPr>
          <p:nvPr userDrawn="1"/>
        </p:nvPicPr>
        <p:blipFill>
          <a:blip r:embed="rId2"/>
          <a:stretch>
            <a:fillRect/>
          </a:stretch>
        </p:blipFill>
        <p:spPr>
          <a:xfrm>
            <a:off x="5969852" y="2202578"/>
            <a:ext cx="5388254" cy="2183716"/>
          </a:xfrm>
          <a:prstGeom prst="rect">
            <a:avLst/>
          </a:prstGeom>
        </p:spPr>
      </p:pic>
    </p:spTree>
    <p:extLst>
      <p:ext uri="{BB962C8B-B14F-4D97-AF65-F5344CB8AC3E}">
        <p14:creationId xmlns:p14="http://schemas.microsoft.com/office/powerpoint/2010/main" val="4109527874"/>
      </p:ext>
    </p:extLst>
  </p:cSld>
  <p:clrMapOvr>
    <a:masterClrMapping/>
  </p:clrMapOvr>
  <p:hf sldNum="0" hdr="0" ftr="0" dt="0"/>
  <p:extLst>
    <p:ext uri="{DCECCB84-F9BA-43D5-87BE-67443E8EF086}">
      <p15:sldGuideLst xmlns:p15="http://schemas.microsoft.com/office/powerpoint/2012/main">
        <p15:guide id="1" pos="314" userDrawn="1">
          <p15:clr>
            <a:srgbClr val="FBAE40"/>
          </p15:clr>
        </p15:guide>
        <p15:guide id="2" orient="horz" pos="2160" userDrawn="1">
          <p15:clr>
            <a:srgbClr val="FBAE40"/>
          </p15:clr>
        </p15:guide>
        <p15:guide id="3" pos="736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Page Light Blue">
    <p:bg>
      <p:bgPr>
        <a:solidFill>
          <a:srgbClr val="EBF8FF"/>
        </a:solidFill>
        <a:effectLst/>
      </p:bgPr>
    </p:bg>
    <p:spTree>
      <p:nvGrpSpPr>
        <p:cNvPr id="1" name=""/>
        <p:cNvGrpSpPr/>
        <p:nvPr/>
      </p:nvGrpSpPr>
      <p:grpSpPr>
        <a:xfrm>
          <a:off x="0" y="0"/>
          <a:ext cx="0" cy="0"/>
          <a:chOff x="0" y="0"/>
          <a:chExt cx="0" cy="0"/>
        </a:xfrm>
      </p:grpSpPr>
      <p:sp>
        <p:nvSpPr>
          <p:cNvPr id="2" name="Divider text">
            <a:extLst>
              <a:ext uri="{FF2B5EF4-FFF2-40B4-BE49-F238E27FC236}">
                <a16:creationId xmlns:a16="http://schemas.microsoft.com/office/drawing/2014/main" id="{B8E19BB8-A9B6-70B1-A41B-ECC3C44A45EE}"/>
              </a:ext>
            </a:extLst>
          </p:cNvPr>
          <p:cNvSpPr>
            <a:spLocks noGrp="1"/>
          </p:cNvSpPr>
          <p:nvPr>
            <p:ph type="ctrTitle" hasCustomPrompt="1"/>
          </p:nvPr>
        </p:nvSpPr>
        <p:spPr bwMode="black">
          <a:xfrm>
            <a:off x="498475" y="1579893"/>
            <a:ext cx="4695317" cy="2538986"/>
          </a:xfrm>
        </p:spPr>
        <p:txBody>
          <a:bodyPr anchor="ctr" anchorCtr="0">
            <a:noAutofit/>
          </a:bodyPr>
          <a:lstStyle>
            <a:lvl1pPr>
              <a:defRPr sz="3600" b="0" i="0">
                <a:solidFill>
                  <a:srgbClr val="00144A"/>
                </a:solidFill>
                <a:latin typeface="72 Brand Medium" panose="020B0504030603020204" pitchFamily="34" charset="0"/>
              </a:defRPr>
            </a:lvl1pPr>
          </a:lstStyle>
          <a:p>
            <a:r>
              <a:rPr lang="en-US" dirty="0"/>
              <a:t>Divider page</a:t>
            </a:r>
            <a:endParaRPr lang="de-DE" dirty="0"/>
          </a:p>
        </p:txBody>
      </p:sp>
      <p:pic>
        <p:nvPicPr>
          <p:cNvPr id="3" name="Grafik 2" descr="Ein Bild, das Grafiken, Screenshot, Grafikdesign, Farbigkeit enthält.&#10;&#10;KI-generierte Inhalte können fehlerhaft sein.">
            <a:extLst>
              <a:ext uri="{FF2B5EF4-FFF2-40B4-BE49-F238E27FC236}">
                <a16:creationId xmlns:a16="http://schemas.microsoft.com/office/drawing/2014/main" id="{0F1D9163-0B5C-5000-AD1B-420F58612E61}"/>
              </a:ext>
            </a:extLst>
          </p:cNvPr>
          <p:cNvPicPr>
            <a:picLocks noChangeAspect="1"/>
          </p:cNvPicPr>
          <p:nvPr userDrawn="1"/>
        </p:nvPicPr>
        <p:blipFill>
          <a:blip r:embed="rId2"/>
          <a:stretch>
            <a:fillRect/>
          </a:stretch>
        </p:blipFill>
        <p:spPr>
          <a:xfrm>
            <a:off x="6450152" y="1564395"/>
            <a:ext cx="4307142" cy="3404212"/>
          </a:xfrm>
          <a:prstGeom prst="rect">
            <a:avLst/>
          </a:prstGeom>
        </p:spPr>
      </p:pic>
    </p:spTree>
    <p:extLst>
      <p:ext uri="{BB962C8B-B14F-4D97-AF65-F5344CB8AC3E}">
        <p14:creationId xmlns:p14="http://schemas.microsoft.com/office/powerpoint/2010/main" val="669827272"/>
      </p:ext>
    </p:extLst>
  </p:cSld>
  <p:clrMapOvr>
    <a:masterClrMapping/>
  </p:clrMapOvr>
  <p:hf sldNum="0" hdr="0" ftr="0" dt="0"/>
  <p:extLst>
    <p:ext uri="{DCECCB84-F9BA-43D5-87BE-67443E8EF086}">
      <p15:sldGuideLst xmlns:p15="http://schemas.microsoft.com/office/powerpoint/2012/main">
        <p15:guide id="1" pos="314" userDrawn="1">
          <p15:clr>
            <a:srgbClr val="FBAE40"/>
          </p15:clr>
        </p15:guide>
        <p15:guide id="2" orient="horz" pos="2160" userDrawn="1">
          <p15:clr>
            <a:srgbClr val="FBAE40"/>
          </p15:clr>
        </p15:guide>
        <p15:guide id="3" pos="736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Dark Blue">
    <p:bg>
      <p:bgPr>
        <a:solidFill>
          <a:srgbClr val="00144A"/>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F81AC856-51FB-3EF1-C20A-A4CA2C0C35E4}"/>
              </a:ext>
            </a:extLst>
          </p:cNvPr>
          <p:cNvSpPr/>
          <p:nvPr userDrawn="1"/>
        </p:nvSpPr>
        <p:spPr bwMode="gray">
          <a:xfrm>
            <a:off x="10931236" y="0"/>
            <a:ext cx="1263940" cy="6858000"/>
          </a:xfrm>
          <a:prstGeom prst="rect">
            <a:avLst/>
          </a:prstGeom>
          <a:solidFill>
            <a:srgbClr val="00144A"/>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2" name="Quote placeholder">
            <a:extLst>
              <a:ext uri="{FF2B5EF4-FFF2-40B4-BE49-F238E27FC236}">
                <a16:creationId xmlns:a16="http://schemas.microsoft.com/office/drawing/2014/main" id="{69016EE0-15AC-8AC3-D463-DC5DC610569B}"/>
              </a:ext>
            </a:extLst>
          </p:cNvPr>
          <p:cNvSpPr>
            <a:spLocks noGrp="1"/>
          </p:cNvSpPr>
          <p:nvPr>
            <p:ph type="body" sz="quarter" idx="10" hasCustomPrompt="1"/>
          </p:nvPr>
        </p:nvSpPr>
        <p:spPr>
          <a:xfrm>
            <a:off x="2816035" y="2413223"/>
            <a:ext cx="8747171" cy="2226877"/>
          </a:xfrm>
        </p:spPr>
        <p:txBody>
          <a:bodyPr anchor="ctr" anchorCtr="0"/>
          <a:lstStyle>
            <a:lvl1pPr marL="0" indent="0">
              <a:lnSpc>
                <a:spcPct val="90000"/>
              </a:lnSpc>
              <a:spcBef>
                <a:spcPts val="600"/>
              </a:spcBef>
              <a:defRPr sz="5999" b="0" i="0">
                <a:solidFill>
                  <a:schemeClr val="bg1"/>
                </a:solidFill>
                <a:latin typeface="72 Brand Medium" panose="020B0504030603020204" pitchFamily="34" charset="0"/>
              </a:defRPr>
            </a:lvl1pPr>
            <a:lvl2pPr marL="0" indent="0">
              <a:buNone/>
              <a:defRPr sz="1600">
                <a:solidFill>
                  <a:schemeClr val="bg1"/>
                </a:solidFill>
              </a:defRPr>
            </a:lvl2pPr>
          </a:lstStyle>
          <a:p>
            <a:pPr lvl="0"/>
            <a:r>
              <a:rPr lang="en-US" noProof="0" dirty="0"/>
              <a:t>“Quote goes here </a:t>
            </a:r>
            <a:br>
              <a:rPr lang="en-US" noProof="0" dirty="0"/>
            </a:br>
            <a:r>
              <a:rPr lang="en-US" noProof="0" dirty="0"/>
              <a:t>and here.”</a:t>
            </a:r>
          </a:p>
          <a:p>
            <a:pPr lvl="1"/>
            <a:r>
              <a:rPr lang="en-US" noProof="0" dirty="0"/>
              <a:t>Source</a:t>
            </a:r>
          </a:p>
        </p:txBody>
      </p:sp>
      <p:pic>
        <p:nvPicPr>
          <p:cNvPr id="26" name="Grafik 25">
            <a:extLst>
              <a:ext uri="{FF2B5EF4-FFF2-40B4-BE49-F238E27FC236}">
                <a16:creationId xmlns:a16="http://schemas.microsoft.com/office/drawing/2014/main" id="{BF5A9396-A07D-6E06-45A1-4C3DA3FAF659}"/>
              </a:ext>
            </a:extLst>
          </p:cNvPr>
          <p:cNvPicPr>
            <a:picLocks noChangeAspect="1"/>
          </p:cNvPicPr>
          <p:nvPr userDrawn="1"/>
        </p:nvPicPr>
        <p:blipFill>
          <a:blip r:embed="rId3"/>
          <a:srcRect l="56665" r="-30972"/>
          <a:stretch>
            <a:fillRect/>
          </a:stretch>
        </p:blipFill>
        <p:spPr>
          <a:xfrm>
            <a:off x="0" y="-685863"/>
            <a:ext cx="4670474" cy="8007542"/>
          </a:xfrm>
          <a:prstGeom prst="rect">
            <a:avLst/>
          </a:prstGeom>
        </p:spPr>
      </p:pic>
    </p:spTree>
    <p:extLst>
      <p:ext uri="{BB962C8B-B14F-4D97-AF65-F5344CB8AC3E}">
        <p14:creationId xmlns:p14="http://schemas.microsoft.com/office/powerpoint/2010/main" val="9327859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4" userDrawn="1">
          <p15:clr>
            <a:srgbClr val="FBAE40"/>
          </p15:clr>
        </p15:guide>
        <p15:guide id="4" orient="horz" pos="1132" userDrawn="1">
          <p15:clr>
            <a:srgbClr val="FBAE40"/>
          </p15:clr>
        </p15:guide>
        <p15:guide id="5" orient="horz" pos="2682" userDrawn="1">
          <p15:clr>
            <a:srgbClr val="FBAE40"/>
          </p15:clr>
        </p15:guide>
        <p15:guide id="6" pos="7363"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Quote Light Blue">
    <p:bg>
      <p:bgPr>
        <a:solidFill>
          <a:srgbClr val="EBF8FF"/>
        </a:solidFill>
        <a:effectLst/>
      </p:bgPr>
    </p:bg>
    <p:spTree>
      <p:nvGrpSpPr>
        <p:cNvPr id="1" name=""/>
        <p:cNvGrpSpPr/>
        <p:nvPr/>
      </p:nvGrpSpPr>
      <p:grpSpPr>
        <a:xfrm>
          <a:off x="0" y="0"/>
          <a:ext cx="0" cy="0"/>
          <a:chOff x="0" y="0"/>
          <a:chExt cx="0" cy="0"/>
        </a:xfrm>
      </p:grpSpPr>
      <p:sp>
        <p:nvSpPr>
          <p:cNvPr id="5" name="Quote placeholder">
            <a:extLst>
              <a:ext uri="{FF2B5EF4-FFF2-40B4-BE49-F238E27FC236}">
                <a16:creationId xmlns:a16="http://schemas.microsoft.com/office/drawing/2014/main" id="{2F562D68-12E0-FC6D-5FA2-8F0F5950F22A}"/>
              </a:ext>
            </a:extLst>
          </p:cNvPr>
          <p:cNvSpPr>
            <a:spLocks noGrp="1"/>
          </p:cNvSpPr>
          <p:nvPr>
            <p:ph type="body" sz="quarter" idx="10" hasCustomPrompt="1"/>
          </p:nvPr>
        </p:nvSpPr>
        <p:spPr>
          <a:xfrm>
            <a:off x="2816035" y="2413223"/>
            <a:ext cx="8747171" cy="2226877"/>
          </a:xfrm>
        </p:spPr>
        <p:txBody>
          <a:bodyPr anchor="ctr" anchorCtr="0"/>
          <a:lstStyle>
            <a:lvl1pPr marL="0" indent="0">
              <a:lnSpc>
                <a:spcPct val="90000"/>
              </a:lnSpc>
              <a:spcBef>
                <a:spcPts val="600"/>
              </a:spcBef>
              <a:defRPr sz="5999" b="0" i="0">
                <a:solidFill>
                  <a:srgbClr val="00144A"/>
                </a:solidFill>
                <a:latin typeface="72 Brand Medium" panose="020B0504030603020204" pitchFamily="34" charset="0"/>
              </a:defRPr>
            </a:lvl1pPr>
            <a:lvl2pPr marL="0" indent="0">
              <a:buNone/>
              <a:defRPr sz="1600">
                <a:solidFill>
                  <a:srgbClr val="00144A"/>
                </a:solidFill>
              </a:defRPr>
            </a:lvl2pPr>
          </a:lstStyle>
          <a:p>
            <a:pPr lvl="0"/>
            <a:r>
              <a:rPr lang="en-US" noProof="0" dirty="0"/>
              <a:t>“Quote goes here </a:t>
            </a:r>
            <a:br>
              <a:rPr lang="en-US" noProof="0" dirty="0"/>
            </a:br>
            <a:r>
              <a:rPr lang="en-US" noProof="0" dirty="0"/>
              <a:t>and here.”</a:t>
            </a:r>
          </a:p>
          <a:p>
            <a:pPr lvl="1"/>
            <a:r>
              <a:rPr lang="en-US" noProof="0" dirty="0"/>
              <a:t>Source</a:t>
            </a:r>
          </a:p>
        </p:txBody>
      </p:sp>
      <p:pic>
        <p:nvPicPr>
          <p:cNvPr id="23" name="Grafik 22" descr="Ein Bild, das Screenshot, Farbigkeit, Grafiken, Design enthält.&#10;&#10;KI-generierte Inhalte können fehlerhaft sein.">
            <a:extLst>
              <a:ext uri="{FF2B5EF4-FFF2-40B4-BE49-F238E27FC236}">
                <a16:creationId xmlns:a16="http://schemas.microsoft.com/office/drawing/2014/main" id="{3F193346-BE53-D607-580F-690C2CC99A73}"/>
              </a:ext>
            </a:extLst>
          </p:cNvPr>
          <p:cNvPicPr>
            <a:picLocks noChangeAspect="1"/>
          </p:cNvPicPr>
          <p:nvPr userDrawn="1"/>
        </p:nvPicPr>
        <p:blipFill>
          <a:blip r:embed="rId3"/>
          <a:srcRect l="50232"/>
          <a:stretch>
            <a:fillRect/>
          </a:stretch>
        </p:blipFill>
        <p:spPr>
          <a:xfrm>
            <a:off x="0" y="-685863"/>
            <a:ext cx="3016719" cy="8007542"/>
          </a:xfrm>
          <a:prstGeom prst="rect">
            <a:avLst/>
          </a:prstGeom>
        </p:spPr>
      </p:pic>
    </p:spTree>
    <p:extLst>
      <p:ext uri="{BB962C8B-B14F-4D97-AF65-F5344CB8AC3E}">
        <p14:creationId xmlns:p14="http://schemas.microsoft.com/office/powerpoint/2010/main" val="3268093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4" userDrawn="1">
          <p15:clr>
            <a:srgbClr val="FBAE40"/>
          </p15:clr>
        </p15:guide>
        <p15:guide id="4" orient="horz" pos="1132" userDrawn="1">
          <p15:clr>
            <a:srgbClr val="FBAE40"/>
          </p15:clr>
        </p15:guide>
        <p15:guide id="5" orient="horz" pos="3204" userDrawn="1">
          <p15:clr>
            <a:srgbClr val="FBAE40"/>
          </p15:clr>
        </p15:guide>
        <p15:guide id="6" pos="736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Where ideas get real Dark Blue">
    <p:bg>
      <p:bgPr>
        <a:solidFill>
          <a:srgbClr val="00144A"/>
        </a:solidFill>
        <a:effectLst/>
      </p:bgPr>
    </p:bg>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F81AC856-51FB-3EF1-C20A-A4CA2C0C35E4}"/>
              </a:ext>
            </a:extLst>
          </p:cNvPr>
          <p:cNvSpPr/>
          <p:nvPr userDrawn="1"/>
        </p:nvSpPr>
        <p:spPr bwMode="gray">
          <a:xfrm>
            <a:off x="10931236" y="0"/>
            <a:ext cx="1263940" cy="6858000"/>
          </a:xfrm>
          <a:prstGeom prst="rect">
            <a:avLst/>
          </a:prstGeom>
          <a:solidFill>
            <a:srgbClr val="00144A"/>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a:ln>
                <a:noFill/>
              </a:ln>
              <a:effectLst/>
              <a:uLnTx/>
              <a:uFillTx/>
              <a:latin typeface="+mn-lt"/>
              <a:ea typeface="72 Brand" pitchFamily="34" charset="-128"/>
              <a:cs typeface="72 Brand" pitchFamily="34" charset="-128"/>
            </a:endParaRPr>
          </a:p>
        </p:txBody>
      </p:sp>
      <p:pic>
        <p:nvPicPr>
          <p:cNvPr id="5" name="Grafik 4" descr="Ein Bild, das Screenshot, Grafiken, Schrift, Grafikdesign enthält.&#10;&#10;KI-generierte Inhalte können fehlerhaft sein.">
            <a:extLst>
              <a:ext uri="{FF2B5EF4-FFF2-40B4-BE49-F238E27FC236}">
                <a16:creationId xmlns:a16="http://schemas.microsoft.com/office/drawing/2014/main" id="{90EAC435-859A-AD05-9820-711E4C833EE9}"/>
              </a:ext>
            </a:extLst>
          </p:cNvPr>
          <p:cNvPicPr>
            <a:picLocks noChangeAspect="1"/>
          </p:cNvPicPr>
          <p:nvPr userDrawn="1"/>
        </p:nvPicPr>
        <p:blipFill>
          <a:blip r:embed="rId3"/>
          <a:stretch>
            <a:fillRect/>
          </a:stretch>
        </p:blipFill>
        <p:spPr>
          <a:xfrm>
            <a:off x="1011142" y="2106743"/>
            <a:ext cx="10172890" cy="2489239"/>
          </a:xfrm>
          <a:prstGeom prst="rect">
            <a:avLst/>
          </a:prstGeom>
        </p:spPr>
      </p:pic>
    </p:spTree>
    <p:extLst>
      <p:ext uri="{BB962C8B-B14F-4D97-AF65-F5344CB8AC3E}">
        <p14:creationId xmlns:p14="http://schemas.microsoft.com/office/powerpoint/2010/main" val="277890534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4" userDrawn="1">
          <p15:clr>
            <a:srgbClr val="FBAE40"/>
          </p15:clr>
        </p15:guide>
        <p15:guide id="4" orient="horz" pos="1132" userDrawn="1">
          <p15:clr>
            <a:srgbClr val="FBAE40"/>
          </p15:clr>
        </p15:guide>
        <p15:guide id="5" orient="horz" pos="2682" userDrawn="1">
          <p15:clr>
            <a:srgbClr val="FBAE40"/>
          </p15:clr>
        </p15:guide>
        <p15:guide id="6" pos="7363"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Where ideas get real Light Blue">
    <p:bg>
      <p:bgPr>
        <a:solidFill>
          <a:srgbClr val="EBF8FF"/>
        </a:solidFill>
        <a:effectLst/>
      </p:bgPr>
    </p:bg>
    <p:spTree>
      <p:nvGrpSpPr>
        <p:cNvPr id="1" name=""/>
        <p:cNvGrpSpPr/>
        <p:nvPr/>
      </p:nvGrpSpPr>
      <p:grpSpPr>
        <a:xfrm>
          <a:off x="0" y="0"/>
          <a:ext cx="0" cy="0"/>
          <a:chOff x="0" y="0"/>
          <a:chExt cx="0" cy="0"/>
        </a:xfrm>
      </p:grpSpPr>
      <p:pic>
        <p:nvPicPr>
          <p:cNvPr id="3" name="Grafik 2" descr="Ein Bild, das Screenshot, Grafiken, Grafikdesign, Schrift enthält.&#10;&#10;KI-generierte Inhalte können fehlerhaft sein.">
            <a:extLst>
              <a:ext uri="{FF2B5EF4-FFF2-40B4-BE49-F238E27FC236}">
                <a16:creationId xmlns:a16="http://schemas.microsoft.com/office/drawing/2014/main" id="{304D449C-317C-5DAF-ABE2-58208202148F}"/>
              </a:ext>
            </a:extLst>
          </p:cNvPr>
          <p:cNvPicPr>
            <a:picLocks noChangeAspect="1"/>
          </p:cNvPicPr>
          <p:nvPr userDrawn="1"/>
        </p:nvPicPr>
        <p:blipFill>
          <a:blip r:embed="rId3"/>
          <a:stretch>
            <a:fillRect/>
          </a:stretch>
        </p:blipFill>
        <p:spPr>
          <a:xfrm>
            <a:off x="1516379" y="1324349"/>
            <a:ext cx="9162415" cy="3629152"/>
          </a:xfrm>
          <a:prstGeom prst="rect">
            <a:avLst/>
          </a:prstGeom>
        </p:spPr>
      </p:pic>
    </p:spTree>
    <p:extLst>
      <p:ext uri="{BB962C8B-B14F-4D97-AF65-F5344CB8AC3E}">
        <p14:creationId xmlns:p14="http://schemas.microsoft.com/office/powerpoint/2010/main" val="41386736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14">
          <p15:clr>
            <a:srgbClr val="FBAE40"/>
          </p15:clr>
        </p15:guide>
        <p15:guide id="4" orient="horz" pos="1132">
          <p15:clr>
            <a:srgbClr val="FBAE40"/>
          </p15:clr>
        </p15:guide>
        <p15:guide id="5" orient="horz" pos="3204">
          <p15:clr>
            <a:srgbClr val="FBAE40"/>
          </p15:clr>
        </p15:guide>
        <p15:guide id="6" pos="7363">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2466743634"/>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317" userDrawn="1">
          <p15:clr>
            <a:srgbClr val="FBAE40"/>
          </p15:clr>
        </p15:guide>
        <p15:guide id="3" pos="7364" userDrawn="1">
          <p15:clr>
            <a:srgbClr val="FBAE40"/>
          </p15:clr>
        </p15:guide>
        <p15:guide id="4" orient="horz" pos="551" userDrawn="1">
          <p15:clr>
            <a:srgbClr val="FBAE40"/>
          </p15:clr>
        </p15:guide>
        <p15:guide id="5" orient="horz" pos="399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1" pos="312" userDrawn="1">
          <p15:clr>
            <a:srgbClr val="FBAE40"/>
          </p15:clr>
        </p15:guide>
        <p15:guide id="2" orient="horz" pos="3997" userDrawn="1">
          <p15:clr>
            <a:srgbClr val="FBAE40"/>
          </p15:clr>
        </p15:guide>
        <p15:guide id="3" pos="7364" userDrawn="1">
          <p15:clr>
            <a:srgbClr val="FBAE40"/>
          </p15:clr>
        </p15:guide>
        <p15:guide id="4" orient="horz" pos="318" userDrawn="1">
          <p15:clr>
            <a:srgbClr val="FBAE40"/>
          </p15:clr>
        </p15:guide>
        <p15:guide id="5" orient="horz" pos="552" userDrawn="1">
          <p15:clr>
            <a:srgbClr val="FBAE40"/>
          </p15:clr>
        </p15:guide>
        <p15:guide id="6" orient="horz" pos="9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Only">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787900"/>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0653082"/>
      </p:ext>
    </p:extLst>
  </p:cSld>
  <p:clrMapOvr>
    <a:masterClrMapping/>
  </p:clrMapOvr>
  <p:extLst>
    <p:ext uri="{DCECCB84-F9BA-43D5-87BE-67443E8EF086}">
      <p15:sldGuideLst xmlns:p15="http://schemas.microsoft.com/office/powerpoint/2012/main">
        <p15:guide id="1" pos="312">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2477" y="1548000"/>
            <a:ext cx="5328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5328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3997" userDrawn="1">
          <p15:clr>
            <a:srgbClr val="FBAE40"/>
          </p15:clr>
        </p15:guide>
        <p15:guide id="4" pos="3674" userDrawn="1">
          <p15:clr>
            <a:srgbClr val="FBAE40"/>
          </p15:clr>
        </p15:guide>
        <p15:guide id="5" pos="4007" userDrawn="1">
          <p15:clr>
            <a:srgbClr val="FBAE40"/>
          </p15:clr>
        </p15:guide>
        <p15:guide id="6" orient="horz" pos="317" userDrawn="1">
          <p15:clr>
            <a:srgbClr val="FBAE40"/>
          </p15:clr>
        </p15:guide>
        <p15:guide id="7" orient="horz" pos="551" userDrawn="1">
          <p15:clr>
            <a:srgbClr val="FBAE40"/>
          </p15:clr>
        </p15:guide>
        <p15:guide id="8" orient="horz" pos="97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317" userDrawn="1">
          <p15:clr>
            <a:srgbClr val="FBAE40"/>
          </p15:clr>
        </p15:guide>
        <p15:guide id="3" pos="2563" userDrawn="1">
          <p15:clr>
            <a:srgbClr val="FBAE40"/>
          </p15:clr>
        </p15:guide>
        <p15:guide id="4" pos="2717" userDrawn="1">
          <p15:clr>
            <a:srgbClr val="FBAE40"/>
          </p15:clr>
        </p15:guide>
        <p15:guide id="5" pos="4964" userDrawn="1">
          <p15:clr>
            <a:srgbClr val="FBAE40"/>
          </p15:clr>
        </p15:guide>
        <p15:guide id="6" pos="5119" userDrawn="1">
          <p15:clr>
            <a:srgbClr val="FBAE40"/>
          </p15:clr>
        </p15:guide>
        <p15:guide id="7" pos="7364" userDrawn="1">
          <p15:clr>
            <a:srgbClr val="FBAE40"/>
          </p15:clr>
        </p15:guide>
        <p15:guide id="8" orient="horz" pos="551" userDrawn="1">
          <p15:clr>
            <a:srgbClr val="FBAE40"/>
          </p15:clr>
        </p15:guide>
        <p15:guide id="9" orient="horz" pos="974" userDrawn="1">
          <p15:clr>
            <a:srgbClr val="FBAE40"/>
          </p15:clr>
        </p15:guide>
        <p15:guide id="10" orient="horz" pos="3997"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362477" y="4770000"/>
            <a:ext cx="5328000" cy="1575238"/>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362477" y="1548000"/>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328000" cy="1575238"/>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5328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317" userDrawn="1">
          <p15:clr>
            <a:srgbClr val="FBAE40"/>
          </p15:clr>
        </p15:guide>
        <p15:guide id="3" orient="horz" pos="551" userDrawn="1">
          <p15:clr>
            <a:srgbClr val="FBAE40"/>
          </p15:clr>
        </p15:guide>
        <p15:guide id="4" orient="horz" pos="974" userDrawn="1">
          <p15:clr>
            <a:srgbClr val="FBAE40"/>
          </p15:clr>
        </p15:guide>
        <p15:guide id="5" orient="horz" pos="2750" userDrawn="1">
          <p15:clr>
            <a:srgbClr val="FBAE40"/>
          </p15:clr>
        </p15:guide>
        <p15:guide id="6" orient="horz" pos="3004" userDrawn="1">
          <p15:clr>
            <a:srgbClr val="FBAE40"/>
          </p15:clr>
        </p15:guide>
        <p15:guide id="7" orient="horz" pos="3997" userDrawn="1">
          <p15:clr>
            <a:srgbClr val="FBAE40"/>
          </p15:clr>
        </p15:guide>
        <p15:guide id="8" pos="3682" userDrawn="1">
          <p15:clr>
            <a:srgbClr val="FBAE40"/>
          </p15:clr>
        </p15:guide>
        <p15:guide id="9" pos="4000" userDrawn="1">
          <p15:clr>
            <a:srgbClr val="FBAE40"/>
          </p15:clr>
        </p15:guide>
        <p15:guide id="10" pos="736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299277"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299277"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401639"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401639"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391200" cy="1981079"/>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33912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317" userDrawn="1">
          <p15:clr>
            <a:srgbClr val="FBAE40"/>
          </p15:clr>
        </p15:guide>
        <p15:guide id="3" pos="2455" userDrawn="1">
          <p15:clr>
            <a:srgbClr val="FBAE40"/>
          </p15:clr>
        </p15:guide>
        <p15:guide id="4" pos="2773" userDrawn="1">
          <p15:clr>
            <a:srgbClr val="FBAE40"/>
          </p15:clr>
        </p15:guide>
        <p15:guide id="5" pos="4910" userDrawn="1">
          <p15:clr>
            <a:srgbClr val="FBAE40"/>
          </p15:clr>
        </p15:guide>
        <p15:guide id="6" pos="5227" userDrawn="1">
          <p15:clr>
            <a:srgbClr val="FBAE40"/>
          </p15:clr>
        </p15:guide>
        <p15:guide id="7" pos="7364" userDrawn="1">
          <p15:clr>
            <a:srgbClr val="FBAE40"/>
          </p15:clr>
        </p15:guide>
        <p15:guide id="8" orient="horz" pos="551" userDrawn="1">
          <p15:clr>
            <a:srgbClr val="FBAE40"/>
          </p15:clr>
        </p15:guide>
        <p15:guide id="9" orient="horz" pos="970" userDrawn="1">
          <p15:clr>
            <a:srgbClr val="FBAE40"/>
          </p15:clr>
        </p15:guide>
        <p15:guide id="10" orient="horz" pos="2428" userDrawn="1">
          <p15:clr>
            <a:srgbClr val="FBAE40"/>
          </p15:clr>
        </p15:guide>
        <p15:guide id="11" orient="horz" pos="2743" userDrawn="1">
          <p15:clr>
            <a:srgbClr val="FBAE40"/>
          </p15:clr>
        </p15:guide>
        <p15:guide id="12" orient="horz" pos="3997"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274877"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274877"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351252"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351252"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427626"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427626"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4000" y="3877200"/>
            <a:ext cx="2415600" cy="2457780"/>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4000" y="1548000"/>
            <a:ext cx="2415600"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317" userDrawn="1">
          <p15:clr>
            <a:srgbClr val="FBAE40"/>
          </p15:clr>
        </p15:guide>
        <p15:guide id="3" orient="horz" pos="551" userDrawn="1">
          <p15:clr>
            <a:srgbClr val="FBAE40"/>
          </p15:clr>
        </p15:guide>
        <p15:guide id="4" orient="horz" pos="974" userDrawn="1">
          <p15:clr>
            <a:srgbClr val="FBAE40"/>
          </p15:clr>
        </p15:guide>
        <p15:guide id="5" orient="horz" pos="2160" userDrawn="1">
          <p15:clr>
            <a:srgbClr val="FBAE40"/>
          </p15:clr>
        </p15:guide>
        <p15:guide id="6" orient="horz" pos="2442" userDrawn="1">
          <p15:clr>
            <a:srgbClr val="FBAE40"/>
          </p15:clr>
        </p15:guide>
        <p15:guide id="7" orient="horz" pos="3990" userDrawn="1">
          <p15:clr>
            <a:srgbClr val="FBAE40"/>
          </p15:clr>
        </p15:guide>
        <p15:guide id="8" pos="1840" userDrawn="1">
          <p15:clr>
            <a:srgbClr val="FBAE40"/>
          </p15:clr>
        </p15:guide>
        <p15:guide id="9" pos="2159" userDrawn="1">
          <p15:clr>
            <a:srgbClr val="FBAE40"/>
          </p15:clr>
        </p15:guide>
        <p15:guide id="10" pos="3683" userDrawn="1">
          <p15:clr>
            <a:srgbClr val="FBAE40"/>
          </p15:clr>
        </p15:guide>
        <p15:guide id="11" pos="4000" userDrawn="1">
          <p15:clr>
            <a:srgbClr val="FBAE40"/>
          </p15:clr>
        </p15:guide>
        <p15:guide id="12" pos="5525" userDrawn="1">
          <p15:clr>
            <a:srgbClr val="FBAE40"/>
          </p15:clr>
        </p15:guide>
        <p15:guide id="13" pos="5842" userDrawn="1">
          <p15:clr>
            <a:srgbClr val="FBAE40"/>
          </p15:clr>
        </p15:guide>
        <p15:guide id="14" pos="7364"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9" y="1548000"/>
            <a:ext cx="7092000"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1" y="504000"/>
            <a:ext cx="7092000"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3991" userDrawn="1">
          <p15:clr>
            <a:srgbClr val="FBAE40"/>
          </p15:clr>
        </p15:guide>
        <p15:guide id="3" pos="4786" userDrawn="1">
          <p15:clr>
            <a:srgbClr val="FBAE40"/>
          </p15:clr>
        </p15:guide>
        <p15:guide id="4" pos="5111" userDrawn="1">
          <p15:clr>
            <a:srgbClr val="FBAE40"/>
          </p15:clr>
        </p15:guide>
        <p15:guide id="5" orient="horz" pos="317" userDrawn="1">
          <p15:clr>
            <a:srgbClr val="FBAE40"/>
          </p15:clr>
        </p15:guide>
        <p15:guide id="6" orient="horz" pos="551" userDrawn="1">
          <p15:clr>
            <a:srgbClr val="FBAE40"/>
          </p15:clr>
        </p15:guide>
        <p15:guide id="7" orient="horz" pos="97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41397911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362477" y="1557338"/>
            <a:ext cx="5328000" cy="4788000"/>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328000" cy="4788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972" userDrawn="1">
          <p15:clr>
            <a:srgbClr val="FBAE40"/>
          </p15:clr>
        </p15:guide>
        <p15:guide id="3" pos="3674" userDrawn="1">
          <p15:clr>
            <a:srgbClr val="FBAE40"/>
          </p15:clr>
        </p15:guide>
        <p15:guide id="4" pos="4008" userDrawn="1">
          <p15:clr>
            <a:srgbClr val="FBAE40"/>
          </p15:clr>
        </p15:guide>
        <p15:guide id="5" pos="7364" userDrawn="1">
          <p15:clr>
            <a:srgbClr val="FBAE40"/>
          </p15:clr>
        </p15:guide>
        <p15:guide id="6" orient="horz" pos="317" userDrawn="1">
          <p15:clr>
            <a:srgbClr val="FBAE40"/>
          </p15:clr>
        </p15:guide>
        <p15:guide id="7" orient="horz" pos="551" userDrawn="1">
          <p15:clr>
            <a:srgbClr val="FBAE40"/>
          </p15:clr>
        </p15:guide>
        <p15:guide id="8" orient="horz" pos="3991"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788000"/>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1" pos="314" userDrawn="1">
          <p15:clr>
            <a:srgbClr val="FBAE40"/>
          </p15:clr>
        </p15:guide>
        <p15:guide id="2" orient="horz" pos="317" userDrawn="1">
          <p15:clr>
            <a:srgbClr val="FBAE40"/>
          </p15:clr>
        </p15:guide>
        <p15:guide id="3" orient="horz" pos="551" userDrawn="1">
          <p15:clr>
            <a:srgbClr val="FBAE40"/>
          </p15:clr>
        </p15:guide>
        <p15:guide id="4" orient="horz" pos="972" userDrawn="1">
          <p15:clr>
            <a:srgbClr val="FBAE40"/>
          </p15:clr>
        </p15:guide>
        <p15:guide id="5" orient="horz" pos="3991" userDrawn="1">
          <p15:clr>
            <a:srgbClr val="FBAE40"/>
          </p15:clr>
        </p15:guide>
        <p15:guide id="6" pos="736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hank You Dark Blue">
    <p:bg>
      <p:bgPr>
        <a:solidFill>
          <a:srgbClr val="00144A"/>
        </a:solidFill>
        <a:effectLst/>
      </p:bgPr>
    </p:bg>
    <p:spTree>
      <p:nvGrpSpPr>
        <p:cNvPr id="1" name=""/>
        <p:cNvGrpSpPr/>
        <p:nvPr/>
      </p:nvGrpSpPr>
      <p:grpSpPr>
        <a:xfrm>
          <a:off x="0" y="0"/>
          <a:ext cx="0" cy="0"/>
          <a:chOff x="0" y="0"/>
          <a:chExt cx="0" cy="0"/>
        </a:xfrm>
      </p:grpSpPr>
      <p:pic>
        <p:nvPicPr>
          <p:cNvPr id="8" name="Grafik 7" descr="Ein Bild, das Screenshot, Grafiken, Farbigkeit enthält.&#10;&#10;KI-generierte Inhalte können fehlerhaft sein.">
            <a:extLst>
              <a:ext uri="{FF2B5EF4-FFF2-40B4-BE49-F238E27FC236}">
                <a16:creationId xmlns:a16="http://schemas.microsoft.com/office/drawing/2014/main" id="{6C149C7D-EDEA-E2CF-76ED-75CC189BF207}"/>
              </a:ext>
            </a:extLst>
          </p:cNvPr>
          <p:cNvPicPr>
            <a:picLocks noChangeAspect="1"/>
          </p:cNvPicPr>
          <p:nvPr userDrawn="1"/>
        </p:nvPicPr>
        <p:blipFill>
          <a:blip r:embed="rId2"/>
          <a:stretch>
            <a:fillRect/>
          </a:stretch>
        </p:blipFill>
        <p:spPr>
          <a:xfrm>
            <a:off x="2850611" y="196947"/>
            <a:ext cx="9903657" cy="5570807"/>
          </a:xfrm>
          <a:prstGeom prst="rect">
            <a:avLst/>
          </a:prstGeom>
        </p:spPr>
      </p:pic>
      <p:sp>
        <p:nvSpPr>
          <p:cNvPr id="9" name="Copyright - Dynamic" descr="{&quot;templafy&quot;:{&quot;id&quot;:&quot;27f15a2f-efbf-4b45-a883-cb50c003bc42&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solidFill>
                  <a:schemeClr val="bg1"/>
                </a:solidFill>
                <a:latin typeface="+mn-lt"/>
              </a:rPr>
              <a:t>© 2025 SAP SE or an SAP affiliate company. All rights reserved. See Legal Notice on </a:t>
            </a:r>
            <a:r>
              <a:rPr lang="en-US" sz="600" b="0" i="0" err="1">
                <a:solidFill>
                  <a:schemeClr val="bg1"/>
                </a:solidFill>
                <a:latin typeface="+mn-lt"/>
              </a:rPr>
              <a:t>www.sap.com</a:t>
            </a:r>
            <a:r>
              <a:rPr lang="en-US" sz="600" b="0" i="0">
                <a:solidFill>
                  <a:schemeClr val="bg1"/>
                </a:solidFill>
                <a:latin typeface="+mn-lt"/>
              </a:rPr>
              <a:t>/legal-notice for use terms, disclaimers, disclosures, or restrictions related to this material.</a:t>
            </a:r>
          </a:p>
        </p:txBody>
      </p:sp>
      <p:sp>
        <p:nvSpPr>
          <p:cNvPr id="3" name="Textplatzhalter 6">
            <a:extLst>
              <a:ext uri="{FF2B5EF4-FFF2-40B4-BE49-F238E27FC236}">
                <a16:creationId xmlns:a16="http://schemas.microsoft.com/office/drawing/2014/main" id="{B01F4787-EAB6-6758-FC14-3B358D0B4350}"/>
              </a:ext>
            </a:extLst>
          </p:cNvPr>
          <p:cNvSpPr>
            <a:spLocks noGrp="1"/>
          </p:cNvSpPr>
          <p:nvPr>
            <p:ph type="body" sz="quarter" idx="10" hasCustomPrompt="1"/>
          </p:nvPr>
        </p:nvSpPr>
        <p:spPr>
          <a:xfrm>
            <a:off x="498475" y="3197065"/>
            <a:ext cx="3305429" cy="1265079"/>
          </a:xfrm>
        </p:spPr>
        <p:txBody>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chemeClr val="bg1"/>
                </a:solidFill>
              </a:defRPr>
            </a:lvl1pPr>
          </a:lstStyle>
          <a:p>
            <a:pPr lvl="0"/>
            <a:r>
              <a:rPr lang="de-DE"/>
              <a:t>Name</a:t>
            </a:r>
          </a:p>
        </p:txBody>
      </p:sp>
      <p:sp>
        <p:nvSpPr>
          <p:cNvPr id="5" name="Textplatzhalter 2">
            <a:extLst>
              <a:ext uri="{FF2B5EF4-FFF2-40B4-BE49-F238E27FC236}">
                <a16:creationId xmlns:a16="http://schemas.microsoft.com/office/drawing/2014/main" id="{552E7F0D-A8CC-D351-94E0-B93E3F3DEAC4}"/>
              </a:ext>
            </a:extLst>
          </p:cNvPr>
          <p:cNvSpPr>
            <a:spLocks noGrp="1"/>
          </p:cNvSpPr>
          <p:nvPr>
            <p:ph type="body" sz="quarter" idx="11" hasCustomPrompt="1"/>
          </p:nvPr>
        </p:nvSpPr>
        <p:spPr>
          <a:xfrm>
            <a:off x="498475" y="2907348"/>
            <a:ext cx="1971730" cy="319532"/>
          </a:xfrm>
        </p:spPr>
        <p:txBody>
          <a:bodyPr/>
          <a:lstStyle>
            <a:lvl1pPr>
              <a:defRPr lang="de-DE" sz="1600" b="0" i="0" kern="1200" dirty="0">
                <a:solidFill>
                  <a:schemeClr val="bg1"/>
                </a:solidFill>
                <a:latin typeface="+mn-lt"/>
                <a:ea typeface="+mn-ea"/>
                <a:cs typeface="+mn-cs"/>
              </a:defRPr>
            </a:lvl1p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de-DE"/>
              <a:t>Contact </a:t>
            </a:r>
            <a:r>
              <a:rPr lang="de-DE" err="1"/>
              <a:t>information</a:t>
            </a:r>
            <a:r>
              <a:rPr lang="de-DE"/>
              <a:t>:</a:t>
            </a:r>
          </a:p>
        </p:txBody>
      </p:sp>
      <p:pic>
        <p:nvPicPr>
          <p:cNvPr id="6" name="Picture 4">
            <a:extLst>
              <a:ext uri="{FF2B5EF4-FFF2-40B4-BE49-F238E27FC236}">
                <a16:creationId xmlns:a16="http://schemas.microsoft.com/office/drawing/2014/main" id="{F8797235-2602-508E-6B35-20DED9161D4A}"/>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8165660" y="5990000"/>
            <a:ext cx="3506400" cy="360000"/>
          </a:xfrm>
          <a:prstGeom prst="rect">
            <a:avLst/>
          </a:prstGeom>
        </p:spPr>
      </p:pic>
      <p:pic>
        <p:nvPicPr>
          <p:cNvPr id="7" name="object 10">
            <a:extLst>
              <a:ext uri="{FF2B5EF4-FFF2-40B4-BE49-F238E27FC236}">
                <a16:creationId xmlns:a16="http://schemas.microsoft.com/office/drawing/2014/main" id="{13CDB3F7-00C7-0239-F25F-0E99260F48B2}"/>
              </a:ext>
            </a:extLst>
          </p:cNvPr>
          <p:cNvPicPr/>
          <p:nvPr userDrawn="1"/>
        </p:nvPicPr>
        <p:blipFill>
          <a:blip r:embed="rId4"/>
          <a:srcRect/>
          <a:stretch/>
        </p:blipFill>
        <p:spPr>
          <a:xfrm>
            <a:off x="498478" y="270676"/>
            <a:ext cx="1516531" cy="214362"/>
          </a:xfrm>
          <a:prstGeom prst="rect">
            <a:avLst/>
          </a:prstGeom>
        </p:spPr>
      </p:pic>
      <p:sp>
        <p:nvSpPr>
          <p:cNvPr id="13" name="TextBox 12">
            <a:extLst>
              <a:ext uri="{FF2B5EF4-FFF2-40B4-BE49-F238E27FC236}">
                <a16:creationId xmlns:a16="http://schemas.microsoft.com/office/drawing/2014/main" id="{32F86EEA-468A-E8C1-9988-BEAB929C1879}"/>
              </a:ext>
            </a:extLst>
          </p:cNvPr>
          <p:cNvSpPr txBox="1"/>
          <p:nvPr userDrawn="1"/>
        </p:nvSpPr>
        <p:spPr>
          <a:xfrm>
            <a:off x="5335150" y="3311951"/>
            <a:ext cx="3185991"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i="0" kern="0">
                <a:solidFill>
                  <a:schemeClr val="bg1"/>
                </a:solidFill>
                <a:latin typeface="72 Brand" panose="020B0504030603020204" pitchFamily="34" charset="0"/>
                <a:ea typeface="72 Brand" pitchFamily="34" charset="-128"/>
                <a:cs typeface="72 Brand" pitchFamily="34" charset="-128"/>
              </a:rPr>
              <a:t>Thank you!</a:t>
            </a:r>
          </a:p>
        </p:txBody>
      </p:sp>
    </p:spTree>
    <p:extLst>
      <p:ext uri="{BB962C8B-B14F-4D97-AF65-F5344CB8AC3E}">
        <p14:creationId xmlns:p14="http://schemas.microsoft.com/office/powerpoint/2010/main" val="1172306197"/>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1">
          <p15:clr>
            <a:srgbClr val="FBAE40"/>
          </p15:clr>
        </p15:guide>
        <p15:guide id="9" orient="horz" pos="31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hank You Light Blue">
    <p:bg>
      <p:bgPr>
        <a:solidFill>
          <a:srgbClr val="EBF8FF"/>
        </a:solidFill>
        <a:effectLst/>
      </p:bgPr>
    </p:bg>
    <p:spTree>
      <p:nvGrpSpPr>
        <p:cNvPr id="1" name=""/>
        <p:cNvGrpSpPr/>
        <p:nvPr/>
      </p:nvGrpSpPr>
      <p:grpSpPr>
        <a:xfrm>
          <a:off x="0" y="0"/>
          <a:ext cx="0" cy="0"/>
          <a:chOff x="0" y="0"/>
          <a:chExt cx="0" cy="0"/>
        </a:xfrm>
      </p:grpSpPr>
      <p:sp>
        <p:nvSpPr>
          <p:cNvPr id="9" name="Copyright - Dynamic" descr="{&quot;templafy&quot;:{&quot;id&quot;:&quot;27f15a2f-efbf-4b45-a883-cb50c003bc42&quot;}}">
            <a:extLst>
              <a:ext uri="{FF2B5EF4-FFF2-40B4-BE49-F238E27FC236}">
                <a16:creationId xmlns:a16="http://schemas.microsoft.com/office/drawing/2014/main" id="{EDAF1AF5-D568-20CC-6052-F655D86F5486}"/>
              </a:ext>
            </a:extLst>
          </p:cNvPr>
          <p:cNvSpPr txBox="1">
            <a:spLocks/>
          </p:cNvSpPr>
          <p:nvPr userDrawn="1"/>
        </p:nvSpPr>
        <p:spPr>
          <a:xfrm>
            <a:off x="504001" y="6536751"/>
            <a:ext cx="10155600"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sz="600" b="0" i="0">
                <a:solidFill>
                  <a:srgbClr val="00144A"/>
                </a:solidFill>
                <a:latin typeface="+mn-lt"/>
              </a:rPr>
              <a:t>© 2025 SAP SE or an SAP affiliate company. All rights reserved. See Legal Notice on </a:t>
            </a:r>
            <a:r>
              <a:rPr lang="en-US" sz="600" b="0" i="0" err="1">
                <a:solidFill>
                  <a:srgbClr val="00144A"/>
                </a:solidFill>
                <a:latin typeface="+mn-lt"/>
              </a:rPr>
              <a:t>www.sap.com</a:t>
            </a:r>
            <a:r>
              <a:rPr lang="en-US" sz="600" b="0" i="0">
                <a:solidFill>
                  <a:srgbClr val="00144A"/>
                </a:solidFill>
                <a:latin typeface="+mn-lt"/>
              </a:rPr>
              <a:t>/legal-notice for use terms, disclaimers, disclosures, or restrictions related to this material.</a:t>
            </a:r>
          </a:p>
        </p:txBody>
      </p:sp>
      <p:sp>
        <p:nvSpPr>
          <p:cNvPr id="7" name="Textplatzhalter 6">
            <a:extLst>
              <a:ext uri="{FF2B5EF4-FFF2-40B4-BE49-F238E27FC236}">
                <a16:creationId xmlns:a16="http://schemas.microsoft.com/office/drawing/2014/main" id="{092FCA68-7DA8-8A95-904C-BC4FE658586C}"/>
              </a:ext>
            </a:extLst>
          </p:cNvPr>
          <p:cNvSpPr>
            <a:spLocks noGrp="1"/>
          </p:cNvSpPr>
          <p:nvPr>
            <p:ph type="body" sz="quarter" idx="10" hasCustomPrompt="1"/>
          </p:nvPr>
        </p:nvSpPr>
        <p:spPr>
          <a:xfrm>
            <a:off x="498475" y="3197065"/>
            <a:ext cx="3305429" cy="1265079"/>
          </a:xfrm>
        </p:spPr>
        <p:txBody>
          <a:bodyPr/>
          <a:lstStyle>
            <a:lvl1pPr marL="0" marR="0" indent="0" algn="l" defTabSz="1088558" rtl="0" eaLnBrk="1" fontAlgn="auto" latinLnBrk="0" hangingPunct="1">
              <a:lnSpc>
                <a:spcPct val="100000"/>
              </a:lnSpc>
              <a:spcBef>
                <a:spcPts val="0"/>
              </a:spcBef>
              <a:spcAft>
                <a:spcPts val="0"/>
              </a:spcAft>
              <a:buClrTx/>
              <a:buSzPct val="80000"/>
              <a:buFont typeface="72 Brand" panose="02000000000000000000" pitchFamily="2" charset="0"/>
              <a:buNone/>
              <a:tabLst/>
              <a:defRPr sz="1600">
                <a:solidFill>
                  <a:srgbClr val="002A86"/>
                </a:solidFill>
              </a:defRPr>
            </a:lvl1pPr>
          </a:lstStyle>
          <a:p>
            <a:pPr lvl="0"/>
            <a:r>
              <a:rPr lang="de-DE"/>
              <a:t>Name</a:t>
            </a:r>
          </a:p>
        </p:txBody>
      </p:sp>
      <p:sp>
        <p:nvSpPr>
          <p:cNvPr id="3" name="Textplatzhalter 2">
            <a:extLst>
              <a:ext uri="{FF2B5EF4-FFF2-40B4-BE49-F238E27FC236}">
                <a16:creationId xmlns:a16="http://schemas.microsoft.com/office/drawing/2014/main" id="{585640DA-8699-0ACF-0E7E-02C3C53F5CFA}"/>
              </a:ext>
            </a:extLst>
          </p:cNvPr>
          <p:cNvSpPr>
            <a:spLocks noGrp="1"/>
          </p:cNvSpPr>
          <p:nvPr>
            <p:ph type="body" sz="quarter" idx="11" hasCustomPrompt="1"/>
          </p:nvPr>
        </p:nvSpPr>
        <p:spPr>
          <a:xfrm>
            <a:off x="498475" y="2907348"/>
            <a:ext cx="1971730" cy="319532"/>
          </a:xfrm>
        </p:spPr>
        <p:txBody>
          <a:bodyPr/>
          <a:lstStyle>
            <a:lvl1pPr>
              <a:defRPr lang="de-DE" sz="1600" b="0" i="0" kern="1200" dirty="0">
                <a:solidFill>
                  <a:srgbClr val="002A86"/>
                </a:solidFill>
                <a:latin typeface="+mn-lt"/>
                <a:ea typeface="+mn-ea"/>
                <a:cs typeface="+mn-cs"/>
              </a:defRPr>
            </a:lvl1p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de-DE"/>
              <a:t>Contact </a:t>
            </a:r>
            <a:r>
              <a:rPr lang="de-DE" err="1"/>
              <a:t>information</a:t>
            </a:r>
            <a:r>
              <a:rPr lang="de-DE"/>
              <a:t>:</a:t>
            </a:r>
          </a:p>
        </p:txBody>
      </p:sp>
      <p:pic>
        <p:nvPicPr>
          <p:cNvPr id="5" name="Picture 4">
            <a:extLst>
              <a:ext uri="{FF2B5EF4-FFF2-40B4-BE49-F238E27FC236}">
                <a16:creationId xmlns:a16="http://schemas.microsoft.com/office/drawing/2014/main" id="{0E325E92-A092-A296-1447-24BF65F53C0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165659" y="5990000"/>
            <a:ext cx="3506403" cy="360000"/>
          </a:xfrm>
          <a:prstGeom prst="rect">
            <a:avLst/>
          </a:prstGeom>
        </p:spPr>
      </p:pic>
      <p:pic>
        <p:nvPicPr>
          <p:cNvPr id="2" name="object 10">
            <a:extLst>
              <a:ext uri="{FF2B5EF4-FFF2-40B4-BE49-F238E27FC236}">
                <a16:creationId xmlns:a16="http://schemas.microsoft.com/office/drawing/2014/main" id="{ED80F4D0-39E0-3001-D857-22E184EE8430}"/>
              </a:ext>
            </a:extLst>
          </p:cNvPr>
          <p:cNvPicPr/>
          <p:nvPr userDrawn="1"/>
        </p:nvPicPr>
        <p:blipFill>
          <a:blip r:embed="rId3"/>
          <a:srcRect/>
          <a:stretch/>
        </p:blipFill>
        <p:spPr>
          <a:xfrm>
            <a:off x="498475" y="270676"/>
            <a:ext cx="1516538" cy="214362"/>
          </a:xfrm>
          <a:prstGeom prst="rect">
            <a:avLst/>
          </a:prstGeom>
        </p:spPr>
      </p:pic>
      <p:sp>
        <p:nvSpPr>
          <p:cNvPr id="6" name="TextBox 5">
            <a:extLst>
              <a:ext uri="{FF2B5EF4-FFF2-40B4-BE49-F238E27FC236}">
                <a16:creationId xmlns:a16="http://schemas.microsoft.com/office/drawing/2014/main" id="{A08B9B42-EDE1-7CEF-B9DE-167E9A24E95C}"/>
              </a:ext>
            </a:extLst>
          </p:cNvPr>
          <p:cNvSpPr txBox="1"/>
          <p:nvPr userDrawn="1"/>
        </p:nvSpPr>
        <p:spPr>
          <a:xfrm>
            <a:off x="5335150" y="3311951"/>
            <a:ext cx="3185991"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US" sz="4000" b="1" i="0" kern="0">
                <a:solidFill>
                  <a:srgbClr val="00144A"/>
                </a:solidFill>
                <a:latin typeface="72 Brand" panose="020B0504030603020204" pitchFamily="34" charset="0"/>
                <a:ea typeface="72 Brand" pitchFamily="34" charset="-128"/>
                <a:cs typeface="72 Brand" pitchFamily="34" charset="-128"/>
              </a:rPr>
              <a:t>Thank you!</a:t>
            </a:r>
          </a:p>
        </p:txBody>
      </p:sp>
      <p:pic>
        <p:nvPicPr>
          <p:cNvPr id="4" name="Grafik 3" descr="Ein Bild, das Screenshot, Grafiken, Farbigkeit enthält.&#10;&#10;KI-generierte Inhalte können fehlerhaft sein.">
            <a:extLst>
              <a:ext uri="{FF2B5EF4-FFF2-40B4-BE49-F238E27FC236}">
                <a16:creationId xmlns:a16="http://schemas.microsoft.com/office/drawing/2014/main" id="{4FB77C3D-C803-A0A6-A0C2-0A302AF0A3F1}"/>
              </a:ext>
            </a:extLst>
          </p:cNvPr>
          <p:cNvPicPr>
            <a:picLocks noChangeAspect="1"/>
          </p:cNvPicPr>
          <p:nvPr userDrawn="1"/>
        </p:nvPicPr>
        <p:blipFill>
          <a:blip r:embed="rId4"/>
          <a:stretch>
            <a:fillRect/>
          </a:stretch>
        </p:blipFill>
        <p:spPr>
          <a:xfrm>
            <a:off x="2850611" y="196947"/>
            <a:ext cx="9903657" cy="5570807"/>
          </a:xfrm>
          <a:prstGeom prst="rect">
            <a:avLst/>
          </a:prstGeom>
        </p:spPr>
      </p:pic>
    </p:spTree>
    <p:extLst>
      <p:ext uri="{BB962C8B-B14F-4D97-AF65-F5344CB8AC3E}">
        <p14:creationId xmlns:p14="http://schemas.microsoft.com/office/powerpoint/2010/main" val="1861617977"/>
      </p:ext>
    </p:extLst>
  </p:cSld>
  <p:clrMapOvr>
    <a:masterClrMapping/>
  </p:clrMapOvr>
  <p:hf sldNum="0" hdr="0" ftr="0" dt="0"/>
  <p:extLst>
    <p:ext uri="{DCECCB84-F9BA-43D5-87BE-67443E8EF086}">
      <p15:sldGuideLst xmlns:p15="http://schemas.microsoft.com/office/powerpoint/2012/main">
        <p15:guide id="1" pos="7364">
          <p15:clr>
            <a:srgbClr val="FBAE40"/>
          </p15:clr>
        </p15:guide>
        <p15:guide id="2" orient="horz" pos="970">
          <p15:clr>
            <a:srgbClr val="FBAE40"/>
          </p15:clr>
        </p15:guide>
        <p15:guide id="4" orient="horz" pos="1830">
          <p15:clr>
            <a:srgbClr val="FBAE40"/>
          </p15:clr>
        </p15:guide>
        <p15:guide id="5" orient="horz" pos="4000">
          <p15:clr>
            <a:srgbClr val="FBAE40"/>
          </p15:clr>
        </p15:guide>
        <p15:guide id="6" pos="314">
          <p15:clr>
            <a:srgbClr val="FBAE40"/>
          </p15:clr>
        </p15:guide>
        <p15:guide id="8" pos="3841">
          <p15:clr>
            <a:srgbClr val="FBAE40"/>
          </p15:clr>
        </p15:guide>
        <p15:guide id="9" orient="horz" pos="31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949579103"/>
      </p:ext>
    </p:extLst>
  </p:cSld>
  <p:clrMapOvr>
    <a:masterClrMapping/>
  </p:clrMapOvr>
  <p:extLst>
    <p:ext uri="{DCECCB84-F9BA-43D5-87BE-67443E8EF086}">
      <p15:sldGuideLst xmlns:p15="http://schemas.microsoft.com/office/powerpoint/2012/main">
        <p15:guide id="1" pos="303">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1650" y="1557338"/>
            <a:ext cx="11186477" cy="47879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1459251248"/>
      </p:ext>
    </p:extLst>
  </p:cSld>
  <p:clrMapOvr>
    <a:masterClrMapping/>
  </p:clrMapOvr>
  <p:extLst>
    <p:ext uri="{DCECCB84-F9BA-43D5-87BE-67443E8EF086}">
      <p15:sldGuideLst xmlns:p15="http://schemas.microsoft.com/office/powerpoint/2012/main">
        <p15:guide id="1" pos="316">
          <p15:clr>
            <a:srgbClr val="FBAE40"/>
          </p15:clr>
        </p15:guide>
        <p15:guide id="2" orient="horz" pos="3997">
          <p15:clr>
            <a:srgbClr val="FBAE40"/>
          </p15:clr>
        </p15:guide>
        <p15:guide id="3" pos="7364">
          <p15:clr>
            <a:srgbClr val="FBAE40"/>
          </p15:clr>
        </p15:guide>
        <p15:guide id="4" orient="horz" pos="318">
          <p15:clr>
            <a:srgbClr val="FBAE40"/>
          </p15:clr>
        </p15:guide>
        <p15:guide id="5" orient="horz" pos="552">
          <p15:clr>
            <a:srgbClr val="FBAE40"/>
          </p15:clr>
        </p15:guide>
        <p15:guide id="6" orient="horz" pos="98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925107"/>
      </p:ext>
    </p:extLst>
  </p:cSld>
  <p:clrMapOvr>
    <a:masterClrMapping/>
  </p:clrMapOvr>
  <p:extLst>
    <p:ext uri="{DCECCB84-F9BA-43D5-87BE-67443E8EF086}">
      <p15:sldGuideLst xmlns:p15="http://schemas.microsoft.com/office/powerpoint/2012/main">
        <p15:guide id="1" pos="303">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89.xml"/><Relationship Id="rId21" Type="http://schemas.openxmlformats.org/officeDocument/2006/relationships/slideLayout" Target="../slideLayouts/slideLayout21.xml"/><Relationship Id="rId42" Type="http://schemas.openxmlformats.org/officeDocument/2006/relationships/tags" Target="../tags/tag14.xml"/><Relationship Id="rId63" Type="http://schemas.openxmlformats.org/officeDocument/2006/relationships/tags" Target="../tags/tag35.xml"/><Relationship Id="rId84" Type="http://schemas.openxmlformats.org/officeDocument/2006/relationships/tags" Target="../tags/tag56.xml"/><Relationship Id="rId138" Type="http://schemas.openxmlformats.org/officeDocument/2006/relationships/tags" Target="../tags/tag110.xml"/><Relationship Id="rId107" Type="http://schemas.openxmlformats.org/officeDocument/2006/relationships/tags" Target="../tags/tag79.xml"/><Relationship Id="rId11" Type="http://schemas.openxmlformats.org/officeDocument/2006/relationships/slideLayout" Target="../slideLayouts/slideLayout11.xml"/><Relationship Id="rId32" Type="http://schemas.openxmlformats.org/officeDocument/2006/relationships/tags" Target="../tags/tag4.xml"/><Relationship Id="rId53" Type="http://schemas.openxmlformats.org/officeDocument/2006/relationships/tags" Target="../tags/tag25.xml"/><Relationship Id="rId74" Type="http://schemas.openxmlformats.org/officeDocument/2006/relationships/tags" Target="../tags/tag46.xml"/><Relationship Id="rId128" Type="http://schemas.openxmlformats.org/officeDocument/2006/relationships/tags" Target="../tags/tag100.xml"/><Relationship Id="rId149" Type="http://schemas.openxmlformats.org/officeDocument/2006/relationships/tags" Target="../tags/tag121.xml"/><Relationship Id="rId5" Type="http://schemas.openxmlformats.org/officeDocument/2006/relationships/slideLayout" Target="../slideLayouts/slideLayout5.xml"/><Relationship Id="rId95" Type="http://schemas.openxmlformats.org/officeDocument/2006/relationships/tags" Target="../tags/tag67.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tags" Target="../tags/tag15.xml"/><Relationship Id="rId48" Type="http://schemas.openxmlformats.org/officeDocument/2006/relationships/tags" Target="../tags/tag20.xml"/><Relationship Id="rId64" Type="http://schemas.openxmlformats.org/officeDocument/2006/relationships/tags" Target="../tags/tag36.xml"/><Relationship Id="rId69" Type="http://schemas.openxmlformats.org/officeDocument/2006/relationships/tags" Target="../tags/tag41.xml"/><Relationship Id="rId113" Type="http://schemas.openxmlformats.org/officeDocument/2006/relationships/tags" Target="../tags/tag85.xml"/><Relationship Id="rId118" Type="http://schemas.openxmlformats.org/officeDocument/2006/relationships/tags" Target="../tags/tag90.xml"/><Relationship Id="rId134" Type="http://schemas.openxmlformats.org/officeDocument/2006/relationships/tags" Target="../tags/tag106.xml"/><Relationship Id="rId139" Type="http://schemas.openxmlformats.org/officeDocument/2006/relationships/tags" Target="../tags/tag111.xml"/><Relationship Id="rId80" Type="http://schemas.openxmlformats.org/officeDocument/2006/relationships/tags" Target="../tags/tag52.xml"/><Relationship Id="rId85" Type="http://schemas.openxmlformats.org/officeDocument/2006/relationships/tags" Target="../tags/tag57.xml"/><Relationship Id="rId150" Type="http://schemas.openxmlformats.org/officeDocument/2006/relationships/tags" Target="../tags/tag122.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tags" Target="../tags/tag5.xml"/><Relationship Id="rId38" Type="http://schemas.openxmlformats.org/officeDocument/2006/relationships/tags" Target="../tags/tag10.xml"/><Relationship Id="rId59" Type="http://schemas.openxmlformats.org/officeDocument/2006/relationships/tags" Target="../tags/tag31.xml"/><Relationship Id="rId103" Type="http://schemas.openxmlformats.org/officeDocument/2006/relationships/tags" Target="../tags/tag75.xml"/><Relationship Id="rId108" Type="http://schemas.openxmlformats.org/officeDocument/2006/relationships/tags" Target="../tags/tag80.xml"/><Relationship Id="rId124" Type="http://schemas.openxmlformats.org/officeDocument/2006/relationships/tags" Target="../tags/tag96.xml"/><Relationship Id="rId129" Type="http://schemas.openxmlformats.org/officeDocument/2006/relationships/tags" Target="../tags/tag101.xml"/><Relationship Id="rId54" Type="http://schemas.openxmlformats.org/officeDocument/2006/relationships/tags" Target="../tags/tag26.xml"/><Relationship Id="rId70" Type="http://schemas.openxmlformats.org/officeDocument/2006/relationships/tags" Target="../tags/tag42.xml"/><Relationship Id="rId75" Type="http://schemas.openxmlformats.org/officeDocument/2006/relationships/tags" Target="../tags/tag47.xml"/><Relationship Id="rId91" Type="http://schemas.openxmlformats.org/officeDocument/2006/relationships/tags" Target="../tags/tag63.xml"/><Relationship Id="rId96" Type="http://schemas.openxmlformats.org/officeDocument/2006/relationships/tags" Target="../tags/tag68.xml"/><Relationship Id="rId140" Type="http://schemas.openxmlformats.org/officeDocument/2006/relationships/tags" Target="../tags/tag112.xml"/><Relationship Id="rId145" Type="http://schemas.openxmlformats.org/officeDocument/2006/relationships/tags" Target="../tags/tag117.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tags" Target="../tags/tag21.xml"/><Relationship Id="rId114" Type="http://schemas.openxmlformats.org/officeDocument/2006/relationships/tags" Target="../tags/tag86.xml"/><Relationship Id="rId119" Type="http://schemas.openxmlformats.org/officeDocument/2006/relationships/tags" Target="../tags/tag91.xml"/><Relationship Id="rId44" Type="http://schemas.openxmlformats.org/officeDocument/2006/relationships/tags" Target="../tags/tag16.xml"/><Relationship Id="rId60" Type="http://schemas.openxmlformats.org/officeDocument/2006/relationships/tags" Target="../tags/tag32.xml"/><Relationship Id="rId65" Type="http://schemas.openxmlformats.org/officeDocument/2006/relationships/tags" Target="../tags/tag37.xml"/><Relationship Id="rId81" Type="http://schemas.openxmlformats.org/officeDocument/2006/relationships/tags" Target="../tags/tag53.xml"/><Relationship Id="rId86" Type="http://schemas.openxmlformats.org/officeDocument/2006/relationships/tags" Target="../tags/tag58.xml"/><Relationship Id="rId130" Type="http://schemas.openxmlformats.org/officeDocument/2006/relationships/tags" Target="../tags/tag102.xml"/><Relationship Id="rId135" Type="http://schemas.openxmlformats.org/officeDocument/2006/relationships/tags" Target="../tags/tag107.xml"/><Relationship Id="rId151" Type="http://schemas.openxmlformats.org/officeDocument/2006/relationships/tags" Target="../tags/tag123.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11.xml"/><Relationship Id="rId109" Type="http://schemas.openxmlformats.org/officeDocument/2006/relationships/tags" Target="../tags/tag81.xml"/><Relationship Id="rId34" Type="http://schemas.openxmlformats.org/officeDocument/2006/relationships/tags" Target="../tags/tag6.xml"/><Relationship Id="rId50" Type="http://schemas.openxmlformats.org/officeDocument/2006/relationships/tags" Target="../tags/tag22.xml"/><Relationship Id="rId55" Type="http://schemas.openxmlformats.org/officeDocument/2006/relationships/tags" Target="../tags/tag27.xml"/><Relationship Id="rId76" Type="http://schemas.openxmlformats.org/officeDocument/2006/relationships/tags" Target="../tags/tag48.xml"/><Relationship Id="rId97" Type="http://schemas.openxmlformats.org/officeDocument/2006/relationships/tags" Target="../tags/tag69.xml"/><Relationship Id="rId104" Type="http://schemas.openxmlformats.org/officeDocument/2006/relationships/tags" Target="../tags/tag76.xml"/><Relationship Id="rId120" Type="http://schemas.openxmlformats.org/officeDocument/2006/relationships/tags" Target="../tags/tag92.xml"/><Relationship Id="rId125" Type="http://schemas.openxmlformats.org/officeDocument/2006/relationships/tags" Target="../tags/tag97.xml"/><Relationship Id="rId141" Type="http://schemas.openxmlformats.org/officeDocument/2006/relationships/tags" Target="../tags/tag113.xml"/><Relationship Id="rId146" Type="http://schemas.openxmlformats.org/officeDocument/2006/relationships/tags" Target="../tags/tag118.xml"/><Relationship Id="rId7" Type="http://schemas.openxmlformats.org/officeDocument/2006/relationships/slideLayout" Target="../slideLayouts/slideLayout7.xml"/><Relationship Id="rId71" Type="http://schemas.openxmlformats.org/officeDocument/2006/relationships/tags" Target="../tags/tag43.xml"/><Relationship Id="rId92" Type="http://schemas.openxmlformats.org/officeDocument/2006/relationships/tags" Target="../tags/tag64.xml"/><Relationship Id="rId2" Type="http://schemas.openxmlformats.org/officeDocument/2006/relationships/slideLayout" Target="../slideLayouts/slideLayout2.xml"/><Relationship Id="rId29" Type="http://schemas.openxmlformats.org/officeDocument/2006/relationships/theme" Target="../theme/theme1.xml"/><Relationship Id="rId24" Type="http://schemas.openxmlformats.org/officeDocument/2006/relationships/slideLayout" Target="../slideLayouts/slideLayout24.xml"/><Relationship Id="rId40" Type="http://schemas.openxmlformats.org/officeDocument/2006/relationships/tags" Target="../tags/tag12.xml"/><Relationship Id="rId45" Type="http://schemas.openxmlformats.org/officeDocument/2006/relationships/tags" Target="../tags/tag17.xml"/><Relationship Id="rId66" Type="http://schemas.openxmlformats.org/officeDocument/2006/relationships/tags" Target="../tags/tag38.xml"/><Relationship Id="rId87" Type="http://schemas.openxmlformats.org/officeDocument/2006/relationships/tags" Target="../tags/tag59.xml"/><Relationship Id="rId110" Type="http://schemas.openxmlformats.org/officeDocument/2006/relationships/tags" Target="../tags/tag82.xml"/><Relationship Id="rId115" Type="http://schemas.openxmlformats.org/officeDocument/2006/relationships/tags" Target="../tags/tag87.xml"/><Relationship Id="rId131" Type="http://schemas.openxmlformats.org/officeDocument/2006/relationships/tags" Target="../tags/tag103.xml"/><Relationship Id="rId136" Type="http://schemas.openxmlformats.org/officeDocument/2006/relationships/tags" Target="../tags/tag108.xml"/><Relationship Id="rId61" Type="http://schemas.openxmlformats.org/officeDocument/2006/relationships/tags" Target="../tags/tag33.xml"/><Relationship Id="rId82" Type="http://schemas.openxmlformats.org/officeDocument/2006/relationships/tags" Target="../tags/tag54.xml"/><Relationship Id="rId152" Type="http://schemas.openxmlformats.org/officeDocument/2006/relationships/tags" Target="../tags/tag124.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tags" Target="../tags/tag2.xml"/><Relationship Id="rId35" Type="http://schemas.openxmlformats.org/officeDocument/2006/relationships/tags" Target="../tags/tag7.xml"/><Relationship Id="rId56" Type="http://schemas.openxmlformats.org/officeDocument/2006/relationships/tags" Target="../tags/tag28.xml"/><Relationship Id="rId77" Type="http://schemas.openxmlformats.org/officeDocument/2006/relationships/tags" Target="../tags/tag49.xml"/><Relationship Id="rId100" Type="http://schemas.openxmlformats.org/officeDocument/2006/relationships/tags" Target="../tags/tag72.xml"/><Relationship Id="rId105" Type="http://schemas.openxmlformats.org/officeDocument/2006/relationships/tags" Target="../tags/tag77.xml"/><Relationship Id="rId126" Type="http://schemas.openxmlformats.org/officeDocument/2006/relationships/tags" Target="../tags/tag98.xml"/><Relationship Id="rId147" Type="http://schemas.openxmlformats.org/officeDocument/2006/relationships/tags" Target="../tags/tag119.xml"/><Relationship Id="rId8" Type="http://schemas.openxmlformats.org/officeDocument/2006/relationships/slideLayout" Target="../slideLayouts/slideLayout8.xml"/><Relationship Id="rId51" Type="http://schemas.openxmlformats.org/officeDocument/2006/relationships/tags" Target="../tags/tag23.xml"/><Relationship Id="rId72" Type="http://schemas.openxmlformats.org/officeDocument/2006/relationships/tags" Target="../tags/tag44.xml"/><Relationship Id="rId93" Type="http://schemas.openxmlformats.org/officeDocument/2006/relationships/tags" Target="../tags/tag65.xml"/><Relationship Id="rId98" Type="http://schemas.openxmlformats.org/officeDocument/2006/relationships/tags" Target="../tags/tag70.xml"/><Relationship Id="rId121" Type="http://schemas.openxmlformats.org/officeDocument/2006/relationships/tags" Target="../tags/tag93.xml"/><Relationship Id="rId142" Type="http://schemas.openxmlformats.org/officeDocument/2006/relationships/tags" Target="../tags/tag114.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tags" Target="../tags/tag18.xml"/><Relationship Id="rId67" Type="http://schemas.openxmlformats.org/officeDocument/2006/relationships/tags" Target="../tags/tag39.xml"/><Relationship Id="rId116" Type="http://schemas.openxmlformats.org/officeDocument/2006/relationships/tags" Target="../tags/tag88.xml"/><Relationship Id="rId137" Type="http://schemas.openxmlformats.org/officeDocument/2006/relationships/tags" Target="../tags/tag109.xml"/><Relationship Id="rId20" Type="http://schemas.openxmlformats.org/officeDocument/2006/relationships/slideLayout" Target="../slideLayouts/slideLayout20.xml"/><Relationship Id="rId41" Type="http://schemas.openxmlformats.org/officeDocument/2006/relationships/tags" Target="../tags/tag13.xml"/><Relationship Id="rId62" Type="http://schemas.openxmlformats.org/officeDocument/2006/relationships/tags" Target="../tags/tag34.xml"/><Relationship Id="rId83" Type="http://schemas.openxmlformats.org/officeDocument/2006/relationships/tags" Target="../tags/tag55.xml"/><Relationship Id="rId88" Type="http://schemas.openxmlformats.org/officeDocument/2006/relationships/tags" Target="../tags/tag60.xml"/><Relationship Id="rId111" Type="http://schemas.openxmlformats.org/officeDocument/2006/relationships/tags" Target="../tags/tag83.xml"/><Relationship Id="rId132" Type="http://schemas.openxmlformats.org/officeDocument/2006/relationships/tags" Target="../tags/tag104.xml"/><Relationship Id="rId15" Type="http://schemas.openxmlformats.org/officeDocument/2006/relationships/slideLayout" Target="../slideLayouts/slideLayout15.xml"/><Relationship Id="rId36" Type="http://schemas.openxmlformats.org/officeDocument/2006/relationships/tags" Target="../tags/tag8.xml"/><Relationship Id="rId57" Type="http://schemas.openxmlformats.org/officeDocument/2006/relationships/tags" Target="../tags/tag29.xml"/><Relationship Id="rId106" Type="http://schemas.openxmlformats.org/officeDocument/2006/relationships/tags" Target="../tags/tag78.xml"/><Relationship Id="rId127" Type="http://schemas.openxmlformats.org/officeDocument/2006/relationships/tags" Target="../tags/tag99.xml"/><Relationship Id="rId10" Type="http://schemas.openxmlformats.org/officeDocument/2006/relationships/slideLayout" Target="../slideLayouts/slideLayout10.xml"/><Relationship Id="rId31" Type="http://schemas.openxmlformats.org/officeDocument/2006/relationships/tags" Target="../tags/tag3.xml"/><Relationship Id="rId52" Type="http://schemas.openxmlformats.org/officeDocument/2006/relationships/tags" Target="../tags/tag24.xml"/><Relationship Id="rId73" Type="http://schemas.openxmlformats.org/officeDocument/2006/relationships/tags" Target="../tags/tag45.xml"/><Relationship Id="rId78" Type="http://schemas.openxmlformats.org/officeDocument/2006/relationships/tags" Target="../tags/tag50.xml"/><Relationship Id="rId94" Type="http://schemas.openxmlformats.org/officeDocument/2006/relationships/tags" Target="../tags/tag66.xml"/><Relationship Id="rId99" Type="http://schemas.openxmlformats.org/officeDocument/2006/relationships/tags" Target="../tags/tag71.xml"/><Relationship Id="rId101" Type="http://schemas.openxmlformats.org/officeDocument/2006/relationships/tags" Target="../tags/tag73.xml"/><Relationship Id="rId122" Type="http://schemas.openxmlformats.org/officeDocument/2006/relationships/tags" Target="../tags/tag94.xml"/><Relationship Id="rId143" Type="http://schemas.openxmlformats.org/officeDocument/2006/relationships/tags" Target="../tags/tag115.xml"/><Relationship Id="rId148" Type="http://schemas.openxmlformats.org/officeDocument/2006/relationships/tags" Target="../tags/tag120.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tags" Target="../tags/tag19.xml"/><Relationship Id="rId68" Type="http://schemas.openxmlformats.org/officeDocument/2006/relationships/tags" Target="../tags/tag40.xml"/><Relationship Id="rId89" Type="http://schemas.openxmlformats.org/officeDocument/2006/relationships/tags" Target="../tags/tag61.xml"/><Relationship Id="rId112" Type="http://schemas.openxmlformats.org/officeDocument/2006/relationships/tags" Target="../tags/tag84.xml"/><Relationship Id="rId133" Type="http://schemas.openxmlformats.org/officeDocument/2006/relationships/tags" Target="../tags/tag105.xml"/><Relationship Id="rId16" Type="http://schemas.openxmlformats.org/officeDocument/2006/relationships/slideLayout" Target="../slideLayouts/slideLayout16.xml"/><Relationship Id="rId37" Type="http://schemas.openxmlformats.org/officeDocument/2006/relationships/tags" Target="../tags/tag9.xml"/><Relationship Id="rId58" Type="http://schemas.openxmlformats.org/officeDocument/2006/relationships/tags" Target="../tags/tag30.xml"/><Relationship Id="rId79" Type="http://schemas.openxmlformats.org/officeDocument/2006/relationships/tags" Target="../tags/tag51.xml"/><Relationship Id="rId102" Type="http://schemas.openxmlformats.org/officeDocument/2006/relationships/tags" Target="../tags/tag74.xml"/><Relationship Id="rId123" Type="http://schemas.openxmlformats.org/officeDocument/2006/relationships/tags" Target="../tags/tag95.xml"/><Relationship Id="rId144" Type="http://schemas.openxmlformats.org/officeDocument/2006/relationships/tags" Target="../tags/tag116.xml"/><Relationship Id="rId90" Type="http://schemas.openxmlformats.org/officeDocument/2006/relationships/tags" Target="../tags/tag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‹Nr.›</a:t>
            </a:fld>
            <a:endParaRPr lang="en-US" sz="900" b="0" i="0" noProof="0" dirty="0">
              <a:latin typeface="+mn-lt"/>
            </a:endParaRPr>
          </a:p>
        </p:txBody>
      </p:sp>
      <p:sp>
        <p:nvSpPr>
          <p:cNvPr id="3" name="Text Placeholder"/>
          <p:cNvSpPr>
            <a:spLocks noGrp="1"/>
          </p:cNvSpPr>
          <p:nvPr userDrawn="1">
            <p:ph type="body" idx="1"/>
          </p:nvPr>
        </p:nvSpPr>
        <p:spPr bwMode="black">
          <a:xfrm>
            <a:off x="504001" y="1548560"/>
            <a:ext cx="11186476" cy="4788000"/>
          </a:xfrm>
          <a:prstGeom prst="rect">
            <a:avLst/>
          </a:prstGeom>
        </p:spPr>
        <p:txBody>
          <a:bodyPr vert="horz" lIns="0" tIns="0" rIns="0" bIns="0" rtlCol="0">
            <a:noAutofit/>
          </a:bodyPr>
          <a:lstStyle/>
          <a:p>
            <a:pPr lvl="0"/>
            <a:r>
              <a:rPr lang="en-GB"/>
              <a:t>Start typing to add text without a bullet point. To add a bullet point, place the cursor at the start of this line and press tab.</a:t>
            </a:r>
            <a:endParaRPr lang="en-US" noProof="0"/>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4001" y="504000"/>
            <a:ext cx="11186476"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30"/>
            </p:custDataLst>
          </p:nvPr>
        </p:nvGrpSpPr>
        <p:grpSpPr>
          <a:xfrm>
            <a:off x="3938798" y="3978000"/>
            <a:ext cx="1024878"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49"/>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50"/>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51"/>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31"/>
            </p:custDataLst>
          </p:nvPr>
        </p:nvGrpSpPr>
        <p:grpSpPr>
          <a:xfrm>
            <a:off x="5391506" y="3978000"/>
            <a:ext cx="1024878"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44"/>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45"/>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46"/>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47"/>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48"/>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32"/>
            </p:custDataLst>
          </p:nvPr>
        </p:nvGrpSpPr>
        <p:grpSpPr>
          <a:xfrm>
            <a:off x="6844214" y="3978000"/>
            <a:ext cx="1024878"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3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36"/>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37"/>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38"/>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39"/>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40"/>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41"/>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42"/>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43"/>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dirty="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33"/>
            </p:custDataLst>
          </p:nvPr>
        </p:nvGrpSpPr>
        <p:grpSpPr>
          <a:xfrm>
            <a:off x="8296922" y="3978000"/>
            <a:ext cx="1024878"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34"/>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35"/>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36"/>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37"/>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38"/>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39"/>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40"/>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41"/>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42"/>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43"/>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44"/>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45"/>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46"/>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47"/>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48"/>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49"/>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50"/>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b="0" i="0" dirty="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b="0" i="0" dirty="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dirty="0">
                <a:latin typeface="72 Brand" panose="020B0504030603020204" pitchFamily="34" charset="0"/>
                <a:ea typeface="72 Brand" pitchFamily="34" charset="-128"/>
                <a:cs typeface="72 Brand" pitchFamily="34" charset="-128"/>
              </a:rPr>
              <a:t>(r) Footnote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72 Brand" panose="020B0504030603020204" pitchFamily="34" charset="0"/>
                <a:ea typeface="72 Brand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72 Brand" panose="020B0504030603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72 Brand" panose="020B0504030603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72 Brand" panose="020B0504030603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71105" y="896921"/>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72 Brand" panose="020B0504030603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71105" y="896920"/>
            <a:ext cx="2124070" cy="295649"/>
          </a:xfrm>
          <a:prstGeom prst="rect">
            <a:avLst/>
          </a:prstGeom>
          <a:solidFill>
            <a:schemeClr val="accent6">
              <a:lumMod val="60000"/>
              <a:lumOff val="40000"/>
            </a:schemeClr>
          </a:solidFill>
          <a:ln w="19050" cap="flat" cmpd="sng" algn="ctr">
            <a:noFill/>
            <a:prstDash val="solid"/>
          </a:ln>
          <a:effectLst/>
        </p:spPr>
        <p:txBody>
          <a:bodyPr lIns="322318" tIns="46556" rIns="89533" bIns="46556"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72 Brand" panose="020B0504030603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3344" y="1097679"/>
            <a:ext cx="2479101" cy="1277432"/>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dirty="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dirty="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dirty="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dirty="0">
                <a:ln>
                  <a:noFill/>
                </a:ln>
                <a:solidFill>
                  <a:srgbClr val="0A0A0A"/>
                </a:solidFill>
                <a:effectLst/>
                <a:uLnTx/>
                <a:uFillTx/>
                <a:latin typeface="72 Brand" panose="020B0504030603020204" pitchFamily="34" charset="0"/>
              </a:rPr>
              <a:t>&lt;/date&gt;: </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dirty="0">
              <a:ln>
                <a:noFill/>
              </a:ln>
              <a:solidFill>
                <a:srgbClr val="0A0A0A"/>
              </a:solidFill>
              <a:effectLst/>
              <a:uLnTx/>
              <a:uFillTx/>
              <a:latin typeface="72 Brand" panose="020B0504030603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3344" y="1097671"/>
            <a:ext cx="2479101" cy="1277440"/>
          </a:xfrm>
          <a:prstGeom prst="wedgeRectCallout">
            <a:avLst/>
          </a:prstGeom>
          <a:solidFill>
            <a:srgbClr val="FFFF00"/>
          </a:solidFill>
          <a:ln w="12700" cap="flat" cmpd="sng" algn="ctr">
            <a:solidFill>
              <a:srgbClr val="000000"/>
            </a:solidFill>
            <a:prstDash val="solid"/>
            <a:miter lim="800000"/>
          </a:ln>
          <a:effectLst/>
        </p:spPr>
        <p:txBody>
          <a:bodyPr lIns="143252" tIns="143252" rIns="143252" bIns="143252"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12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12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6643" y="2819462"/>
            <a:ext cx="6361889"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8800" b="0" i="0" u="none" strike="noStrike" kern="0" cap="none" spc="0" normalizeH="0" baseline="0" noProof="0">
                <a:ln>
                  <a:noFill/>
                </a:ln>
                <a:solidFill>
                  <a:schemeClr val="tx2"/>
                </a:solidFill>
                <a:effectLst/>
                <a:uLnTx/>
                <a:uFillTx/>
                <a:latin typeface="72 Brand" panose="020B0504030603020204" pitchFamily="34" charset="0"/>
                <a:ea typeface="72 Brand" pitchFamily="34" charset="-128"/>
                <a:cs typeface="72 Brand" pitchFamily="34" charset="-128"/>
              </a:rPr>
              <a:t>DRAFT</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80" r:id="rId1"/>
    <p:sldLayoutId id="2147483861" r:id="rId2"/>
    <p:sldLayoutId id="2147483862" r:id="rId3"/>
    <p:sldLayoutId id="2147483819" r:id="rId4"/>
    <p:sldLayoutId id="2147483741" r:id="rId5"/>
    <p:sldLayoutId id="2147483765" r:id="rId6"/>
    <p:sldLayoutId id="2147483800" r:id="rId7"/>
    <p:sldLayoutId id="2147483744" r:id="rId8"/>
    <p:sldLayoutId id="2147483860" r:id="rId9"/>
    <p:sldLayoutId id="2147483864" r:id="rId10"/>
    <p:sldLayoutId id="2147483865" r:id="rId11"/>
    <p:sldLayoutId id="2147483743" r:id="rId12"/>
    <p:sldLayoutId id="2147483774" r:id="rId13"/>
    <p:sldLayoutId id="2147483863" r:id="rId14"/>
    <p:sldLayoutId id="2147483745" r:id="rId15"/>
    <p:sldLayoutId id="2147483760" r:id="rId16"/>
    <p:sldLayoutId id="2147483768" r:id="rId17"/>
    <p:sldLayoutId id="2147483769" r:id="rId18"/>
    <p:sldLayoutId id="2147483770" r:id="rId19"/>
    <p:sldLayoutId id="2147483757" r:id="rId20"/>
    <p:sldLayoutId id="2147483771" r:id="rId21"/>
    <p:sldLayoutId id="2147483763" r:id="rId22"/>
    <p:sldLayoutId id="2147483751" r:id="rId23"/>
    <p:sldLayoutId id="2147483824" r:id="rId24"/>
    <p:sldLayoutId id="2147483802" r:id="rId25"/>
    <p:sldLayoutId id="2147483867" r:id="rId26"/>
    <p:sldLayoutId id="2147483868" r:id="rId27"/>
    <p:sldLayoutId id="2147483869" r:id="rId28"/>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1800"/>
        </a:spcBef>
        <a:buClrTx/>
        <a:buSzPct val="80000"/>
        <a:buFont typeface="72 Brand" panose="02000000000000000000" pitchFamily="2" charset="0"/>
        <a:buChar char="​"/>
        <a:defRPr sz="2000" b="0" i="0" kern="1200">
          <a:solidFill>
            <a:schemeClr val="tx1"/>
          </a:solidFill>
          <a:latin typeface="+mn-lt"/>
          <a:ea typeface="+mn-ea"/>
          <a:cs typeface="+mn-cs"/>
        </a:defRPr>
      </a:lvl1pPr>
      <a:lvl2pPr marL="179964" indent="-179964" algn="l" defTabSz="1088558" rtl="0" eaLnBrk="1" latinLnBrk="0" hangingPunct="1">
        <a:spcBef>
          <a:spcPts val="600"/>
        </a:spcBef>
        <a:buClr>
          <a:schemeClr val="tx1"/>
        </a:buClr>
        <a:buSzPct val="100000"/>
        <a:buFont typeface="Arial" panose="020B0604020202020204" pitchFamily="34" charset="0"/>
        <a:buChar char="•"/>
        <a:defRPr sz="1800" b="0" i="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b="0" i="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mn-lt"/>
          <a:ea typeface="+mn-ea"/>
          <a:cs typeface="+mn-cs"/>
        </a:defRPr>
      </a:lvl4pPr>
      <a:lvl5pPr marL="719856" indent="-179964" algn="l" defTabSz="1088558"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973" userDrawn="1">
          <p15:clr>
            <a:srgbClr val="F26B43"/>
          </p15:clr>
        </p15:guide>
        <p15:guide id="3" orient="horz" pos="317" userDrawn="1">
          <p15:clr>
            <a:srgbClr val="F26B43"/>
          </p15:clr>
        </p15:guide>
        <p15:guide id="4" pos="317" userDrawn="1">
          <p15:clr>
            <a:srgbClr val="F26B43"/>
          </p15:clr>
        </p15:guide>
        <p15:guide id="5" pos="7373" userDrawn="1">
          <p15:clr>
            <a:srgbClr val="F26B43"/>
          </p15:clr>
        </p15:guide>
        <p15:guide id="6" orient="horz" pos="39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customXml" Target="../../customXml/item11.xml"/><Relationship Id="rId1" Type="http://schemas.openxmlformats.org/officeDocument/2006/relationships/customXml" Target="../../customXml/item6.xml"/><Relationship Id="rId6" Type="http://schemas.openxmlformats.org/officeDocument/2006/relationships/image" Target="../media/image18.png"/><Relationship Id="rId5" Type="http://schemas.openxmlformats.org/officeDocument/2006/relationships/image" Target="../media/image17.jp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tags" Target="../tags/tag125.xml"/><Relationship Id="rId5" Type="http://schemas.openxmlformats.org/officeDocument/2006/relationships/image" Target="../media/image19.e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hyperlink" Target="https://api.sap.com/" TargetMode="External"/><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hyperlink" Target="https://www.sap.com/products/technology-platform/build.html" TargetMode="External"/><Relationship Id="rId4" Type="http://schemas.openxmlformats.org/officeDocument/2006/relationships/hyperlink" Target="https://sap.github.io/abap-atc-cr-cv-s4hc/?version=objectClassifications.json"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26.xml"/><Relationship Id="rId6" Type="http://schemas.openxmlformats.org/officeDocument/2006/relationships/image" Target="../media/image22.png"/><Relationship Id="rId5" Type="http://schemas.openxmlformats.org/officeDocument/2006/relationships/hyperlink" Target="https://help.sap.com/docs/sap-btp-guidance-framework/sap-application-extension-methodology/sap-application-extension-methodology-overview" TargetMode="Externa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hyperlink" Target="https://me.sap.com/notes/3578329" TargetMode="External"/><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linkedin.com/in/marcomatha/" TargetMode="External"/><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svg"/><Relationship Id="rId7" Type="http://schemas.openxmlformats.org/officeDocument/2006/relationships/image" Target="../media/image30.svg"/><Relationship Id="rId12" Type="http://schemas.openxmlformats.org/officeDocument/2006/relationships/image" Target="../media/image35.svg"/><Relationship Id="rId2" Type="http://schemas.openxmlformats.org/officeDocument/2006/relationships/image" Target="../media/image25.png"/><Relationship Id="rId16" Type="http://schemas.openxmlformats.org/officeDocument/2006/relationships/image" Target="../media/image39.svg"/><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svg"/><Relationship Id="rId15" Type="http://schemas.openxmlformats.org/officeDocument/2006/relationships/image" Target="../media/image3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svg"/><Relationship Id="rId14" Type="http://schemas.openxmlformats.org/officeDocument/2006/relationships/image" Target="../media/image37.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api.sap.com/api/API_PRODUCT_SRV/overview" TargetMode="External"/><Relationship Id="rId2" Type="http://schemas.openxmlformats.org/officeDocument/2006/relationships/notesSlide" Target="../notesSlides/notesSlide13.xml"/><Relationship Id="rId1" Type="http://schemas.openxmlformats.org/officeDocument/2006/relationships/slideLayout" Target="../slideLayouts/slideLayout26.xml"/><Relationship Id="rId4" Type="http://schemas.openxmlformats.org/officeDocument/2006/relationships/image" Target="../media/image4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hyperlink" Target="https://api.sap.com/api/CE_SALESORDER_0001/overview" TargetMode="External"/><Relationship Id="rId2" Type="http://schemas.openxmlformats.org/officeDocument/2006/relationships/notesSlide" Target="../notesSlides/notesSlide16.xml"/><Relationship Id="rId1" Type="http://schemas.openxmlformats.org/officeDocument/2006/relationships/slideLayout" Target="../slideLayouts/slideLayout26.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6.svg"/><Relationship Id="rId7" Type="http://schemas.openxmlformats.org/officeDocument/2006/relationships/image" Target="../media/image30.svg"/><Relationship Id="rId12" Type="http://schemas.openxmlformats.org/officeDocument/2006/relationships/image" Target="../media/image32.svg"/><Relationship Id="rId17" Type="http://schemas.openxmlformats.org/officeDocument/2006/relationships/image" Target="../media/image37.svg"/><Relationship Id="rId2" Type="http://schemas.openxmlformats.org/officeDocument/2006/relationships/image" Target="../media/image25.png"/><Relationship Id="rId16"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31.png"/><Relationship Id="rId5" Type="http://schemas.openxmlformats.org/officeDocument/2006/relationships/image" Target="../media/image28.svg"/><Relationship Id="rId15" Type="http://schemas.openxmlformats.org/officeDocument/2006/relationships/image" Target="../media/image35.svg"/><Relationship Id="rId10" Type="http://schemas.openxmlformats.org/officeDocument/2006/relationships/image" Target="../media/image44.png"/><Relationship Id="rId19" Type="http://schemas.openxmlformats.org/officeDocument/2006/relationships/image" Target="../media/image39.svg"/><Relationship Id="rId4" Type="http://schemas.openxmlformats.org/officeDocument/2006/relationships/image" Target="../media/image27.png"/><Relationship Id="rId9" Type="http://schemas.openxmlformats.org/officeDocument/2006/relationships/image" Target="../media/image43.png"/><Relationship Id="rId1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835580-24E3-5075-99E6-64142035AA39}"/>
              </a:ext>
            </a:extLst>
          </p:cNvPr>
          <p:cNvSpPr>
            <a:spLocks noGrp="1"/>
          </p:cNvSpPr>
          <p:nvPr>
            <p:ph type="title"/>
          </p:nvPr>
        </p:nvSpPr>
        <p:spPr/>
        <p:txBody>
          <a:bodyPr/>
          <a:lstStyle/>
          <a:p>
            <a:r>
              <a:rPr lang="en-US" b="1" dirty="0"/>
              <a:t>XP262 </a:t>
            </a:r>
            <a:r>
              <a:rPr lang="en-US" dirty="0"/>
              <a:t> | </a:t>
            </a:r>
            <a:br>
              <a:rPr lang="en-US" dirty="0"/>
            </a:br>
            <a:r>
              <a:rPr lang="en-US" b="1" dirty="0"/>
              <a:t>Best practices for a successful clean core journey with</a:t>
            </a:r>
            <a:br>
              <a:rPr lang="en-US" b="1" dirty="0"/>
            </a:br>
            <a:r>
              <a:rPr lang="en-US" b="1" dirty="0"/>
              <a:t>SAP Build solutions</a:t>
            </a:r>
            <a:endParaRPr lang="de-DE" dirty="0"/>
          </a:p>
        </p:txBody>
      </p:sp>
      <p:sp>
        <p:nvSpPr>
          <p:cNvPr id="3" name="Textplatzhalter 2">
            <a:extLst>
              <a:ext uri="{FF2B5EF4-FFF2-40B4-BE49-F238E27FC236}">
                <a16:creationId xmlns:a16="http://schemas.microsoft.com/office/drawing/2014/main" id="{BB2F0D3F-582A-6500-4836-99E448836160}"/>
              </a:ext>
            </a:extLst>
          </p:cNvPr>
          <p:cNvSpPr>
            <a:spLocks noGrp="1"/>
          </p:cNvSpPr>
          <p:nvPr>
            <p:ph type="body" sz="quarter" idx="23"/>
          </p:nvPr>
        </p:nvSpPr>
        <p:spPr/>
        <p:txBody>
          <a:bodyPr>
            <a:normAutofit fontScale="77500" lnSpcReduction="20000"/>
          </a:bodyPr>
          <a:lstStyle/>
          <a:p>
            <a:r>
              <a:rPr lang="de-DE" dirty="0"/>
              <a:t>Marco Matha</a:t>
            </a:r>
          </a:p>
          <a:p>
            <a:endParaRPr lang="de-DE" dirty="0"/>
          </a:p>
          <a:p>
            <a:r>
              <a:rPr lang="de-DE" dirty="0"/>
              <a:t>Katrin von Ahsen, Marc Huber, Niklas Siemer</a:t>
            </a:r>
            <a:endParaRPr lang="de-DE" dirty="0">
              <a:ea typeface="72 Brand"/>
            </a:endParaRPr>
          </a:p>
        </p:txBody>
      </p:sp>
      <p:sp>
        <p:nvSpPr>
          <p:cNvPr id="4" name="Textplatzhalter 3">
            <a:extLst>
              <a:ext uri="{FF2B5EF4-FFF2-40B4-BE49-F238E27FC236}">
                <a16:creationId xmlns:a16="http://schemas.microsoft.com/office/drawing/2014/main" id="{68FBC666-28A0-B37D-A748-E3973951B0EC}"/>
              </a:ext>
            </a:extLst>
          </p:cNvPr>
          <p:cNvSpPr>
            <a:spLocks noGrp="1"/>
          </p:cNvSpPr>
          <p:nvPr>
            <p:ph type="body" sz="quarter" idx="25"/>
          </p:nvPr>
        </p:nvSpPr>
        <p:spPr/>
        <p:txBody>
          <a:bodyPr/>
          <a:lstStyle/>
          <a:p>
            <a:r>
              <a:rPr lang="de-DE"/>
              <a:t>November 2025</a:t>
            </a:r>
          </a:p>
        </p:txBody>
      </p:sp>
    </p:spTree>
    <p:extLst>
      <p:ext uri="{BB962C8B-B14F-4D97-AF65-F5344CB8AC3E}">
        <p14:creationId xmlns:p14="http://schemas.microsoft.com/office/powerpoint/2010/main" val="35598020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Bildplatzhalter 6">
            <a:extLst>
              <a:ext uri="{FF2B5EF4-FFF2-40B4-BE49-F238E27FC236}">
                <a16:creationId xmlns:a16="http://schemas.microsoft.com/office/drawing/2014/main" id="{0367C36E-CF08-8171-4E41-AF488350814C}"/>
              </a:ext>
            </a:extLst>
          </p:cNvPr>
          <p:cNvPicPr>
            <a:picLocks noGrp="1" noChangeAspect="1"/>
          </p:cNvPicPr>
          <p:nvPr>
            <p:ph type="pic" sz="quarter" idx="10"/>
          </p:nvPr>
        </p:nvPicPr>
        <p:blipFill>
          <a:blip r:embed="rId5"/>
          <a:srcRect l="21895" r="35004" b="8131"/>
          <a:stretch>
            <a:fillRect/>
          </a:stretch>
        </p:blipFill>
        <p:spPr>
          <a:xfrm>
            <a:off x="7364186" y="0"/>
            <a:ext cx="4830989" cy="6858000"/>
          </a:xfrm>
        </p:spPr>
      </p:pic>
      <p:sp>
        <p:nvSpPr>
          <p:cNvPr id="2" name="Agenda"/>
          <p:cNvSpPr>
            <a:spLocks noGrp="1"/>
          </p:cNvSpPr>
          <p:nvPr>
            <p:ph type="title"/>
          </p:nvPr>
        </p:nvSpPr>
        <p:spPr bwMode="gray"/>
        <p:txBody>
          <a:bodyPr/>
          <a:lstStyle/>
          <a:p>
            <a:r>
              <a:rPr lang="en-US"/>
              <a:t>Agenda</a:t>
            </a:r>
          </a:p>
        </p:txBody>
      </p:sp>
      <p:sp>
        <p:nvSpPr>
          <p:cNvPr id="3" name="Agenda items"/>
          <p:cNvSpPr>
            <a:spLocks noGrp="1"/>
          </p:cNvSpPr>
          <p:nvPr>
            <p:ph type="body" sz="quarter" idx="11"/>
          </p:nvPr>
        </p:nvSpPr>
        <p:spPr bwMode="gray">
          <a:xfrm>
            <a:off x="504000" y="1058333"/>
            <a:ext cx="6212683" cy="5277567"/>
          </a:xfrm>
        </p:spPr>
        <p:txBody>
          <a:bodyPr>
            <a:noAutofit/>
          </a:bodyPr>
          <a:lstStyle/>
          <a:p>
            <a:pPr marL="0" lvl="1" indent="0">
              <a:buNone/>
            </a:pPr>
            <a:r>
              <a:rPr lang="en-US" sz="2000" dirty="0"/>
              <a:t>Introduction</a:t>
            </a:r>
          </a:p>
          <a:p>
            <a:pPr lvl="1"/>
            <a:r>
              <a:rPr lang="en-US" dirty="0"/>
              <a:t>Clean Core </a:t>
            </a:r>
          </a:p>
          <a:p>
            <a:pPr lvl="1"/>
            <a:r>
              <a:rPr lang="en-US" dirty="0"/>
              <a:t>SAP Application Extension Methodology</a:t>
            </a:r>
          </a:p>
          <a:p>
            <a:r>
              <a:rPr lang="en-US" dirty="0"/>
              <a:t>Exercise 1 – SAP Application Extension Methodology</a:t>
            </a:r>
          </a:p>
          <a:p>
            <a:pPr lvl="1"/>
            <a:r>
              <a:rPr lang="en-US" dirty="0"/>
              <a:t>Start at 10:40 AM CET</a:t>
            </a:r>
          </a:p>
          <a:p>
            <a:pPr lvl="1"/>
            <a:r>
              <a:rPr lang="en-US" dirty="0"/>
              <a:t>50 minutes</a:t>
            </a:r>
          </a:p>
          <a:p>
            <a:r>
              <a:rPr lang="en-US" dirty="0"/>
              <a:t>Exercise 2 – SAP Build Process Automation</a:t>
            </a:r>
          </a:p>
          <a:p>
            <a:pPr lvl="1"/>
            <a:r>
              <a:rPr lang="en-US" dirty="0"/>
              <a:t>Start at 11:30 AM CET</a:t>
            </a:r>
          </a:p>
          <a:p>
            <a:pPr lvl="1"/>
            <a:r>
              <a:rPr lang="en-US" dirty="0"/>
              <a:t>30 minutes</a:t>
            </a:r>
          </a:p>
          <a:p>
            <a:r>
              <a:rPr lang="en-US" dirty="0"/>
              <a:t>Exercise 3 – SAP Build Apps</a:t>
            </a:r>
          </a:p>
          <a:p>
            <a:pPr lvl="1"/>
            <a:r>
              <a:rPr lang="en-US" dirty="0"/>
              <a:t>Start at 12:00 AM CET</a:t>
            </a:r>
          </a:p>
          <a:p>
            <a:pPr lvl="1"/>
            <a:r>
              <a:rPr lang="en-US" dirty="0"/>
              <a:t>30 minutes</a:t>
            </a:r>
          </a:p>
        </p:txBody>
      </p:sp>
      <p:pic>
        <p:nvPicPr>
          <p:cNvPr id="9" name="Grafik 8" descr="Ein Bild, das Screenshot, Farbigkeit, Grafiken, Kreis enthält.&#10;&#10;KI-generierte Inhalte können fehlerhaft sein.">
            <a:extLst>
              <a:ext uri="{FF2B5EF4-FFF2-40B4-BE49-F238E27FC236}">
                <a16:creationId xmlns:a16="http://schemas.microsoft.com/office/drawing/2014/main" id="{8AC5F34D-605B-D432-C560-DFC00893E5CD}"/>
              </a:ext>
            </a:extLst>
          </p:cNvPr>
          <p:cNvPicPr>
            <a:picLocks noChangeAspect="1"/>
          </p:cNvPicPr>
          <p:nvPr/>
        </p:nvPicPr>
        <p:blipFill>
          <a:blip r:embed="rId6"/>
          <a:stretch>
            <a:fillRect/>
          </a:stretch>
        </p:blipFill>
        <p:spPr>
          <a:xfrm>
            <a:off x="7364186" y="220337"/>
            <a:ext cx="2809649" cy="6436921"/>
          </a:xfrm>
          <a:prstGeom prst="rect">
            <a:avLst/>
          </a:prstGeom>
        </p:spPr>
      </p:pic>
    </p:spTree>
    <p:custDataLst>
      <p:custData r:id="rId1"/>
      <p:custData r:id="rId2"/>
    </p:custDataLst>
    <p:extLst>
      <p:ext uri="{BB962C8B-B14F-4D97-AF65-F5344CB8AC3E}">
        <p14:creationId xmlns:p14="http://schemas.microsoft.com/office/powerpoint/2010/main" val="1677995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348AAF9-0DC8-B649-BCA1-F28D886DDE06}"/>
              </a:ext>
            </a:extLst>
          </p:cNvPr>
          <p:cNvSpPr>
            <a:spLocks noGrp="1"/>
          </p:cNvSpPr>
          <p:nvPr>
            <p:ph type="ctrTitle"/>
          </p:nvPr>
        </p:nvSpPr>
        <p:spPr/>
        <p:txBody>
          <a:bodyPr/>
          <a:lstStyle/>
          <a:p>
            <a:r>
              <a:rPr lang="de-DE" dirty="0"/>
              <a:t>Clean Core</a:t>
            </a:r>
          </a:p>
        </p:txBody>
      </p:sp>
    </p:spTree>
    <p:extLst>
      <p:ext uri="{BB962C8B-B14F-4D97-AF65-F5344CB8AC3E}">
        <p14:creationId xmlns:p14="http://schemas.microsoft.com/office/powerpoint/2010/main" val="1281419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9CB348F-749E-D172-E89F-1F612EEE81D9}"/>
              </a:ext>
            </a:extLst>
          </p:cNvPr>
          <p:cNvGraphicFramePr>
            <a:graphicFrameLocks noChangeAspect="1"/>
          </p:cNvGraphicFramePr>
          <p:nvPr>
            <p:custDataLst>
              <p:tags r:id="rId1"/>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id="{A9CB348F-749E-D172-E89F-1F612EEE81D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grpSp>
        <p:nvGrpSpPr>
          <p:cNvPr id="6" name="Gruppieren 5">
            <a:extLst>
              <a:ext uri="{FF2B5EF4-FFF2-40B4-BE49-F238E27FC236}">
                <a16:creationId xmlns:a16="http://schemas.microsoft.com/office/drawing/2014/main" id="{F73D6D57-AFAF-9BF9-DEEE-566B9A9B1D5E}"/>
              </a:ext>
            </a:extLst>
          </p:cNvPr>
          <p:cNvGrpSpPr/>
          <p:nvPr/>
        </p:nvGrpSpPr>
        <p:grpSpPr>
          <a:xfrm>
            <a:off x="503846" y="1525033"/>
            <a:ext cx="5095428" cy="4411436"/>
            <a:chOff x="503846" y="1525033"/>
            <a:chExt cx="5095428" cy="4411436"/>
          </a:xfrm>
        </p:grpSpPr>
        <p:sp>
          <p:nvSpPr>
            <p:cNvPr id="61" name="Rectangle: Rounded Corners 28">
              <a:extLst>
                <a:ext uri="{FF2B5EF4-FFF2-40B4-BE49-F238E27FC236}">
                  <a16:creationId xmlns:a16="http://schemas.microsoft.com/office/drawing/2014/main" id="{21F7F341-14CC-BEEF-393E-E6124CAFED33}"/>
                </a:ext>
              </a:extLst>
            </p:cNvPr>
            <p:cNvSpPr>
              <a:spLocks/>
            </p:cNvSpPr>
            <p:nvPr/>
          </p:nvSpPr>
          <p:spPr bwMode="gray">
            <a:xfrm>
              <a:off x="503846" y="1525033"/>
              <a:ext cx="5095428" cy="4411436"/>
            </a:xfrm>
            <a:prstGeom prst="roundRect">
              <a:avLst>
                <a:gd name="adj" fmla="val 4619"/>
              </a:avLst>
            </a:prstGeom>
            <a:gradFill>
              <a:gsLst>
                <a:gs pos="100000">
                  <a:srgbClr val="D1EFFF">
                    <a:alpha val="28069"/>
                  </a:srgbClr>
                </a:gs>
                <a:gs pos="0">
                  <a:schemeClr val="bg1"/>
                </a:gs>
              </a:gsLst>
              <a:lin ang="5400000" scaled="0"/>
            </a:gradFill>
            <a:ln w="9525" algn="ctr">
              <a:solidFill>
                <a:srgbClr val="89D1FF"/>
              </a:solidFill>
              <a:miter lim="800000"/>
              <a:headEnd/>
              <a:tailEnd/>
            </a:ln>
          </p:spPr>
          <p:txBody>
            <a:bodyPr lIns="182880" tIns="146304" rIns="182880" bIns="146304" rtlCol="0" anchor="t"/>
            <a:lstStyle/>
            <a:p>
              <a:pPr defTabSz="1088014" fontAlgn="base">
                <a:lnSpc>
                  <a:spcPct val="90000"/>
                </a:lnSpc>
                <a:spcBef>
                  <a:spcPct val="50000"/>
                </a:spcBef>
                <a:spcAft>
                  <a:spcPts val="1200"/>
                </a:spcAft>
                <a:buClr>
                  <a:srgbClr val="BFBFBF"/>
                </a:buClr>
                <a:buSzPct val="80000"/>
                <a:defRPr/>
              </a:pPr>
              <a:endParaRPr lang="en-US" sz="1800">
                <a:gradFill>
                  <a:gsLst>
                    <a:gs pos="0">
                      <a:srgbClr val="000000"/>
                    </a:gs>
                    <a:gs pos="100000">
                      <a:srgbClr val="00144A"/>
                    </a:gs>
                  </a:gsLst>
                  <a:lin ang="5400000" scaled="1"/>
                </a:gradFill>
                <a:latin typeface="72 Brand Medium"/>
                <a:ea typeface="+mn-lt"/>
                <a:cs typeface="+mn-lt"/>
              </a:endParaRPr>
            </a:p>
          </p:txBody>
        </p:sp>
        <p:sp>
          <p:nvSpPr>
            <p:cNvPr id="77" name="Text Placeholder 3">
              <a:extLst>
                <a:ext uri="{FF2B5EF4-FFF2-40B4-BE49-F238E27FC236}">
                  <a16:creationId xmlns:a16="http://schemas.microsoft.com/office/drawing/2014/main" id="{1CFA2DF0-2C99-14A4-B479-F66D592BF7AD}"/>
                </a:ext>
              </a:extLst>
            </p:cNvPr>
            <p:cNvSpPr txBox="1">
              <a:spLocks/>
            </p:cNvSpPr>
            <p:nvPr/>
          </p:nvSpPr>
          <p:spPr>
            <a:xfrm>
              <a:off x="976158" y="2411883"/>
              <a:ext cx="4094502" cy="2708434"/>
            </a:xfrm>
            <a:prstGeom prst="rect">
              <a:avLst/>
            </a:prstGeom>
          </p:spPr>
          <p:txBody>
            <a:bodyPr wrap="square" lIns="0" tIns="0" rIns="0" bIns="0" anchor="ctr" anchorCtr="0">
              <a:spAutoFit/>
            </a:bodyPr>
            <a:ls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a:lstStyle>
            <a:p>
              <a:pPr fontAlgn="base">
                <a:spcAft>
                  <a:spcPct val="0"/>
                </a:spcAft>
                <a:buClr>
                  <a:srgbClr val="F0AB00"/>
                </a:buClr>
                <a:buSzPct val="80000"/>
              </a:pPr>
              <a:r>
                <a:rPr lang="en-US" sz="1600" dirty="0">
                  <a:solidFill>
                    <a:schemeClr val="tx1"/>
                  </a:solidFill>
                  <a:latin typeface="72 Brand" panose="020B0504030603020204" pitchFamily="34" charset="0"/>
                  <a:cs typeface="72" panose="020B0503030000000003" pitchFamily="34" charset="0"/>
                  <a:sym typeface="Wingdings" panose="05000000000000000000" pitchFamily="2" charset="2"/>
                </a:rPr>
                <a:t>Five </a:t>
              </a:r>
              <a:r>
                <a:rPr lang="en-US" sz="1600" b="1" dirty="0">
                  <a:solidFill>
                    <a:schemeClr val="tx1"/>
                  </a:solidFill>
                  <a:latin typeface="72 Brand" panose="020B0504030603020204" pitchFamily="34" charset="0"/>
                  <a:cs typeface="72" panose="020B0503030000000003" pitchFamily="34" charset="0"/>
                  <a:sym typeface="Wingdings" panose="05000000000000000000" pitchFamily="2" charset="2"/>
                </a:rPr>
                <a:t>clean core principles </a:t>
              </a:r>
              <a:r>
                <a:rPr lang="en-US" sz="1600" dirty="0">
                  <a:solidFill>
                    <a:schemeClr val="tx1"/>
                  </a:solidFill>
                  <a:latin typeface="72 Brand" panose="020B0504030603020204" pitchFamily="34" charset="0"/>
                  <a:cs typeface="72" panose="020B0503030000000003" pitchFamily="34" charset="0"/>
                  <a:sym typeface="Wingdings" panose="05000000000000000000" pitchFamily="2" charset="2"/>
                </a:rPr>
                <a:t>ensure that business-critical systems remain </a:t>
              </a:r>
              <a:r>
                <a:rPr lang="en-US" sz="1600" b="1" dirty="0">
                  <a:solidFill>
                    <a:schemeClr val="tx1"/>
                  </a:solidFill>
                  <a:latin typeface="72 Brand" panose="020B0504030603020204" pitchFamily="34" charset="0"/>
                  <a:cs typeface="72" panose="020B0503030000000003" pitchFamily="34" charset="0"/>
                  <a:sym typeface="Wingdings" panose="05000000000000000000" pitchFamily="2" charset="2"/>
                </a:rPr>
                <a:t>agile, cost-efficient, and ready to adopt innovations </a:t>
              </a:r>
              <a:r>
                <a:rPr lang="en-US" sz="1600" dirty="0">
                  <a:solidFill>
                    <a:schemeClr val="tx1"/>
                  </a:solidFill>
                  <a:latin typeface="72 Brand" panose="020B0504030603020204" pitchFamily="34" charset="0"/>
                  <a:cs typeface="72" panose="020B0503030000000003" pitchFamily="34" charset="0"/>
                  <a:sym typeface="Wingdings" panose="05000000000000000000" pitchFamily="2" charset="2"/>
                </a:rPr>
                <a:t>that drive growth.</a:t>
              </a:r>
            </a:p>
            <a:p>
              <a:pPr fontAlgn="base">
                <a:spcAft>
                  <a:spcPct val="0"/>
                </a:spcAft>
                <a:buClr>
                  <a:srgbClr val="F0AB00"/>
                </a:buClr>
                <a:buSzPct val="80000"/>
              </a:pPr>
              <a:endParaRPr lang="en-US" sz="1600" dirty="0">
                <a:solidFill>
                  <a:schemeClr val="tx1"/>
                </a:solidFill>
                <a:latin typeface="72 Brand" panose="020B0504030603020204" pitchFamily="34" charset="0"/>
                <a:cs typeface="72" panose="020B0503030000000003" pitchFamily="34" charset="0"/>
                <a:sym typeface="Wingdings" panose="05000000000000000000" pitchFamily="2" charset="2"/>
              </a:endParaRPr>
            </a:p>
            <a:p>
              <a:pPr fontAlgn="base">
                <a:spcAft>
                  <a:spcPct val="0"/>
                </a:spcAft>
                <a:buClr>
                  <a:srgbClr val="F0AB00"/>
                </a:buClr>
                <a:buSzPct val="80000"/>
              </a:pPr>
              <a:r>
                <a:rPr lang="en-US" sz="1600" dirty="0">
                  <a:solidFill>
                    <a:schemeClr val="tx1"/>
                  </a:solidFill>
                  <a:latin typeface="72 Brand" panose="020B0504030603020204" pitchFamily="34" charset="0"/>
                  <a:cs typeface="72" panose="020B0503030000000003" pitchFamily="34" charset="0"/>
                  <a:sym typeface="Wingdings" panose="05000000000000000000" pitchFamily="2" charset="2"/>
                </a:rPr>
                <a:t>By adopting standard processes, while incorporating stable </a:t>
              </a:r>
              <a:r>
                <a:rPr lang="en-US" sz="1600" b="1" dirty="0">
                  <a:solidFill>
                    <a:schemeClr val="tx1"/>
                  </a:solidFill>
                  <a:latin typeface="72 Brand" panose="020B0504030603020204" pitchFamily="34" charset="0"/>
                  <a:cs typeface="72" panose="020B0503030000000003" pitchFamily="34" charset="0"/>
                  <a:sym typeface="Wingdings" panose="05000000000000000000" pitchFamily="2" charset="2"/>
                </a:rPr>
                <a:t>extensions and integrations for differentiating processes</a:t>
              </a:r>
              <a:r>
                <a:rPr lang="en-US" sz="1600" dirty="0">
                  <a:solidFill>
                    <a:schemeClr val="tx1"/>
                  </a:solidFill>
                  <a:latin typeface="72 Brand" panose="020B0504030603020204" pitchFamily="34" charset="0"/>
                  <a:cs typeface="72" panose="020B0503030000000003" pitchFamily="34" charset="0"/>
                  <a:sym typeface="Wingdings" panose="05000000000000000000" pitchFamily="2" charset="2"/>
                </a:rPr>
                <a:t>, the clean core principles help customers flexibly adapt to changing business requirements</a:t>
              </a:r>
              <a:r>
                <a:rPr lang="en-US" sz="1600" dirty="0">
                  <a:latin typeface="72 Brand" panose="020B0504030603020204" pitchFamily="34" charset="0"/>
                  <a:cs typeface="72" panose="020B0503030000000003" pitchFamily="34" charset="0"/>
                  <a:sym typeface="Wingdings" panose="05000000000000000000" pitchFamily="2" charset="2"/>
                </a:rPr>
                <a:t> and </a:t>
              </a:r>
              <a:r>
                <a:rPr lang="en-US" sz="1600" dirty="0">
                  <a:solidFill>
                    <a:schemeClr val="tx1"/>
                  </a:solidFill>
                  <a:latin typeface="72 Brand" panose="020B0504030603020204" pitchFamily="34" charset="0"/>
                  <a:cs typeface="72" panose="020B0503030000000003" pitchFamily="34" charset="0"/>
                  <a:sym typeface="Wingdings" panose="05000000000000000000" pitchFamily="2" charset="2"/>
                </a:rPr>
                <a:t>adopt new capabilities.</a:t>
              </a:r>
              <a:endParaRPr lang="en-US" sz="1600" dirty="0">
                <a:latin typeface="72 Brand" panose="020B0504030603020204" pitchFamily="34" charset="0"/>
                <a:cs typeface="72" panose="020B0503030000000003" pitchFamily="34" charset="0"/>
              </a:endParaRPr>
            </a:p>
          </p:txBody>
        </p:sp>
      </p:grpSp>
      <p:sp>
        <p:nvSpPr>
          <p:cNvPr id="81" name="Title 80">
            <a:extLst>
              <a:ext uri="{FF2B5EF4-FFF2-40B4-BE49-F238E27FC236}">
                <a16:creationId xmlns:a16="http://schemas.microsoft.com/office/drawing/2014/main" id="{7FB4CE08-76E9-1585-2C73-637EBA22A4C0}"/>
              </a:ext>
            </a:extLst>
          </p:cNvPr>
          <p:cNvSpPr>
            <a:spLocks noGrp="1"/>
          </p:cNvSpPr>
          <p:nvPr>
            <p:ph type="title"/>
          </p:nvPr>
        </p:nvSpPr>
        <p:spPr/>
        <p:txBody>
          <a:bodyPr vert="horz"/>
          <a:lstStyle/>
          <a:p>
            <a:r>
              <a:rPr lang="en-US" dirty="0">
                <a:cs typeface="Arial" panose="020B0604020202020204" pitchFamily="34" charset="0"/>
              </a:rPr>
              <a:t>Clean Core - The five guiding principles</a:t>
            </a:r>
          </a:p>
        </p:txBody>
      </p:sp>
      <p:sp>
        <p:nvSpPr>
          <p:cNvPr id="12" name="TextBox 11">
            <a:extLst>
              <a:ext uri="{FF2B5EF4-FFF2-40B4-BE49-F238E27FC236}">
                <a16:creationId xmlns:a16="http://schemas.microsoft.com/office/drawing/2014/main" id="{A56C1859-3ED2-E98A-26AF-FFD610771582}"/>
              </a:ext>
            </a:extLst>
          </p:cNvPr>
          <p:cNvSpPr txBox="1"/>
          <p:nvPr/>
        </p:nvSpPr>
        <p:spPr>
          <a:xfrm>
            <a:off x="5685130" y="2711981"/>
            <a:ext cx="2551698" cy="369332"/>
          </a:xfrm>
          <a:prstGeom prst="rect">
            <a:avLst/>
          </a:prstGeom>
          <a:noFill/>
        </p:spPr>
        <p:txBody>
          <a:bodyPr wrap="square" lIns="0" tIns="0" rIns="0" bIns="0" rtlCol="0" anchor="ctr" anchorCtr="0">
            <a:spAutoFit/>
          </a:bodyPr>
          <a:lstStyle/>
          <a:p>
            <a:pPr algn="r" fontAlgn="base">
              <a:spcAft>
                <a:spcPct val="0"/>
              </a:spcAft>
              <a:buClr>
                <a:srgbClr val="F0AB00"/>
              </a:buClr>
              <a:buSzPct val="80000"/>
            </a:pPr>
            <a:r>
              <a:rPr lang="en-US" sz="1200" b="1" kern="0" dirty="0">
                <a:solidFill>
                  <a:srgbClr val="1B90FF"/>
                </a:solidFill>
                <a:latin typeface="72 Brand" panose="020B0504030603020204" pitchFamily="34" charset="0"/>
                <a:ea typeface="Arial Unicode MS" pitchFamily="34" charset="-128"/>
                <a:cs typeface="72" panose="020B0503030000000003" pitchFamily="34" charset="0"/>
              </a:rPr>
              <a:t>Decouple extensions</a:t>
            </a:r>
            <a:br>
              <a:rPr lang="en-US" sz="1200" b="1" kern="0" dirty="0">
                <a:solidFill>
                  <a:srgbClr val="4DB2FF"/>
                </a:solidFill>
                <a:latin typeface="72 Brand" panose="020B0504030603020204" pitchFamily="34" charset="0"/>
                <a:ea typeface="Arial Unicode MS" pitchFamily="34" charset="-128"/>
                <a:cs typeface="72" panose="020B0503030000000003" pitchFamily="34" charset="0"/>
              </a:rPr>
            </a:br>
            <a:r>
              <a:rPr lang="en-US" sz="1200" kern="0" dirty="0">
                <a:latin typeface="72 Brand" panose="020B0504030603020204" pitchFamily="34" charset="0"/>
                <a:ea typeface="Arial Unicode MS" pitchFamily="34" charset="-128"/>
                <a:cs typeface="72" panose="020B0503030000000003" pitchFamily="34" charset="0"/>
              </a:rPr>
              <a:t>from the standard core.</a:t>
            </a:r>
          </a:p>
        </p:txBody>
      </p:sp>
      <p:sp>
        <p:nvSpPr>
          <p:cNvPr id="31" name="TextBox 30">
            <a:extLst>
              <a:ext uri="{FF2B5EF4-FFF2-40B4-BE49-F238E27FC236}">
                <a16:creationId xmlns:a16="http://schemas.microsoft.com/office/drawing/2014/main" id="{60F012DA-885D-7771-A8C2-A569CBCE4A2B}"/>
              </a:ext>
            </a:extLst>
          </p:cNvPr>
          <p:cNvSpPr txBox="1"/>
          <p:nvPr/>
        </p:nvSpPr>
        <p:spPr>
          <a:xfrm>
            <a:off x="5676508" y="1862844"/>
            <a:ext cx="2560320" cy="369332"/>
          </a:xfrm>
          <a:prstGeom prst="rect">
            <a:avLst/>
          </a:prstGeom>
          <a:noFill/>
        </p:spPr>
        <p:txBody>
          <a:bodyPr wrap="square" lIns="0" tIns="0" rIns="0" bIns="0" rtlCol="0" anchor="ctr" anchorCtr="0">
            <a:spAutoFit/>
          </a:bodyPr>
          <a:lstStyle/>
          <a:p>
            <a:pPr algn="r" fontAlgn="base">
              <a:spcAft>
                <a:spcPct val="0"/>
              </a:spcAft>
              <a:buClr>
                <a:srgbClr val="F0AB00"/>
              </a:buClr>
              <a:buSzPct val="80000"/>
            </a:pPr>
            <a:r>
              <a:rPr lang="en-US" sz="1200" kern="0">
                <a:latin typeface="72 Brand" panose="020B0504030603020204" pitchFamily="34" charset="0"/>
                <a:ea typeface="Arial Unicode MS" pitchFamily="34" charset="-128"/>
                <a:cs typeface="72" panose="020B0503030000000003" pitchFamily="34" charset="0"/>
              </a:rPr>
              <a:t>Keep </a:t>
            </a:r>
            <a:r>
              <a:rPr lang="en-US" sz="1200" b="1" kern="0">
                <a:solidFill>
                  <a:srgbClr val="89D1FF"/>
                </a:solidFill>
                <a:latin typeface="72 Brand" panose="020B0504030603020204" pitchFamily="34" charset="0"/>
                <a:ea typeface="Arial Unicode MS" pitchFamily="34" charset="-128"/>
                <a:cs typeface="72" panose="020B0503030000000003" pitchFamily="34" charset="0"/>
              </a:rPr>
              <a:t>competitiveness</a:t>
            </a:r>
            <a:r>
              <a:rPr lang="en-US" sz="1200" kern="0">
                <a:latin typeface="72 Brand" panose="020B0504030603020204" pitchFamily="34" charset="0"/>
                <a:ea typeface="Arial Unicode MS" pitchFamily="34" charset="-128"/>
                <a:cs typeface="72" panose="020B0503030000000003" pitchFamily="34" charset="0"/>
              </a:rPr>
              <a:t> while </a:t>
            </a:r>
            <a:r>
              <a:rPr lang="en-US" sz="1200" b="1" kern="0">
                <a:solidFill>
                  <a:srgbClr val="89D1FF"/>
                </a:solidFill>
                <a:latin typeface="72 Brand" panose="020B0504030603020204" pitchFamily="34" charset="0"/>
                <a:ea typeface="Arial Unicode MS" pitchFamily="34" charset="-128"/>
                <a:cs typeface="72" panose="020B0503030000000003" pitchFamily="34" charset="0"/>
              </a:rPr>
              <a:t>reducing complexity</a:t>
            </a:r>
            <a:r>
              <a:rPr lang="en-US" sz="1200" kern="0">
                <a:solidFill>
                  <a:srgbClr val="89D1FF"/>
                </a:solidFill>
                <a:latin typeface="72 Brand" panose="020B0504030603020204" pitchFamily="34" charset="0"/>
                <a:ea typeface="Arial Unicode MS" pitchFamily="34" charset="-128"/>
                <a:cs typeface="72" panose="020B0503030000000003" pitchFamily="34" charset="0"/>
              </a:rPr>
              <a:t>.</a:t>
            </a:r>
          </a:p>
        </p:txBody>
      </p:sp>
      <p:sp>
        <p:nvSpPr>
          <p:cNvPr id="36" name="TextBox 35">
            <a:extLst>
              <a:ext uri="{FF2B5EF4-FFF2-40B4-BE49-F238E27FC236}">
                <a16:creationId xmlns:a16="http://schemas.microsoft.com/office/drawing/2014/main" id="{5C262196-1107-0715-8B2C-1A79F94E6DBC}"/>
              </a:ext>
            </a:extLst>
          </p:cNvPr>
          <p:cNvSpPr txBox="1"/>
          <p:nvPr/>
        </p:nvSpPr>
        <p:spPr>
          <a:xfrm>
            <a:off x="5693119" y="4395316"/>
            <a:ext cx="2560320" cy="369332"/>
          </a:xfrm>
          <a:prstGeom prst="rect">
            <a:avLst/>
          </a:prstGeom>
          <a:noFill/>
        </p:spPr>
        <p:txBody>
          <a:bodyPr wrap="square" lIns="0" tIns="0" rIns="0" bIns="0" rtlCol="0" anchor="ctr" anchorCtr="0">
            <a:spAutoFit/>
          </a:bodyPr>
          <a:lstStyle/>
          <a:p>
            <a:pPr algn="r" fontAlgn="base">
              <a:spcAft>
                <a:spcPct val="0"/>
              </a:spcAft>
              <a:buClr>
                <a:srgbClr val="F0AB00"/>
              </a:buClr>
              <a:buSzPct val="80000"/>
            </a:pPr>
            <a:r>
              <a:rPr lang="en-US" sz="1200" kern="0">
                <a:latin typeface="72 Brand" panose="020B0504030603020204" pitchFamily="34" charset="0"/>
                <a:ea typeface="Arial Unicode MS" pitchFamily="34" charset="-128"/>
                <a:cs typeface="72" panose="020B0503030000000003" pitchFamily="34" charset="0"/>
              </a:rPr>
              <a:t>Keep the system landscape</a:t>
            </a:r>
            <a:br>
              <a:rPr lang="en-US" sz="1200" kern="0">
                <a:latin typeface="72 Brand" panose="020B0504030603020204" pitchFamily="34" charset="0"/>
                <a:ea typeface="Arial Unicode MS" pitchFamily="34" charset="-128"/>
                <a:cs typeface="72" panose="020B0503030000000003" pitchFamily="34" charset="0"/>
              </a:rPr>
            </a:br>
            <a:r>
              <a:rPr lang="en-US" sz="1200" b="1" kern="0">
                <a:solidFill>
                  <a:srgbClr val="002A86"/>
                </a:solidFill>
                <a:latin typeface="72 Brand" panose="020B0504030603020204" pitchFamily="34" charset="0"/>
                <a:ea typeface="Arial Unicode MS" pitchFamily="34" charset="-128"/>
                <a:cs typeface="72" panose="020B0503030000000003" pitchFamily="34" charset="0"/>
              </a:rPr>
              <a:t>reliable and flexible</a:t>
            </a:r>
            <a:r>
              <a:rPr lang="en-US" sz="1200" kern="0">
                <a:solidFill>
                  <a:srgbClr val="002A86"/>
                </a:solidFill>
                <a:latin typeface="72 Brand" panose="020B0504030603020204" pitchFamily="34" charset="0"/>
                <a:ea typeface="Arial Unicode MS" pitchFamily="34" charset="-128"/>
                <a:cs typeface="72" panose="020B0503030000000003" pitchFamily="34" charset="0"/>
              </a:rPr>
              <a:t>.</a:t>
            </a:r>
          </a:p>
        </p:txBody>
      </p:sp>
      <p:sp>
        <p:nvSpPr>
          <p:cNvPr id="42" name="TextBox 41">
            <a:extLst>
              <a:ext uri="{FF2B5EF4-FFF2-40B4-BE49-F238E27FC236}">
                <a16:creationId xmlns:a16="http://schemas.microsoft.com/office/drawing/2014/main" id="{088F0C5B-C70E-A738-F3B4-E018B210069D}"/>
              </a:ext>
            </a:extLst>
          </p:cNvPr>
          <p:cNvSpPr txBox="1"/>
          <p:nvPr/>
        </p:nvSpPr>
        <p:spPr>
          <a:xfrm>
            <a:off x="5685129" y="3530011"/>
            <a:ext cx="2560320" cy="369332"/>
          </a:xfrm>
          <a:prstGeom prst="rect">
            <a:avLst/>
          </a:prstGeom>
          <a:noFill/>
        </p:spPr>
        <p:txBody>
          <a:bodyPr wrap="square" lIns="0" tIns="0" rIns="0" bIns="0" rtlCol="0" anchor="ctr" anchorCtr="0">
            <a:spAutoFit/>
          </a:bodyPr>
          <a:lstStyle/>
          <a:p>
            <a:pPr algn="r" fontAlgn="base">
              <a:spcAft>
                <a:spcPct val="0"/>
              </a:spcAft>
              <a:buClr>
                <a:srgbClr val="F0AB00"/>
              </a:buClr>
              <a:buSzPct val="80000"/>
            </a:pPr>
            <a:r>
              <a:rPr lang="en-US" sz="1200" kern="0">
                <a:latin typeface="72 Brand" panose="020B0504030603020204" pitchFamily="34" charset="0"/>
                <a:ea typeface="Arial Unicode MS" pitchFamily="34" charset="-128"/>
                <a:cs typeface="72" panose="020B0503030000000003" pitchFamily="34" charset="0"/>
              </a:rPr>
              <a:t>Control data according</a:t>
            </a:r>
            <a:br>
              <a:rPr lang="en-US" sz="1200" kern="0">
                <a:latin typeface="72 Brand" panose="020B0504030603020204" pitchFamily="34" charset="0"/>
                <a:ea typeface="Arial Unicode MS" pitchFamily="34" charset="-128"/>
                <a:cs typeface="72" panose="020B0503030000000003" pitchFamily="34" charset="0"/>
              </a:rPr>
            </a:br>
            <a:r>
              <a:rPr lang="en-US" sz="1200" kern="0">
                <a:latin typeface="72 Brand" panose="020B0504030603020204" pitchFamily="34" charset="0"/>
                <a:ea typeface="Arial Unicode MS" pitchFamily="34" charset="-128"/>
                <a:cs typeface="72" panose="020B0503030000000003" pitchFamily="34" charset="0"/>
              </a:rPr>
              <a:t>to the </a:t>
            </a:r>
            <a:r>
              <a:rPr lang="en-US" sz="1200" b="1" kern="0">
                <a:solidFill>
                  <a:srgbClr val="0070F2"/>
                </a:solidFill>
                <a:latin typeface="72 Brand" panose="020B0504030603020204" pitchFamily="34" charset="0"/>
                <a:ea typeface="Arial Unicode MS" pitchFamily="34" charset="-128"/>
                <a:cs typeface="72" panose="020B0503030000000003" pitchFamily="34" charset="0"/>
              </a:rPr>
              <a:t>latest standards</a:t>
            </a:r>
            <a:r>
              <a:rPr lang="en-US" sz="1200" kern="0">
                <a:solidFill>
                  <a:srgbClr val="0070F2"/>
                </a:solidFill>
                <a:latin typeface="72 Brand" panose="020B0504030603020204" pitchFamily="34" charset="0"/>
                <a:ea typeface="Arial Unicode MS" pitchFamily="34" charset="-128"/>
                <a:cs typeface="72" panose="020B0503030000000003" pitchFamily="34" charset="0"/>
              </a:rPr>
              <a:t>.</a:t>
            </a:r>
          </a:p>
        </p:txBody>
      </p:sp>
      <p:sp>
        <p:nvSpPr>
          <p:cNvPr id="4" name="TextBox 3">
            <a:extLst>
              <a:ext uri="{FF2B5EF4-FFF2-40B4-BE49-F238E27FC236}">
                <a16:creationId xmlns:a16="http://schemas.microsoft.com/office/drawing/2014/main" id="{46EBB09F-7597-6AA8-48CB-CE04870B561B}"/>
              </a:ext>
            </a:extLst>
          </p:cNvPr>
          <p:cNvSpPr txBox="1"/>
          <p:nvPr/>
        </p:nvSpPr>
        <p:spPr>
          <a:xfrm>
            <a:off x="5693119" y="5301576"/>
            <a:ext cx="2560320" cy="369332"/>
          </a:xfrm>
          <a:prstGeom prst="rect">
            <a:avLst/>
          </a:prstGeom>
          <a:noFill/>
        </p:spPr>
        <p:txBody>
          <a:bodyPr wrap="square" lIns="0" tIns="0" rIns="0" bIns="0" rtlCol="0" anchor="ctr" anchorCtr="0">
            <a:spAutoFit/>
          </a:bodyPr>
          <a:lstStyle/>
          <a:p>
            <a:pPr algn="r" fontAlgn="base">
              <a:spcAft>
                <a:spcPct val="0"/>
              </a:spcAft>
              <a:buClr>
                <a:srgbClr val="F0AB00"/>
              </a:buClr>
              <a:buSzPct val="80000"/>
            </a:pPr>
            <a:r>
              <a:rPr lang="en-US" sz="1200" kern="0">
                <a:latin typeface="72 Brand" panose="020B0504030603020204" pitchFamily="34" charset="0"/>
                <a:ea typeface="Arial Unicode MS" pitchFamily="34" charset="-128"/>
                <a:cs typeface="72" panose="020B0503030000000003" pitchFamily="34" charset="0"/>
              </a:rPr>
              <a:t>Keep the operations </a:t>
            </a:r>
            <a:br>
              <a:rPr lang="en-US" sz="1200" b="1" kern="0">
                <a:solidFill>
                  <a:srgbClr val="666666"/>
                </a:solidFill>
                <a:latin typeface="72 Brand" panose="020B0504030603020204" pitchFamily="34" charset="0"/>
                <a:ea typeface="Arial Unicode MS" pitchFamily="34" charset="-128"/>
                <a:cs typeface="72" panose="020B0503030000000003" pitchFamily="34" charset="0"/>
              </a:rPr>
            </a:br>
            <a:r>
              <a:rPr lang="en-US" sz="1200" b="1" kern="0">
                <a:solidFill>
                  <a:srgbClr val="00144A"/>
                </a:solidFill>
                <a:latin typeface="72 Brand" panose="020B0504030603020204" pitchFamily="34" charset="0"/>
                <a:ea typeface="Arial Unicode MS" pitchFamily="34" charset="-128"/>
                <a:cs typeface="72" panose="020B0503030000000003" pitchFamily="34" charset="0"/>
              </a:rPr>
              <a:t>effective and efficient</a:t>
            </a:r>
            <a:r>
              <a:rPr lang="en-US" sz="1200" kern="0">
                <a:latin typeface="72 Brand" panose="020B0504030603020204" pitchFamily="34" charset="0"/>
                <a:ea typeface="Arial Unicode MS" pitchFamily="34" charset="-128"/>
                <a:cs typeface="72" panose="020B0503030000000003" pitchFamily="34" charset="0"/>
              </a:rPr>
              <a:t>.</a:t>
            </a:r>
          </a:p>
        </p:txBody>
      </p:sp>
      <p:sp>
        <p:nvSpPr>
          <p:cNvPr id="2" name="Rounded Rectangle 61">
            <a:extLst>
              <a:ext uri="{FF2B5EF4-FFF2-40B4-BE49-F238E27FC236}">
                <a16:creationId xmlns:a16="http://schemas.microsoft.com/office/drawing/2014/main" id="{47DF7EDF-16D0-F855-6607-BC9A98E29BCD}"/>
              </a:ext>
            </a:extLst>
          </p:cNvPr>
          <p:cNvSpPr/>
          <p:nvPr/>
        </p:nvSpPr>
        <p:spPr bwMode="gray">
          <a:xfrm rot="5400000">
            <a:off x="9475545" y="3571437"/>
            <a:ext cx="3843826" cy="319828"/>
          </a:xfrm>
          <a:prstGeom prst="roundRect">
            <a:avLst/>
          </a:prstGeom>
          <a:solidFill>
            <a:srgbClr val="00144A"/>
          </a:solidFill>
          <a:ln w="38100" algn="ctr">
            <a:noFill/>
            <a:miter lim="800000"/>
            <a:headEnd/>
            <a:tailEnd/>
          </a:ln>
        </p:spPr>
        <p:txBody>
          <a:bodyPr lIns="498361" tIns="63293" rIns="63293" bIns="63293" rtlCol="0" anchor="ctr"/>
          <a:lstStyle/>
          <a:p>
            <a:pPr defTabSz="632842">
              <a:spcBef>
                <a:spcPct val="50000"/>
              </a:spcBef>
              <a:buClr>
                <a:srgbClr val="F0AB00"/>
              </a:buClr>
              <a:buSzPct val="80000"/>
            </a:pPr>
            <a:endParaRPr lang="en-US" sz="1400" kern="0">
              <a:solidFill>
                <a:schemeClr val="bg1"/>
              </a:solidFill>
              <a:latin typeface="72 Brand" panose="020B0504030603020204" pitchFamily="34" charset="0"/>
              <a:ea typeface="Arial Unicode MS" pitchFamily="34" charset="-128"/>
              <a:cs typeface="72" panose="020B0503030000000003" pitchFamily="34" charset="0"/>
            </a:endParaRPr>
          </a:p>
        </p:txBody>
      </p:sp>
      <p:sp>
        <p:nvSpPr>
          <p:cNvPr id="45" name="Rounded Rectangle 61">
            <a:extLst>
              <a:ext uri="{FF2B5EF4-FFF2-40B4-BE49-F238E27FC236}">
                <a16:creationId xmlns:a16="http://schemas.microsoft.com/office/drawing/2014/main" id="{1A57E65D-746D-992F-154D-DF5DA7554164}"/>
              </a:ext>
            </a:extLst>
          </p:cNvPr>
          <p:cNvSpPr/>
          <p:nvPr/>
        </p:nvSpPr>
        <p:spPr bwMode="gray">
          <a:xfrm rot="5400000">
            <a:off x="9481121" y="3153570"/>
            <a:ext cx="3022307" cy="334040"/>
          </a:xfrm>
          <a:prstGeom prst="roundRect">
            <a:avLst/>
          </a:prstGeom>
          <a:solidFill>
            <a:srgbClr val="A6E1FF"/>
          </a:solidFill>
          <a:ln w="38100" algn="ctr">
            <a:noFill/>
            <a:miter lim="800000"/>
            <a:headEnd/>
            <a:tailEnd/>
          </a:ln>
        </p:spPr>
        <p:txBody>
          <a:bodyPr lIns="498361" tIns="63293" rIns="63293" bIns="63293" rtlCol="0" anchor="ctr"/>
          <a:lstStyle/>
          <a:p>
            <a:pPr defTabSz="632842">
              <a:spcBef>
                <a:spcPct val="50000"/>
              </a:spcBef>
              <a:buClr>
                <a:srgbClr val="F0AB00"/>
              </a:buClr>
              <a:buSzPct val="80000"/>
            </a:pPr>
            <a:endParaRPr lang="en-US" sz="1400" kern="0">
              <a:solidFill>
                <a:schemeClr val="bg1"/>
              </a:solidFill>
              <a:latin typeface="72 Brand" panose="020B0504030603020204" pitchFamily="34" charset="0"/>
              <a:ea typeface="Arial Unicode MS" pitchFamily="34" charset="-128"/>
              <a:cs typeface="72" panose="020B0503030000000003" pitchFamily="34" charset="0"/>
            </a:endParaRPr>
          </a:p>
        </p:txBody>
      </p:sp>
      <p:grpSp>
        <p:nvGrpSpPr>
          <p:cNvPr id="8" name="Gruppieren 7">
            <a:extLst>
              <a:ext uri="{FF2B5EF4-FFF2-40B4-BE49-F238E27FC236}">
                <a16:creationId xmlns:a16="http://schemas.microsoft.com/office/drawing/2014/main" id="{6EC6AD2B-C7EC-9AF0-FEBD-A1275E2081B3}"/>
              </a:ext>
            </a:extLst>
          </p:cNvPr>
          <p:cNvGrpSpPr/>
          <p:nvPr/>
        </p:nvGrpSpPr>
        <p:grpSpPr>
          <a:xfrm>
            <a:off x="8465173" y="1781850"/>
            <a:ext cx="2994931" cy="505475"/>
            <a:chOff x="8465173" y="1781850"/>
            <a:chExt cx="2994931" cy="505475"/>
          </a:xfrm>
        </p:grpSpPr>
        <p:sp>
          <p:nvSpPr>
            <p:cNvPr id="25" name="Rounded Rectangle 61">
              <a:extLst>
                <a:ext uri="{FF2B5EF4-FFF2-40B4-BE49-F238E27FC236}">
                  <a16:creationId xmlns:a16="http://schemas.microsoft.com/office/drawing/2014/main" id="{0CAEE04B-AB97-3DB1-5947-B34932A8EB34}"/>
                </a:ext>
              </a:extLst>
            </p:cNvPr>
            <p:cNvSpPr/>
            <p:nvPr/>
          </p:nvSpPr>
          <p:spPr bwMode="gray">
            <a:xfrm>
              <a:off x="8720628" y="1880490"/>
              <a:ext cx="2739476" cy="334040"/>
            </a:xfrm>
            <a:prstGeom prst="roundRect">
              <a:avLst/>
            </a:prstGeom>
            <a:solidFill>
              <a:srgbClr val="89D1FF"/>
            </a:solidFill>
            <a:ln w="25400" algn="ctr">
              <a:noFill/>
              <a:miter lim="800000"/>
              <a:headEnd/>
              <a:tailEnd/>
            </a:ln>
          </p:spPr>
          <p:txBody>
            <a:bodyPr lIns="498361" tIns="63293" rIns="62296" bIns="63293" rtlCol="0" anchor="ctr"/>
            <a:lstStyle/>
            <a:p>
              <a:pPr marL="4763" defTabSz="632842">
                <a:spcBef>
                  <a:spcPct val="50000"/>
                </a:spcBef>
                <a:buClr>
                  <a:srgbClr val="F0AB00"/>
                </a:buClr>
                <a:buSzPct val="80000"/>
              </a:pPr>
              <a:r>
                <a:rPr lang="en-US" sz="1200" kern="0">
                  <a:solidFill>
                    <a:schemeClr val="bg1"/>
                  </a:solidFill>
                  <a:latin typeface="72 Brand" panose="020B0504030603020204" pitchFamily="34" charset="0"/>
                  <a:ea typeface="Arial Unicode MS" pitchFamily="34" charset="-128"/>
                  <a:cs typeface="72" panose="020B0503030000000003" pitchFamily="34" charset="0"/>
                </a:rPr>
                <a:t>Business processes</a:t>
              </a:r>
              <a:endParaRPr lang="en-CA" sz="1200" kern="0">
                <a:solidFill>
                  <a:schemeClr val="bg1"/>
                </a:solidFill>
                <a:latin typeface="72 Brand" panose="020B0504030603020204" pitchFamily="34" charset="0"/>
                <a:ea typeface="Arial Unicode MS" pitchFamily="34" charset="-128"/>
                <a:cs typeface="72" panose="020B0503030000000003" pitchFamily="34" charset="0"/>
              </a:endParaRPr>
            </a:p>
          </p:txBody>
        </p:sp>
        <p:sp>
          <p:nvSpPr>
            <p:cNvPr id="47" name="Rectangle: Rounded Corners 37">
              <a:extLst>
                <a:ext uri="{FF2B5EF4-FFF2-40B4-BE49-F238E27FC236}">
                  <a16:creationId xmlns:a16="http://schemas.microsoft.com/office/drawing/2014/main" id="{5A66CD2B-F1C9-E404-3FB6-0787725207E5}"/>
                </a:ext>
              </a:extLst>
            </p:cNvPr>
            <p:cNvSpPr/>
            <p:nvPr/>
          </p:nvSpPr>
          <p:spPr bwMode="gray">
            <a:xfrm>
              <a:off x="8465173" y="1781850"/>
              <a:ext cx="504000" cy="505475"/>
            </a:xfrm>
            <a:prstGeom prst="roundRect">
              <a:avLst>
                <a:gd name="adj" fmla="val 50000"/>
              </a:avLst>
            </a:prstGeom>
            <a:gradFill>
              <a:gsLst>
                <a:gs pos="0">
                  <a:schemeClr val="bg1"/>
                </a:gs>
                <a:gs pos="100000">
                  <a:srgbClr val="DDF3FF"/>
                </a:gs>
              </a:gsLst>
              <a:lin ang="2700000" scaled="1"/>
            </a:gradFill>
            <a:ln w="25400" algn="ctr">
              <a:noFill/>
              <a:miter lim="800000"/>
              <a:headEnd/>
              <a:tailEnd/>
            </a:ln>
            <a:effectLst>
              <a:outerShdw blurRad="50800" dir="2700000" algn="tl" rotWithShape="0">
                <a:prstClr val="black">
                  <a:alpha val="20000"/>
                </a:prstClr>
              </a:outerShdw>
            </a:effectLst>
          </p:spPr>
          <p:txBody>
            <a:bodyPr lIns="182880" tIns="146304" rIns="182880" bIns="146304" rtlCol="0" anchor="t"/>
            <a:lstStyle/>
            <a:p>
              <a:pPr defTabSz="914400" fontAlgn="base">
                <a:spcAft>
                  <a:spcPts val="600"/>
                </a:spcAft>
                <a:buClr>
                  <a:srgbClr val="F0AB00"/>
                </a:buClr>
                <a:buSzPct val="80000"/>
                <a:defRPr/>
              </a:pPr>
              <a:endParaRPr lang="en-GB" sz="1050" i="1">
                <a:gradFill>
                  <a:gsLst>
                    <a:gs pos="0">
                      <a:srgbClr val="00144A"/>
                    </a:gs>
                    <a:gs pos="100000">
                      <a:srgbClr val="00144A"/>
                    </a:gs>
                  </a:gsLst>
                  <a:lin ang="0" scaled="0"/>
                </a:gradFill>
                <a:latin typeface="72 Brand"/>
              </a:endParaRPr>
            </a:p>
          </p:txBody>
        </p:sp>
        <p:sp>
          <p:nvSpPr>
            <p:cNvPr id="48" name="TextBox 47">
              <a:extLst>
                <a:ext uri="{FF2B5EF4-FFF2-40B4-BE49-F238E27FC236}">
                  <a16:creationId xmlns:a16="http://schemas.microsoft.com/office/drawing/2014/main" id="{BF0AD208-7FB5-495D-1AB2-A587678C0042}"/>
                </a:ext>
              </a:extLst>
            </p:cNvPr>
            <p:cNvSpPr txBox="1"/>
            <p:nvPr/>
          </p:nvSpPr>
          <p:spPr>
            <a:xfrm>
              <a:off x="8655865" y="1873002"/>
              <a:ext cx="125317" cy="307777"/>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b="1" kern="0">
                  <a:solidFill>
                    <a:srgbClr val="89D1FF"/>
                  </a:solidFill>
                  <a:latin typeface="72 Brand" panose="020B0504030603020204" pitchFamily="34" charset="0"/>
                  <a:ea typeface="Arial Unicode MS" pitchFamily="34" charset="-128"/>
                  <a:cs typeface="72" panose="020B0503030000000003" pitchFamily="34" charset="0"/>
                </a:rPr>
                <a:t>1</a:t>
              </a:r>
            </a:p>
          </p:txBody>
        </p:sp>
      </p:grpSp>
      <p:grpSp>
        <p:nvGrpSpPr>
          <p:cNvPr id="9" name="Gruppieren 8">
            <a:extLst>
              <a:ext uri="{FF2B5EF4-FFF2-40B4-BE49-F238E27FC236}">
                <a16:creationId xmlns:a16="http://schemas.microsoft.com/office/drawing/2014/main" id="{451CD2C6-0E28-EB02-738D-D75D68DE7548}"/>
              </a:ext>
            </a:extLst>
          </p:cNvPr>
          <p:cNvGrpSpPr/>
          <p:nvPr/>
        </p:nvGrpSpPr>
        <p:grpSpPr>
          <a:xfrm>
            <a:off x="8465173" y="2629989"/>
            <a:ext cx="3009638" cy="505475"/>
            <a:chOff x="8465173" y="2629989"/>
            <a:chExt cx="3009638" cy="505475"/>
          </a:xfrm>
        </p:grpSpPr>
        <p:sp>
          <p:nvSpPr>
            <p:cNvPr id="14" name="Rounded Rectangle 61">
              <a:extLst>
                <a:ext uri="{FF2B5EF4-FFF2-40B4-BE49-F238E27FC236}">
                  <a16:creationId xmlns:a16="http://schemas.microsoft.com/office/drawing/2014/main" id="{588D5CCD-B173-D977-76EA-6DEDBBE54092}"/>
                </a:ext>
              </a:extLst>
            </p:cNvPr>
            <p:cNvSpPr/>
            <p:nvPr/>
          </p:nvSpPr>
          <p:spPr bwMode="gray">
            <a:xfrm>
              <a:off x="8729537" y="2729627"/>
              <a:ext cx="2745274" cy="334040"/>
            </a:xfrm>
            <a:prstGeom prst="roundRect">
              <a:avLst/>
            </a:prstGeom>
            <a:solidFill>
              <a:srgbClr val="1B90FF"/>
            </a:solidFill>
            <a:ln w="38100" algn="ctr">
              <a:noFill/>
              <a:miter lim="800000"/>
              <a:headEnd/>
              <a:tailEnd/>
            </a:ln>
          </p:spPr>
          <p:txBody>
            <a:bodyPr lIns="498361" tIns="63293" rIns="63293" bIns="63293" rtlCol="0" anchor="ctr"/>
            <a:lstStyle/>
            <a:p>
              <a:pPr defTabSz="632842">
                <a:spcBef>
                  <a:spcPct val="50000"/>
                </a:spcBef>
                <a:buClr>
                  <a:srgbClr val="F0AB00"/>
                </a:buClr>
                <a:buSzPct val="80000"/>
              </a:pPr>
              <a:r>
                <a:rPr lang="en-US" sz="1200" kern="0">
                  <a:solidFill>
                    <a:schemeClr val="bg1"/>
                  </a:solidFill>
                  <a:latin typeface="72 Brand" panose="020B0504030603020204" pitchFamily="34" charset="0"/>
                  <a:ea typeface="Arial Unicode MS" pitchFamily="34" charset="-128"/>
                  <a:cs typeface="72" panose="020B0503030000000003" pitchFamily="34" charset="0"/>
                </a:rPr>
                <a:t>Extensibility</a:t>
              </a:r>
              <a:endParaRPr lang="en-CA" sz="1200" kern="0">
                <a:solidFill>
                  <a:schemeClr val="bg1"/>
                </a:solidFill>
                <a:latin typeface="72 Brand" panose="020B0504030603020204" pitchFamily="34" charset="0"/>
                <a:ea typeface="Arial Unicode MS" pitchFamily="34" charset="-128"/>
                <a:cs typeface="72" panose="020B0503030000000003" pitchFamily="34" charset="0"/>
              </a:endParaRPr>
            </a:p>
          </p:txBody>
        </p:sp>
        <p:sp>
          <p:nvSpPr>
            <p:cNvPr id="51" name="Rectangle: Rounded Corners 37">
              <a:extLst>
                <a:ext uri="{FF2B5EF4-FFF2-40B4-BE49-F238E27FC236}">
                  <a16:creationId xmlns:a16="http://schemas.microsoft.com/office/drawing/2014/main" id="{CE847F65-C0EA-5970-1CDF-35F8C06E2EA2}"/>
                </a:ext>
              </a:extLst>
            </p:cNvPr>
            <p:cNvSpPr/>
            <p:nvPr/>
          </p:nvSpPr>
          <p:spPr bwMode="gray">
            <a:xfrm>
              <a:off x="8465173" y="2629989"/>
              <a:ext cx="504000" cy="505475"/>
            </a:xfrm>
            <a:prstGeom prst="roundRect">
              <a:avLst>
                <a:gd name="adj" fmla="val 50000"/>
              </a:avLst>
            </a:prstGeom>
            <a:gradFill>
              <a:gsLst>
                <a:gs pos="0">
                  <a:schemeClr val="bg1"/>
                </a:gs>
                <a:gs pos="100000">
                  <a:srgbClr val="DDF3FF"/>
                </a:gs>
              </a:gsLst>
              <a:lin ang="2700000" scaled="1"/>
            </a:gradFill>
            <a:ln w="25400" algn="ctr">
              <a:noFill/>
              <a:miter lim="800000"/>
              <a:headEnd/>
              <a:tailEnd/>
            </a:ln>
            <a:effectLst>
              <a:outerShdw blurRad="50800" dir="2700000" algn="tl" rotWithShape="0">
                <a:prstClr val="black">
                  <a:alpha val="20000"/>
                </a:prstClr>
              </a:outerShdw>
            </a:effectLst>
          </p:spPr>
          <p:txBody>
            <a:bodyPr lIns="182880" tIns="146304" rIns="182880" bIns="146304" rtlCol="0" anchor="t"/>
            <a:lstStyle/>
            <a:p>
              <a:pPr defTabSz="914400" fontAlgn="base">
                <a:spcAft>
                  <a:spcPts val="600"/>
                </a:spcAft>
                <a:buClr>
                  <a:srgbClr val="F0AB00"/>
                </a:buClr>
                <a:buSzPct val="80000"/>
                <a:defRPr/>
              </a:pPr>
              <a:endParaRPr lang="en-GB" sz="1050" i="1">
                <a:gradFill>
                  <a:gsLst>
                    <a:gs pos="0">
                      <a:srgbClr val="00144A"/>
                    </a:gs>
                    <a:gs pos="100000">
                      <a:srgbClr val="00144A"/>
                    </a:gs>
                  </a:gsLst>
                  <a:lin ang="0" scaled="0"/>
                </a:gradFill>
                <a:latin typeface="72 Brand"/>
              </a:endParaRPr>
            </a:p>
          </p:txBody>
        </p:sp>
        <p:sp>
          <p:nvSpPr>
            <p:cNvPr id="52" name="TextBox 51">
              <a:extLst>
                <a:ext uri="{FF2B5EF4-FFF2-40B4-BE49-F238E27FC236}">
                  <a16:creationId xmlns:a16="http://schemas.microsoft.com/office/drawing/2014/main" id="{72335102-9B3F-E5DF-129E-DAE81A28542E}"/>
                </a:ext>
              </a:extLst>
            </p:cNvPr>
            <p:cNvSpPr txBox="1"/>
            <p:nvPr/>
          </p:nvSpPr>
          <p:spPr>
            <a:xfrm>
              <a:off x="8656111" y="2728761"/>
              <a:ext cx="125317" cy="307777"/>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b="1" kern="0">
                  <a:solidFill>
                    <a:srgbClr val="1B90FF"/>
                  </a:solidFill>
                  <a:latin typeface="72 Brand" panose="020B0504030603020204" pitchFamily="34" charset="0"/>
                  <a:ea typeface="Arial Unicode MS" pitchFamily="34" charset="-128"/>
                  <a:cs typeface="72" panose="020B0503030000000003" pitchFamily="34" charset="0"/>
                </a:rPr>
                <a:t>2</a:t>
              </a:r>
            </a:p>
          </p:txBody>
        </p:sp>
      </p:grpSp>
      <p:grpSp>
        <p:nvGrpSpPr>
          <p:cNvPr id="10" name="Gruppieren 9">
            <a:extLst>
              <a:ext uri="{FF2B5EF4-FFF2-40B4-BE49-F238E27FC236}">
                <a16:creationId xmlns:a16="http://schemas.microsoft.com/office/drawing/2014/main" id="{BC690603-1449-2371-C2AF-EDD20FD23B1A}"/>
              </a:ext>
            </a:extLst>
          </p:cNvPr>
          <p:cNvGrpSpPr/>
          <p:nvPr/>
        </p:nvGrpSpPr>
        <p:grpSpPr>
          <a:xfrm>
            <a:off x="8465173" y="3464876"/>
            <a:ext cx="3009636" cy="505475"/>
            <a:chOff x="8465173" y="3464876"/>
            <a:chExt cx="3009636" cy="505475"/>
          </a:xfrm>
        </p:grpSpPr>
        <p:sp>
          <p:nvSpPr>
            <p:cNvPr id="39" name="Rounded Rectangle 61">
              <a:extLst>
                <a:ext uri="{FF2B5EF4-FFF2-40B4-BE49-F238E27FC236}">
                  <a16:creationId xmlns:a16="http://schemas.microsoft.com/office/drawing/2014/main" id="{553B601F-9911-76CC-E687-EE0E9CF0911A}"/>
                </a:ext>
              </a:extLst>
            </p:cNvPr>
            <p:cNvSpPr/>
            <p:nvPr/>
          </p:nvSpPr>
          <p:spPr bwMode="gray">
            <a:xfrm>
              <a:off x="8720626" y="3547657"/>
              <a:ext cx="2754183" cy="334040"/>
            </a:xfrm>
            <a:prstGeom prst="roundRect">
              <a:avLst/>
            </a:prstGeom>
            <a:solidFill>
              <a:srgbClr val="0070F2"/>
            </a:solidFill>
            <a:ln w="25400" algn="ctr">
              <a:noFill/>
              <a:miter lim="800000"/>
              <a:headEnd/>
              <a:tailEnd/>
            </a:ln>
          </p:spPr>
          <p:txBody>
            <a:bodyPr lIns="498361" tIns="63293" rIns="62296" bIns="63293" rtlCol="0" anchor="ctr"/>
            <a:lstStyle/>
            <a:p>
              <a:pPr defTabSz="632842">
                <a:spcBef>
                  <a:spcPct val="50000"/>
                </a:spcBef>
                <a:buClr>
                  <a:srgbClr val="F0AB00"/>
                </a:buClr>
                <a:buSzPct val="80000"/>
              </a:pPr>
              <a:r>
                <a:rPr lang="en-US" sz="1200" kern="0">
                  <a:solidFill>
                    <a:schemeClr val="bg1"/>
                  </a:solidFill>
                  <a:latin typeface="72 Brand" panose="020B0504030603020204" pitchFamily="34" charset="0"/>
                  <a:ea typeface="Arial Unicode MS" pitchFamily="34" charset="-128"/>
                  <a:cs typeface="72" panose="020B0503030000000003" pitchFamily="34" charset="0"/>
                </a:rPr>
                <a:t>Data</a:t>
              </a:r>
              <a:endParaRPr lang="en-CA" sz="1200" kern="0">
                <a:solidFill>
                  <a:schemeClr val="bg1"/>
                </a:solidFill>
                <a:latin typeface="72 Brand" panose="020B0504030603020204" pitchFamily="34" charset="0"/>
                <a:ea typeface="Arial Unicode MS" pitchFamily="34" charset="-128"/>
                <a:cs typeface="72" panose="020B0503030000000003" pitchFamily="34" charset="0"/>
              </a:endParaRPr>
            </a:p>
          </p:txBody>
        </p:sp>
        <p:sp>
          <p:nvSpPr>
            <p:cNvPr id="53" name="Rectangle: Rounded Corners 37">
              <a:extLst>
                <a:ext uri="{FF2B5EF4-FFF2-40B4-BE49-F238E27FC236}">
                  <a16:creationId xmlns:a16="http://schemas.microsoft.com/office/drawing/2014/main" id="{28A079B0-93A0-780D-A5E0-51CAF8A69310}"/>
                </a:ext>
              </a:extLst>
            </p:cNvPr>
            <p:cNvSpPr>
              <a:spLocks/>
            </p:cNvSpPr>
            <p:nvPr/>
          </p:nvSpPr>
          <p:spPr bwMode="gray">
            <a:xfrm>
              <a:off x="8465173" y="3464876"/>
              <a:ext cx="504000" cy="505475"/>
            </a:xfrm>
            <a:prstGeom prst="roundRect">
              <a:avLst>
                <a:gd name="adj" fmla="val 50000"/>
              </a:avLst>
            </a:prstGeom>
            <a:gradFill>
              <a:gsLst>
                <a:gs pos="0">
                  <a:schemeClr val="bg1"/>
                </a:gs>
                <a:gs pos="100000">
                  <a:srgbClr val="DDF3FF"/>
                </a:gs>
              </a:gsLst>
              <a:lin ang="2700000" scaled="1"/>
            </a:gradFill>
            <a:ln w="25400" algn="ctr">
              <a:noFill/>
              <a:miter lim="800000"/>
              <a:headEnd/>
              <a:tailEnd/>
            </a:ln>
            <a:effectLst>
              <a:outerShdw blurRad="50800" dir="2700000" algn="tl" rotWithShape="0">
                <a:prstClr val="black">
                  <a:alpha val="20000"/>
                </a:prstClr>
              </a:outerShdw>
            </a:effectLst>
          </p:spPr>
          <p:txBody>
            <a:bodyPr lIns="182880" tIns="146304" rIns="182880" bIns="146304" rtlCol="0" anchor="t"/>
            <a:lstStyle/>
            <a:p>
              <a:pPr defTabSz="914400" fontAlgn="base">
                <a:spcAft>
                  <a:spcPts val="600"/>
                </a:spcAft>
                <a:buClr>
                  <a:srgbClr val="F0AB00"/>
                </a:buClr>
                <a:buSzPct val="80000"/>
                <a:defRPr/>
              </a:pPr>
              <a:endParaRPr lang="en-GB" sz="1050" i="1">
                <a:gradFill>
                  <a:gsLst>
                    <a:gs pos="0">
                      <a:srgbClr val="00144A"/>
                    </a:gs>
                    <a:gs pos="100000">
                      <a:srgbClr val="00144A"/>
                    </a:gs>
                  </a:gsLst>
                  <a:lin ang="0" scaled="0"/>
                </a:gradFill>
                <a:latin typeface="72 Brand"/>
              </a:endParaRPr>
            </a:p>
          </p:txBody>
        </p:sp>
        <p:sp>
          <p:nvSpPr>
            <p:cNvPr id="54" name="TextBox 53">
              <a:extLst>
                <a:ext uri="{FF2B5EF4-FFF2-40B4-BE49-F238E27FC236}">
                  <a16:creationId xmlns:a16="http://schemas.microsoft.com/office/drawing/2014/main" id="{54853526-3383-7C0E-D448-BC930EFACFC2}"/>
                </a:ext>
              </a:extLst>
            </p:cNvPr>
            <p:cNvSpPr txBox="1"/>
            <p:nvPr/>
          </p:nvSpPr>
          <p:spPr>
            <a:xfrm>
              <a:off x="8648491" y="3563648"/>
              <a:ext cx="125317" cy="307777"/>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b="1" kern="0">
                  <a:solidFill>
                    <a:srgbClr val="0070F2"/>
                  </a:solidFill>
                  <a:latin typeface="72 Brand" panose="020B0504030603020204" pitchFamily="34" charset="0"/>
                  <a:ea typeface="Arial Unicode MS" pitchFamily="34" charset="-128"/>
                  <a:cs typeface="72" panose="020B0503030000000003" pitchFamily="34" charset="0"/>
                </a:rPr>
                <a:t>3</a:t>
              </a:r>
            </a:p>
          </p:txBody>
        </p:sp>
      </p:grpSp>
      <p:grpSp>
        <p:nvGrpSpPr>
          <p:cNvPr id="11" name="Gruppieren 10">
            <a:extLst>
              <a:ext uri="{FF2B5EF4-FFF2-40B4-BE49-F238E27FC236}">
                <a16:creationId xmlns:a16="http://schemas.microsoft.com/office/drawing/2014/main" id="{E7A01C12-699D-8659-FE22-D687659340C8}"/>
              </a:ext>
            </a:extLst>
          </p:cNvPr>
          <p:cNvGrpSpPr/>
          <p:nvPr/>
        </p:nvGrpSpPr>
        <p:grpSpPr>
          <a:xfrm>
            <a:off x="8465173" y="4326268"/>
            <a:ext cx="3009636" cy="505475"/>
            <a:chOff x="8465173" y="4326268"/>
            <a:chExt cx="3009636" cy="505475"/>
          </a:xfrm>
        </p:grpSpPr>
        <p:sp>
          <p:nvSpPr>
            <p:cNvPr id="33" name="Rounded Rectangle 61">
              <a:extLst>
                <a:ext uri="{FF2B5EF4-FFF2-40B4-BE49-F238E27FC236}">
                  <a16:creationId xmlns:a16="http://schemas.microsoft.com/office/drawing/2014/main" id="{BC32E7BA-9467-FDBE-8626-E8FA764476C6}"/>
                </a:ext>
              </a:extLst>
            </p:cNvPr>
            <p:cNvSpPr/>
            <p:nvPr/>
          </p:nvSpPr>
          <p:spPr bwMode="gray">
            <a:xfrm>
              <a:off x="8720627" y="4412962"/>
              <a:ext cx="2754182" cy="334040"/>
            </a:xfrm>
            <a:prstGeom prst="roundRect">
              <a:avLst/>
            </a:prstGeom>
            <a:solidFill>
              <a:srgbClr val="002A86"/>
            </a:solidFill>
            <a:ln w="25400" algn="ctr">
              <a:noFill/>
              <a:miter lim="800000"/>
              <a:headEnd/>
              <a:tailEnd/>
            </a:ln>
          </p:spPr>
          <p:txBody>
            <a:bodyPr lIns="498361" tIns="63293" rIns="62296" bIns="63293" rtlCol="0" anchor="ctr"/>
            <a:lstStyle/>
            <a:p>
              <a:pPr defTabSz="632842">
                <a:spcBef>
                  <a:spcPct val="50000"/>
                </a:spcBef>
                <a:buClr>
                  <a:srgbClr val="F0AB00"/>
                </a:buClr>
                <a:buSzPct val="80000"/>
              </a:pPr>
              <a:r>
                <a:rPr lang="en-US" sz="1200" kern="0">
                  <a:solidFill>
                    <a:schemeClr val="bg1"/>
                  </a:solidFill>
                  <a:latin typeface="72 Brand" panose="020B0504030603020204" pitchFamily="34" charset="0"/>
                  <a:ea typeface="Arial Unicode MS" pitchFamily="34" charset="-128"/>
                  <a:cs typeface="72" panose="020B0503030000000003" pitchFamily="34" charset="0"/>
                </a:rPr>
                <a:t>Integration</a:t>
              </a:r>
              <a:endParaRPr lang="en-CA" sz="1200" kern="0">
                <a:solidFill>
                  <a:schemeClr val="bg1"/>
                </a:solidFill>
                <a:latin typeface="72 Brand" panose="020B0504030603020204" pitchFamily="34" charset="0"/>
                <a:ea typeface="Arial Unicode MS" pitchFamily="34" charset="-128"/>
                <a:cs typeface="72" panose="020B0503030000000003" pitchFamily="34" charset="0"/>
              </a:endParaRPr>
            </a:p>
          </p:txBody>
        </p:sp>
        <p:sp>
          <p:nvSpPr>
            <p:cNvPr id="55" name="Rectangle: Rounded Corners 37">
              <a:extLst>
                <a:ext uri="{FF2B5EF4-FFF2-40B4-BE49-F238E27FC236}">
                  <a16:creationId xmlns:a16="http://schemas.microsoft.com/office/drawing/2014/main" id="{18044E5A-D731-EA97-D795-A7CC8662030B}"/>
                </a:ext>
              </a:extLst>
            </p:cNvPr>
            <p:cNvSpPr/>
            <p:nvPr/>
          </p:nvSpPr>
          <p:spPr bwMode="gray">
            <a:xfrm>
              <a:off x="8465173" y="4326268"/>
              <a:ext cx="504000" cy="505475"/>
            </a:xfrm>
            <a:prstGeom prst="roundRect">
              <a:avLst>
                <a:gd name="adj" fmla="val 50000"/>
              </a:avLst>
            </a:prstGeom>
            <a:gradFill>
              <a:gsLst>
                <a:gs pos="0">
                  <a:schemeClr val="bg1"/>
                </a:gs>
                <a:gs pos="100000">
                  <a:srgbClr val="DDF3FF"/>
                </a:gs>
              </a:gsLst>
              <a:lin ang="2700000" scaled="1"/>
            </a:gradFill>
            <a:ln w="25400" algn="ctr">
              <a:noFill/>
              <a:miter lim="800000"/>
              <a:headEnd/>
              <a:tailEnd/>
            </a:ln>
            <a:effectLst>
              <a:outerShdw blurRad="50800" dir="2700000" algn="tl" rotWithShape="0">
                <a:prstClr val="black">
                  <a:alpha val="20000"/>
                </a:prstClr>
              </a:outerShdw>
            </a:effectLst>
          </p:spPr>
          <p:txBody>
            <a:bodyPr lIns="182880" tIns="146304" rIns="182880" bIns="146304" rtlCol="0" anchor="t"/>
            <a:lstStyle/>
            <a:p>
              <a:pPr defTabSz="914400" fontAlgn="base">
                <a:spcAft>
                  <a:spcPts val="600"/>
                </a:spcAft>
                <a:buClr>
                  <a:srgbClr val="F0AB00"/>
                </a:buClr>
                <a:buSzPct val="80000"/>
                <a:defRPr/>
              </a:pPr>
              <a:endParaRPr lang="en-GB" sz="1050" i="1">
                <a:gradFill>
                  <a:gsLst>
                    <a:gs pos="0">
                      <a:srgbClr val="00144A"/>
                    </a:gs>
                    <a:gs pos="100000">
                      <a:srgbClr val="00144A"/>
                    </a:gs>
                  </a:gsLst>
                  <a:lin ang="0" scaled="0"/>
                </a:gradFill>
                <a:latin typeface="72 Brand"/>
              </a:endParaRPr>
            </a:p>
          </p:txBody>
        </p:sp>
        <p:sp>
          <p:nvSpPr>
            <p:cNvPr id="56" name="TextBox 55">
              <a:extLst>
                <a:ext uri="{FF2B5EF4-FFF2-40B4-BE49-F238E27FC236}">
                  <a16:creationId xmlns:a16="http://schemas.microsoft.com/office/drawing/2014/main" id="{064C9B23-0EC6-5525-8E70-41C1C53CB921}"/>
                </a:ext>
              </a:extLst>
            </p:cNvPr>
            <p:cNvSpPr txBox="1"/>
            <p:nvPr/>
          </p:nvSpPr>
          <p:spPr>
            <a:xfrm>
              <a:off x="8640871" y="4432660"/>
              <a:ext cx="125317" cy="307777"/>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b="1" kern="0">
                  <a:solidFill>
                    <a:srgbClr val="002A86"/>
                  </a:solidFill>
                  <a:latin typeface="72 Brand" panose="020B0504030603020204" pitchFamily="34" charset="0"/>
                  <a:ea typeface="Arial Unicode MS" pitchFamily="34" charset="-128"/>
                  <a:cs typeface="72" panose="020B0503030000000003" pitchFamily="34" charset="0"/>
                </a:rPr>
                <a:t>4</a:t>
              </a:r>
            </a:p>
          </p:txBody>
        </p:sp>
      </p:grpSp>
      <p:grpSp>
        <p:nvGrpSpPr>
          <p:cNvPr id="13" name="Gruppieren 12">
            <a:extLst>
              <a:ext uri="{FF2B5EF4-FFF2-40B4-BE49-F238E27FC236}">
                <a16:creationId xmlns:a16="http://schemas.microsoft.com/office/drawing/2014/main" id="{AF23E8FE-6D27-1636-F472-78FF834D4653}"/>
              </a:ext>
            </a:extLst>
          </p:cNvPr>
          <p:cNvGrpSpPr/>
          <p:nvPr/>
        </p:nvGrpSpPr>
        <p:grpSpPr>
          <a:xfrm>
            <a:off x="8465173" y="5226216"/>
            <a:ext cx="3009635" cy="505475"/>
            <a:chOff x="8465173" y="5226216"/>
            <a:chExt cx="3009635" cy="505475"/>
          </a:xfrm>
        </p:grpSpPr>
        <p:sp>
          <p:nvSpPr>
            <p:cNvPr id="7" name="Rounded Rectangle 61">
              <a:extLst>
                <a:ext uri="{FF2B5EF4-FFF2-40B4-BE49-F238E27FC236}">
                  <a16:creationId xmlns:a16="http://schemas.microsoft.com/office/drawing/2014/main" id="{81E0D6E3-301C-413A-5465-E22D039BC899}"/>
                </a:ext>
              </a:extLst>
            </p:cNvPr>
            <p:cNvSpPr/>
            <p:nvPr/>
          </p:nvSpPr>
          <p:spPr bwMode="gray">
            <a:xfrm>
              <a:off x="8578901" y="5319222"/>
              <a:ext cx="2895907" cy="334040"/>
            </a:xfrm>
            <a:prstGeom prst="roundRect">
              <a:avLst/>
            </a:prstGeom>
            <a:solidFill>
              <a:srgbClr val="00144A"/>
            </a:solidFill>
            <a:ln w="38100" algn="ctr">
              <a:noFill/>
              <a:miter lim="800000"/>
              <a:headEnd/>
              <a:tailEnd/>
            </a:ln>
          </p:spPr>
          <p:txBody>
            <a:bodyPr lIns="498361" tIns="63293" rIns="63293" bIns="63293" rtlCol="0" anchor="ctr"/>
            <a:lstStyle/>
            <a:p>
              <a:pPr defTabSz="632842">
                <a:spcBef>
                  <a:spcPct val="50000"/>
                </a:spcBef>
                <a:buClr>
                  <a:srgbClr val="F0AB00"/>
                </a:buClr>
                <a:buSzPct val="80000"/>
              </a:pPr>
              <a:r>
                <a:rPr lang="en-US" sz="1200" kern="0">
                  <a:solidFill>
                    <a:schemeClr val="bg1"/>
                  </a:solidFill>
                  <a:latin typeface="72 Brand" panose="020B0504030603020204" pitchFamily="34" charset="0"/>
                  <a:ea typeface="Arial Unicode MS" pitchFamily="34" charset="-128"/>
                  <a:cs typeface="72" panose="020B0503030000000003" pitchFamily="34" charset="0"/>
                </a:rPr>
                <a:t>   Operations</a:t>
              </a:r>
              <a:endParaRPr lang="en-CA" sz="1200" kern="0">
                <a:solidFill>
                  <a:schemeClr val="bg1"/>
                </a:solidFill>
                <a:latin typeface="72 Brand" panose="020B0504030603020204" pitchFamily="34" charset="0"/>
                <a:ea typeface="Arial Unicode MS" pitchFamily="34" charset="-128"/>
                <a:cs typeface="72" panose="020B0503030000000003" pitchFamily="34" charset="0"/>
              </a:endParaRPr>
            </a:p>
          </p:txBody>
        </p:sp>
        <p:sp>
          <p:nvSpPr>
            <p:cNvPr id="57" name="Rectangle: Rounded Corners 37">
              <a:extLst>
                <a:ext uri="{FF2B5EF4-FFF2-40B4-BE49-F238E27FC236}">
                  <a16:creationId xmlns:a16="http://schemas.microsoft.com/office/drawing/2014/main" id="{AAA7DB7A-604A-8D45-E2BC-C45A1862B658}"/>
                </a:ext>
              </a:extLst>
            </p:cNvPr>
            <p:cNvSpPr/>
            <p:nvPr/>
          </p:nvSpPr>
          <p:spPr bwMode="gray">
            <a:xfrm>
              <a:off x="8465173" y="5226216"/>
              <a:ext cx="504000" cy="505475"/>
            </a:xfrm>
            <a:prstGeom prst="roundRect">
              <a:avLst>
                <a:gd name="adj" fmla="val 50000"/>
              </a:avLst>
            </a:prstGeom>
            <a:gradFill>
              <a:gsLst>
                <a:gs pos="0">
                  <a:schemeClr val="bg1"/>
                </a:gs>
                <a:gs pos="100000">
                  <a:srgbClr val="DDF3FF"/>
                </a:gs>
              </a:gsLst>
              <a:lin ang="2700000" scaled="1"/>
            </a:gradFill>
            <a:ln w="25400" algn="ctr">
              <a:noFill/>
              <a:miter lim="800000"/>
              <a:headEnd/>
              <a:tailEnd/>
            </a:ln>
            <a:effectLst>
              <a:outerShdw blurRad="50800" dir="2700000" algn="tl" rotWithShape="0">
                <a:prstClr val="black">
                  <a:alpha val="20000"/>
                </a:prstClr>
              </a:outerShdw>
            </a:effectLst>
          </p:spPr>
          <p:txBody>
            <a:bodyPr lIns="182880" tIns="146304" rIns="182880" bIns="146304" rtlCol="0" anchor="t"/>
            <a:lstStyle/>
            <a:p>
              <a:pPr defTabSz="914400" fontAlgn="base">
                <a:spcAft>
                  <a:spcPts val="600"/>
                </a:spcAft>
                <a:buClr>
                  <a:srgbClr val="F0AB00"/>
                </a:buClr>
                <a:buSzPct val="80000"/>
                <a:defRPr/>
              </a:pPr>
              <a:endParaRPr lang="en-GB" sz="1050" i="1">
                <a:gradFill>
                  <a:gsLst>
                    <a:gs pos="0">
                      <a:srgbClr val="00144A"/>
                    </a:gs>
                    <a:gs pos="100000">
                      <a:srgbClr val="00144A"/>
                    </a:gs>
                  </a:gsLst>
                  <a:lin ang="0" scaled="0"/>
                </a:gradFill>
                <a:latin typeface="72 Brand"/>
              </a:endParaRPr>
            </a:p>
          </p:txBody>
        </p:sp>
        <p:sp>
          <p:nvSpPr>
            <p:cNvPr id="58" name="TextBox 57">
              <a:extLst>
                <a:ext uri="{FF2B5EF4-FFF2-40B4-BE49-F238E27FC236}">
                  <a16:creationId xmlns:a16="http://schemas.microsoft.com/office/drawing/2014/main" id="{FD5FAB9A-C345-DB21-7A26-473E88B861AB}"/>
                </a:ext>
              </a:extLst>
            </p:cNvPr>
            <p:cNvSpPr txBox="1"/>
            <p:nvPr/>
          </p:nvSpPr>
          <p:spPr>
            <a:xfrm>
              <a:off x="8648491" y="5332608"/>
              <a:ext cx="125317" cy="307777"/>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2000" b="1" kern="0">
                  <a:solidFill>
                    <a:srgbClr val="00144A"/>
                  </a:solidFill>
                  <a:latin typeface="72 Brand" panose="020B0504030603020204" pitchFamily="34" charset="0"/>
                  <a:ea typeface="Arial Unicode MS" pitchFamily="34" charset="-128"/>
                  <a:cs typeface="72" panose="020B0503030000000003" pitchFamily="34" charset="0"/>
                </a:rPr>
                <a:t>5</a:t>
              </a:r>
            </a:p>
          </p:txBody>
        </p:sp>
      </p:grpSp>
    </p:spTree>
    <p:extLst>
      <p:ext uri="{BB962C8B-B14F-4D97-AF65-F5344CB8AC3E}">
        <p14:creationId xmlns:p14="http://schemas.microsoft.com/office/powerpoint/2010/main" val="1868866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10" presetClass="entr" presetSubtype="0" fill="hold" nodeType="afterEffect">
                                  <p:stCondLst>
                                    <p:cond delay="50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par>
                          <p:cTn id="12" fill="hold">
                            <p:stCondLst>
                              <p:cond delay="1500"/>
                            </p:stCondLst>
                            <p:childTnLst>
                              <p:par>
                                <p:cTn id="13" presetID="10" presetClass="entr" presetSubtype="0" fill="hold" grpId="0"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par>
                                <p:cTn id="16" presetID="42" presetClass="path" presetSubtype="0" decel="50000" fill="hold" grpId="1" nodeType="withEffect">
                                  <p:stCondLst>
                                    <p:cond delay="0"/>
                                  </p:stCondLst>
                                  <p:childTnLst>
                                    <p:animMotion origin="layout" path="M 0.0302 3.7037E-7 L -4.36865E-6 3.7037E-7 " pathEditMode="relative" rAng="0" ptsTypes="AA">
                                      <p:cBhvr>
                                        <p:cTn id="17" dur="500" fill="hold"/>
                                        <p:tgtEl>
                                          <p:spTgt spid="31"/>
                                        </p:tgtEl>
                                        <p:attrNameLst>
                                          <p:attrName>ppt_x</p:attrName>
                                          <p:attrName>ppt_y</p:attrName>
                                        </p:attrNameLst>
                                      </p:cBhvr>
                                      <p:rCtr x="-1510" y="0"/>
                                    </p:animMotion>
                                  </p:childTnLst>
                                </p:cTn>
                              </p:par>
                            </p:childTnLst>
                          </p:cTn>
                        </p:par>
                        <p:par>
                          <p:cTn id="18" fill="hold">
                            <p:stCondLst>
                              <p:cond delay="2000"/>
                            </p:stCondLst>
                            <p:childTnLst>
                              <p:par>
                                <p:cTn id="19" presetID="10" presetClass="entr" presetSubtype="0" fill="hold" nodeType="afterEffect">
                                  <p:stCondLst>
                                    <p:cond delay="50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par>
                          <p:cTn id="22" fill="hold">
                            <p:stCondLst>
                              <p:cond delay="3000"/>
                            </p:stCondLst>
                            <p:childTnLst>
                              <p:par>
                                <p:cTn id="23" presetID="10"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par>
                                <p:cTn id="26" presetID="42" presetClass="path" presetSubtype="0" decel="50000" fill="hold" grpId="1" nodeType="withEffect">
                                  <p:stCondLst>
                                    <p:cond delay="0"/>
                                  </p:stCondLst>
                                  <p:childTnLst>
                                    <p:animMotion origin="layout" path="M 0.0302 3.7037E-7 L -4.36865E-6 3.7037E-7 " pathEditMode="relative" rAng="0" ptsTypes="AA">
                                      <p:cBhvr>
                                        <p:cTn id="27" dur="500" fill="hold"/>
                                        <p:tgtEl>
                                          <p:spTgt spid="12"/>
                                        </p:tgtEl>
                                        <p:attrNameLst>
                                          <p:attrName>ppt_x</p:attrName>
                                          <p:attrName>ppt_y</p:attrName>
                                        </p:attrNameLst>
                                      </p:cBhvr>
                                      <p:rCtr x="-1510" y="0"/>
                                    </p:animMotion>
                                  </p:childTnLst>
                                </p:cTn>
                              </p:par>
                            </p:childTnLst>
                          </p:cTn>
                        </p:par>
                        <p:par>
                          <p:cTn id="28" fill="hold">
                            <p:stCondLst>
                              <p:cond delay="3500"/>
                            </p:stCondLst>
                            <p:childTnLst>
                              <p:par>
                                <p:cTn id="29" presetID="10" presetClass="entr" presetSubtype="0" fill="hold" nodeType="afterEffect">
                                  <p:stCondLst>
                                    <p:cond delay="50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500"/>
                                        <p:tgtEl>
                                          <p:spTgt spid="10"/>
                                        </p:tgtEl>
                                      </p:cBhvr>
                                    </p:animEffect>
                                  </p:childTnLst>
                                </p:cTn>
                              </p:par>
                            </p:childTnLst>
                          </p:cTn>
                        </p:par>
                        <p:par>
                          <p:cTn id="32" fill="hold">
                            <p:stCondLst>
                              <p:cond delay="4500"/>
                            </p:stCondLst>
                            <p:childTnLst>
                              <p:par>
                                <p:cTn id="33" presetID="10" presetClass="entr" presetSubtype="0" fill="hold" grpId="0" nodeType="afterEffect">
                                  <p:stCondLst>
                                    <p:cond delay="0"/>
                                  </p:stCondLst>
                                  <p:childTnLst>
                                    <p:set>
                                      <p:cBhvr>
                                        <p:cTn id="34" dur="1" fill="hold">
                                          <p:stCondLst>
                                            <p:cond delay="0"/>
                                          </p:stCondLst>
                                        </p:cTn>
                                        <p:tgtEl>
                                          <p:spTgt spid="42"/>
                                        </p:tgtEl>
                                        <p:attrNameLst>
                                          <p:attrName>style.visibility</p:attrName>
                                        </p:attrNameLst>
                                      </p:cBhvr>
                                      <p:to>
                                        <p:strVal val="visible"/>
                                      </p:to>
                                    </p:set>
                                    <p:animEffect transition="in" filter="fade">
                                      <p:cBhvr>
                                        <p:cTn id="35" dur="500"/>
                                        <p:tgtEl>
                                          <p:spTgt spid="42"/>
                                        </p:tgtEl>
                                      </p:cBhvr>
                                    </p:animEffect>
                                  </p:childTnLst>
                                </p:cTn>
                              </p:par>
                              <p:par>
                                <p:cTn id="36" presetID="42" presetClass="path" presetSubtype="0" decel="50000" fill="hold" grpId="1" nodeType="withEffect">
                                  <p:stCondLst>
                                    <p:cond delay="0"/>
                                  </p:stCondLst>
                                  <p:childTnLst>
                                    <p:animMotion origin="layout" path="M 0.0302 3.7037E-7 L -4.36865E-6 3.7037E-7 " pathEditMode="relative" rAng="0" ptsTypes="AA">
                                      <p:cBhvr>
                                        <p:cTn id="37" dur="500" fill="hold"/>
                                        <p:tgtEl>
                                          <p:spTgt spid="42"/>
                                        </p:tgtEl>
                                        <p:attrNameLst>
                                          <p:attrName>ppt_x</p:attrName>
                                          <p:attrName>ppt_y</p:attrName>
                                        </p:attrNameLst>
                                      </p:cBhvr>
                                      <p:rCtr x="-1510" y="0"/>
                                    </p:animMotion>
                                  </p:childTnLst>
                                </p:cTn>
                              </p:par>
                            </p:childTnLst>
                          </p:cTn>
                        </p:par>
                        <p:par>
                          <p:cTn id="38" fill="hold">
                            <p:stCondLst>
                              <p:cond delay="5000"/>
                            </p:stCondLst>
                            <p:childTnLst>
                              <p:par>
                                <p:cTn id="39" presetID="10" presetClass="entr" presetSubtype="0" fill="hold" nodeType="afterEffect">
                                  <p:stCondLst>
                                    <p:cond delay="50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childTnLst>
                          </p:cTn>
                        </p:par>
                        <p:par>
                          <p:cTn id="42" fill="hold">
                            <p:stCondLst>
                              <p:cond delay="6000"/>
                            </p:stCondLst>
                            <p:childTnLst>
                              <p:par>
                                <p:cTn id="43" presetID="10" presetClass="entr" presetSubtype="0" fill="hold" grpId="0" nodeType="afterEffect">
                                  <p:stCondLst>
                                    <p:cond delay="0"/>
                                  </p:stCondLst>
                                  <p:childTnLst>
                                    <p:set>
                                      <p:cBhvr>
                                        <p:cTn id="44" dur="1" fill="hold">
                                          <p:stCondLst>
                                            <p:cond delay="0"/>
                                          </p:stCondLst>
                                        </p:cTn>
                                        <p:tgtEl>
                                          <p:spTgt spid="36"/>
                                        </p:tgtEl>
                                        <p:attrNameLst>
                                          <p:attrName>style.visibility</p:attrName>
                                        </p:attrNameLst>
                                      </p:cBhvr>
                                      <p:to>
                                        <p:strVal val="visible"/>
                                      </p:to>
                                    </p:set>
                                    <p:animEffect transition="in" filter="fade">
                                      <p:cBhvr>
                                        <p:cTn id="45" dur="500"/>
                                        <p:tgtEl>
                                          <p:spTgt spid="36"/>
                                        </p:tgtEl>
                                      </p:cBhvr>
                                    </p:animEffect>
                                  </p:childTnLst>
                                </p:cTn>
                              </p:par>
                              <p:par>
                                <p:cTn id="46" presetID="42" presetClass="path" presetSubtype="0" decel="50000" fill="hold" grpId="1" nodeType="withEffect">
                                  <p:stCondLst>
                                    <p:cond delay="0"/>
                                  </p:stCondLst>
                                  <p:childTnLst>
                                    <p:animMotion origin="layout" path="M 0.0302 3.7037E-7 L -4.36865E-6 3.7037E-7 " pathEditMode="relative" rAng="0" ptsTypes="AA">
                                      <p:cBhvr>
                                        <p:cTn id="47" dur="500" fill="hold"/>
                                        <p:tgtEl>
                                          <p:spTgt spid="36"/>
                                        </p:tgtEl>
                                        <p:attrNameLst>
                                          <p:attrName>ppt_x</p:attrName>
                                          <p:attrName>ppt_y</p:attrName>
                                        </p:attrNameLst>
                                      </p:cBhvr>
                                      <p:rCtr x="-1510" y="0"/>
                                    </p:animMotion>
                                  </p:childTnLst>
                                </p:cTn>
                              </p:par>
                            </p:childTnLst>
                          </p:cTn>
                        </p:par>
                        <p:par>
                          <p:cTn id="48" fill="hold">
                            <p:stCondLst>
                              <p:cond delay="6500"/>
                            </p:stCondLst>
                            <p:childTnLst>
                              <p:par>
                                <p:cTn id="49" presetID="10" presetClass="entr" presetSubtype="0" fill="hold" nodeType="afterEffect">
                                  <p:stCondLst>
                                    <p:cond delay="50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500"/>
                                        <p:tgtEl>
                                          <p:spTgt spid="13"/>
                                        </p:tgtEl>
                                      </p:cBhvr>
                                    </p:animEffect>
                                  </p:childTnLst>
                                </p:cTn>
                              </p:par>
                            </p:childTnLst>
                          </p:cTn>
                        </p:par>
                        <p:par>
                          <p:cTn id="52" fill="hold">
                            <p:stCondLst>
                              <p:cond delay="7500"/>
                            </p:stCondLst>
                            <p:childTnLst>
                              <p:par>
                                <p:cTn id="53" presetID="10" presetClass="entr" presetSubtype="0" fill="hold" grpId="0" nodeType="after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par>
                                <p:cTn id="56" presetID="42" presetClass="path" presetSubtype="0" decel="50000" fill="hold" grpId="1" nodeType="withEffect">
                                  <p:stCondLst>
                                    <p:cond delay="0"/>
                                  </p:stCondLst>
                                  <p:childTnLst>
                                    <p:animMotion origin="layout" path="M 0.0302 3.7037E-7 L -4.36865E-6 3.7037E-7 " pathEditMode="relative" rAng="0" ptsTypes="AA">
                                      <p:cBhvr>
                                        <p:cTn id="57" dur="500" fill="hold"/>
                                        <p:tgtEl>
                                          <p:spTgt spid="4"/>
                                        </p:tgtEl>
                                        <p:attrNameLst>
                                          <p:attrName>ppt_x</p:attrName>
                                          <p:attrName>ppt_y</p:attrName>
                                        </p:attrNameLst>
                                      </p:cBhvr>
                                      <p:rCtr x="-1510" y="0"/>
                                    </p:animMotion>
                                  </p:childTnLst>
                                </p:cTn>
                              </p:par>
                            </p:childTnLst>
                          </p:cTn>
                        </p:par>
                        <p:par>
                          <p:cTn id="58" fill="hold">
                            <p:stCondLst>
                              <p:cond delay="8000"/>
                            </p:stCondLst>
                            <p:childTnLst>
                              <p:par>
                                <p:cTn id="59" presetID="10" presetClass="entr" presetSubtype="0" fill="hold" grpId="0" nodeType="afterEffect">
                                  <p:stCondLst>
                                    <p:cond delay="500"/>
                                  </p:stCondLst>
                                  <p:childTnLst>
                                    <p:set>
                                      <p:cBhvr>
                                        <p:cTn id="60" dur="1" fill="hold">
                                          <p:stCondLst>
                                            <p:cond delay="0"/>
                                          </p:stCondLst>
                                        </p:cTn>
                                        <p:tgtEl>
                                          <p:spTgt spid="45"/>
                                        </p:tgtEl>
                                        <p:attrNameLst>
                                          <p:attrName>style.visibility</p:attrName>
                                        </p:attrNameLst>
                                      </p:cBhvr>
                                      <p:to>
                                        <p:strVal val="visible"/>
                                      </p:to>
                                    </p:set>
                                    <p:animEffect transition="in" filter="fade">
                                      <p:cBhvr>
                                        <p:cTn id="61" dur="500"/>
                                        <p:tgtEl>
                                          <p:spTgt spid="45"/>
                                        </p:tgtEl>
                                      </p:cBhvr>
                                    </p:animEffect>
                                  </p:childTnLst>
                                </p:cTn>
                              </p:par>
                            </p:childTnLst>
                          </p:cTn>
                        </p:par>
                        <p:par>
                          <p:cTn id="62" fill="hold">
                            <p:stCondLst>
                              <p:cond delay="9000"/>
                            </p:stCondLst>
                            <p:childTnLst>
                              <p:par>
                                <p:cTn id="63" presetID="10" presetClass="entr" presetSubtype="0" fill="hold" grpId="0" nodeType="afterEffect">
                                  <p:stCondLst>
                                    <p:cond delay="500"/>
                                  </p:stCondLst>
                                  <p:childTnLst>
                                    <p:set>
                                      <p:cBhvr>
                                        <p:cTn id="64" dur="1" fill="hold">
                                          <p:stCondLst>
                                            <p:cond delay="0"/>
                                          </p:stCondLst>
                                        </p:cTn>
                                        <p:tgtEl>
                                          <p:spTgt spid="2"/>
                                        </p:tgtEl>
                                        <p:attrNameLst>
                                          <p:attrName>style.visibility</p:attrName>
                                        </p:attrNameLst>
                                      </p:cBhvr>
                                      <p:to>
                                        <p:strVal val="visible"/>
                                      </p:to>
                                    </p:set>
                                    <p:animEffect transition="in" filter="fade">
                                      <p:cBhvr>
                                        <p:cTn id="6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31" grpId="0"/>
      <p:bldP spid="31" grpId="1"/>
      <p:bldP spid="36" grpId="0"/>
      <p:bldP spid="36" grpId="1"/>
      <p:bldP spid="42" grpId="0"/>
      <p:bldP spid="42" grpId="1"/>
      <p:bldP spid="4" grpId="0"/>
      <p:bldP spid="4" grpId="1"/>
      <p:bldP spid="2" grpId="0" animBg="1"/>
      <p:bldP spid="4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27472-B659-3734-0470-016333F8E493}"/>
            </a:ext>
          </a:extLst>
        </p:cNvPr>
        <p:cNvGrpSpPr/>
        <p:nvPr/>
      </p:nvGrpSpPr>
      <p:grpSpPr>
        <a:xfrm>
          <a:off x="0" y="0"/>
          <a:ext cx="0" cy="0"/>
          <a:chOff x="0" y="0"/>
          <a:chExt cx="0" cy="0"/>
        </a:xfrm>
      </p:grpSpPr>
      <p:sp>
        <p:nvSpPr>
          <p:cNvPr id="98" name="Rechteck 97">
            <a:extLst>
              <a:ext uri="{FF2B5EF4-FFF2-40B4-BE49-F238E27FC236}">
                <a16:creationId xmlns:a16="http://schemas.microsoft.com/office/drawing/2014/main" id="{3B3023F6-072B-F835-FD69-487A2EFFF7D4}"/>
              </a:ext>
            </a:extLst>
          </p:cNvPr>
          <p:cNvSpPr/>
          <p:nvPr/>
        </p:nvSpPr>
        <p:spPr bwMode="gray">
          <a:xfrm>
            <a:off x="11510112" y="4973393"/>
            <a:ext cx="183584" cy="1091252"/>
          </a:xfrm>
          <a:prstGeom prst="rect">
            <a:avLst/>
          </a:prstGeom>
          <a:solidFill>
            <a:srgbClr val="1B90FF"/>
          </a:solidFill>
          <a:ln w="1270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99" name="Rechteck 98">
            <a:extLst>
              <a:ext uri="{FF2B5EF4-FFF2-40B4-BE49-F238E27FC236}">
                <a16:creationId xmlns:a16="http://schemas.microsoft.com/office/drawing/2014/main" id="{7AB9C597-D404-7B94-86D0-0AB7A8909AE0}"/>
              </a:ext>
            </a:extLst>
          </p:cNvPr>
          <p:cNvSpPr/>
          <p:nvPr/>
        </p:nvSpPr>
        <p:spPr bwMode="gray">
          <a:xfrm>
            <a:off x="11510112" y="3891899"/>
            <a:ext cx="183584" cy="1090844"/>
          </a:xfrm>
          <a:prstGeom prst="rect">
            <a:avLst/>
          </a:prstGeom>
          <a:solidFill>
            <a:srgbClr val="0070F2"/>
          </a:solidFill>
          <a:ln w="1270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00" name="Rechteck 99">
            <a:extLst>
              <a:ext uri="{FF2B5EF4-FFF2-40B4-BE49-F238E27FC236}">
                <a16:creationId xmlns:a16="http://schemas.microsoft.com/office/drawing/2014/main" id="{086ABBAC-7913-345C-D0B6-F827D2A07FDF}"/>
              </a:ext>
            </a:extLst>
          </p:cNvPr>
          <p:cNvSpPr/>
          <p:nvPr/>
        </p:nvSpPr>
        <p:spPr bwMode="gray">
          <a:xfrm>
            <a:off x="11510112" y="2797135"/>
            <a:ext cx="183584" cy="1104822"/>
          </a:xfrm>
          <a:prstGeom prst="rect">
            <a:avLst/>
          </a:prstGeom>
          <a:solidFill>
            <a:srgbClr val="002A86"/>
          </a:solidFill>
          <a:ln w="1270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1800" b="0" i="0" u="none" strike="noStrike" kern="0" cap="none" spc="0" normalizeH="0" baseline="0" noProof="0">
              <a:ln>
                <a:noFill/>
              </a:ln>
              <a:effectLst/>
              <a:uLnTx/>
              <a:uFillTx/>
              <a:latin typeface="+mn-lt"/>
              <a:ea typeface="Arial Unicode MS" pitchFamily="34" charset="-128"/>
              <a:cs typeface="Arial Unicode MS" pitchFamily="34" charset="-128"/>
            </a:endParaRPr>
          </a:p>
        </p:txBody>
      </p:sp>
      <p:sp>
        <p:nvSpPr>
          <p:cNvPr id="101" name="Rectangle 23">
            <a:extLst>
              <a:ext uri="{FF2B5EF4-FFF2-40B4-BE49-F238E27FC236}">
                <a16:creationId xmlns:a16="http://schemas.microsoft.com/office/drawing/2014/main" id="{2699709D-064D-0A69-8634-77A7A78BDEEF}"/>
              </a:ext>
            </a:extLst>
          </p:cNvPr>
          <p:cNvSpPr/>
          <p:nvPr/>
        </p:nvSpPr>
        <p:spPr bwMode="gray">
          <a:xfrm>
            <a:off x="11414805" y="1749280"/>
            <a:ext cx="372057" cy="1066505"/>
          </a:xfrm>
          <a:prstGeom prst="upArrow">
            <a:avLst/>
          </a:prstGeom>
          <a:solidFill>
            <a:srgbClr val="00144A"/>
          </a:solidFill>
          <a:ln w="12700" algn="ctr">
            <a:solidFill>
              <a:schemeClr val="bg1"/>
            </a:solidFill>
            <a:miter lim="800000"/>
            <a:headEnd/>
            <a:tailEnd/>
          </a:ln>
        </p:spPr>
        <p:txBody>
          <a:bodyPr lIns="90000" tIns="72000" rIns="90000" bIns="72000" rtlCol="0" anchor="t"/>
          <a:lstStyle/>
          <a:p>
            <a:pPr algn="ctr" defTabSz="914400" fontAlgn="base">
              <a:spcBef>
                <a:spcPct val="50000"/>
              </a:spcBef>
              <a:spcAft>
                <a:spcPct val="0"/>
              </a:spcAft>
              <a:buClr>
                <a:srgbClr val="F0AB00"/>
              </a:buClr>
              <a:buSzPct val="80000"/>
            </a:pPr>
            <a:endParaRPr lang="en-DE" sz="900" kern="0">
              <a:solidFill>
                <a:srgbClr val="000000"/>
              </a:solidFill>
              <a:latin typeface="72 Brand"/>
            </a:endParaRPr>
          </a:p>
        </p:txBody>
      </p:sp>
      <p:sp>
        <p:nvSpPr>
          <p:cNvPr id="102" name="TextBox 20">
            <a:extLst>
              <a:ext uri="{FF2B5EF4-FFF2-40B4-BE49-F238E27FC236}">
                <a16:creationId xmlns:a16="http://schemas.microsoft.com/office/drawing/2014/main" id="{E02744E2-53A2-74EA-3157-961A61C6C320}"/>
              </a:ext>
            </a:extLst>
          </p:cNvPr>
          <p:cNvSpPr txBox="1"/>
          <p:nvPr/>
        </p:nvSpPr>
        <p:spPr>
          <a:xfrm>
            <a:off x="10906552" y="988639"/>
            <a:ext cx="1382092" cy="430887"/>
          </a:xfrm>
          <a:prstGeom prst="rect">
            <a:avLst/>
          </a:prstGeom>
          <a:noFill/>
        </p:spPr>
        <p:txBody>
          <a:bodyPr wrap="square" lIns="0" tIns="0" rIns="0" bIns="0" rtlCol="0">
            <a:spAutoFit/>
          </a:bodyPr>
          <a:lstStyle/>
          <a:p>
            <a:pPr marL="0" marR="0" lvl="0" indent="0" algn="ctr"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4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Clean core </a:t>
            </a:r>
            <a:br>
              <a:rPr kumimoji="0" lang="en-GB" sz="14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br>
            <a:r>
              <a:rPr kumimoji="0" lang="en-GB" sz="14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levels</a:t>
            </a:r>
            <a:endParaRPr kumimoji="0" lang="de-DE" sz="14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endParaRPr>
          </a:p>
        </p:txBody>
      </p:sp>
      <p:sp>
        <p:nvSpPr>
          <p:cNvPr id="103" name="TextBox 20">
            <a:extLst>
              <a:ext uri="{FF2B5EF4-FFF2-40B4-BE49-F238E27FC236}">
                <a16:creationId xmlns:a16="http://schemas.microsoft.com/office/drawing/2014/main" id="{5FC992FA-E560-6ABD-9282-CCE0933F6F10}"/>
              </a:ext>
            </a:extLst>
          </p:cNvPr>
          <p:cNvSpPr txBox="1"/>
          <p:nvPr/>
        </p:nvSpPr>
        <p:spPr>
          <a:xfrm>
            <a:off x="11218786" y="1557369"/>
            <a:ext cx="757624" cy="138499"/>
          </a:xfrm>
          <a:prstGeom prst="rect">
            <a:avLst/>
          </a:prstGeom>
          <a:noFill/>
        </p:spPr>
        <p:txBody>
          <a:bodyPr wrap="square" lIns="0" tIns="0" rIns="0" bIns="0" rtlCol="0">
            <a:spAutoFit/>
          </a:bodyPr>
          <a:lstStyle/>
          <a:p>
            <a:pPr marL="0" marR="0" lvl="0" indent="0" algn="ctr"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90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highest</a:t>
            </a:r>
            <a:endParaRPr kumimoji="0" lang="de-DE" sz="90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endParaRPr>
          </a:p>
        </p:txBody>
      </p:sp>
      <p:sp>
        <p:nvSpPr>
          <p:cNvPr id="104" name="TextBox 20">
            <a:extLst>
              <a:ext uri="{FF2B5EF4-FFF2-40B4-BE49-F238E27FC236}">
                <a16:creationId xmlns:a16="http://schemas.microsoft.com/office/drawing/2014/main" id="{9ACE22F3-2F36-21A9-173C-E9509EEABF56}"/>
              </a:ext>
            </a:extLst>
          </p:cNvPr>
          <p:cNvSpPr txBox="1"/>
          <p:nvPr/>
        </p:nvSpPr>
        <p:spPr>
          <a:xfrm>
            <a:off x="11494278" y="2225164"/>
            <a:ext cx="207057" cy="184666"/>
          </a:xfrm>
          <a:prstGeom prst="rect">
            <a:avLst/>
          </a:prstGeom>
          <a:noFill/>
        </p:spPr>
        <p:txBody>
          <a:bodyPr wrap="square" lIns="0" tIns="0" rIns="0" bIns="0" rtlCol="0">
            <a:spAutoFit/>
          </a:bodyPr>
          <a:lstStyle/>
          <a:p>
            <a:pPr marL="0" marR="0" lvl="0" indent="0" algn="ctr" defTabSz="1088776" rtl="0" eaLnBrk="1" fontAlgn="base" latinLnBrk="0" hangingPunct="1">
              <a:lnSpc>
                <a:spcPct val="100000"/>
              </a:lnSpc>
              <a:spcBef>
                <a:spcPct val="50000"/>
              </a:spcBef>
              <a:spcAft>
                <a:spcPct val="0"/>
              </a:spcAft>
              <a:buClr>
                <a:srgbClr val="000000"/>
              </a:buClr>
              <a:buSzPct val="100000"/>
              <a:buFontTx/>
              <a:buNone/>
              <a:tabLst/>
              <a:defRPr/>
            </a:pPr>
            <a:r>
              <a:rPr kumimoji="0" lang="de-DE" sz="1200" b="1" i="0" u="none" strike="noStrike" kern="0" cap="none" spc="0" normalizeH="0" baseline="0" noProof="0">
                <a:ln>
                  <a:noFill/>
                </a:ln>
                <a:solidFill>
                  <a:schemeClr val="bg1"/>
                </a:solidFill>
                <a:effectLst/>
                <a:uLnTx/>
                <a:uFillTx/>
                <a:latin typeface="72 Brand" panose="020B0504030603020204" pitchFamily="34" charset="0"/>
                <a:ea typeface="Arial Unicode MS" pitchFamily="34" charset="-128"/>
                <a:cs typeface="Arial Unicode MS" pitchFamily="34" charset="-128"/>
              </a:rPr>
              <a:t>A</a:t>
            </a:r>
          </a:p>
        </p:txBody>
      </p:sp>
      <p:sp>
        <p:nvSpPr>
          <p:cNvPr id="106" name="TextBox 20">
            <a:extLst>
              <a:ext uri="{FF2B5EF4-FFF2-40B4-BE49-F238E27FC236}">
                <a16:creationId xmlns:a16="http://schemas.microsoft.com/office/drawing/2014/main" id="{F76F4BAD-CA00-5EC4-80B8-478F7B783F4C}"/>
              </a:ext>
            </a:extLst>
          </p:cNvPr>
          <p:cNvSpPr txBox="1"/>
          <p:nvPr/>
        </p:nvSpPr>
        <p:spPr>
          <a:xfrm>
            <a:off x="11515298" y="3261509"/>
            <a:ext cx="176919" cy="184666"/>
          </a:xfrm>
          <a:prstGeom prst="rect">
            <a:avLst/>
          </a:prstGeom>
          <a:noFill/>
        </p:spPr>
        <p:txBody>
          <a:bodyPr wrap="square" lIns="0" tIns="0" rIns="0" bIns="0" rtlCol="0">
            <a:spAutoFit/>
          </a:bodyPr>
          <a:lstStyle/>
          <a:p>
            <a:pPr marL="0" marR="0" lvl="0" indent="0" algn="ctr" defTabSz="1088776" rtl="0" eaLnBrk="1" fontAlgn="base" latinLnBrk="0" hangingPunct="1">
              <a:lnSpc>
                <a:spcPct val="100000"/>
              </a:lnSpc>
              <a:spcBef>
                <a:spcPct val="50000"/>
              </a:spcBef>
              <a:spcAft>
                <a:spcPct val="0"/>
              </a:spcAft>
              <a:buClr>
                <a:srgbClr val="000000"/>
              </a:buClr>
              <a:buSzPct val="100000"/>
              <a:buFontTx/>
              <a:buNone/>
              <a:tabLst/>
              <a:defRPr/>
            </a:pPr>
            <a:r>
              <a:rPr kumimoji="0" lang="de-DE" sz="1200" b="1" i="0" u="none" strike="noStrike" kern="0" cap="none" spc="0" normalizeH="0" baseline="0" noProof="0">
                <a:ln>
                  <a:noFill/>
                </a:ln>
                <a:solidFill>
                  <a:schemeClr val="bg1"/>
                </a:solidFill>
                <a:effectLst/>
                <a:uLnTx/>
                <a:uFillTx/>
                <a:latin typeface="72 Brand" panose="020B0504030603020204" pitchFamily="34" charset="0"/>
                <a:ea typeface="Arial Unicode MS" pitchFamily="34" charset="-128"/>
                <a:cs typeface="Arial Unicode MS" pitchFamily="34" charset="-128"/>
              </a:rPr>
              <a:t>B</a:t>
            </a:r>
          </a:p>
        </p:txBody>
      </p:sp>
      <p:sp>
        <p:nvSpPr>
          <p:cNvPr id="107" name="TextBox 20">
            <a:extLst>
              <a:ext uri="{FF2B5EF4-FFF2-40B4-BE49-F238E27FC236}">
                <a16:creationId xmlns:a16="http://schemas.microsoft.com/office/drawing/2014/main" id="{7BD7691D-08EB-EA50-3F1E-B431D9516BDA}"/>
              </a:ext>
            </a:extLst>
          </p:cNvPr>
          <p:cNvSpPr txBox="1"/>
          <p:nvPr/>
        </p:nvSpPr>
        <p:spPr>
          <a:xfrm>
            <a:off x="11494278" y="4359786"/>
            <a:ext cx="207057" cy="184666"/>
          </a:xfrm>
          <a:prstGeom prst="rect">
            <a:avLst/>
          </a:prstGeom>
          <a:noFill/>
        </p:spPr>
        <p:txBody>
          <a:bodyPr wrap="square" lIns="0" tIns="0" rIns="0" bIns="0" rtlCol="0">
            <a:spAutoFit/>
          </a:bodyPr>
          <a:lstStyle/>
          <a:p>
            <a:pPr marL="0" marR="0" lvl="0" indent="0" algn="ctr" defTabSz="1088776" rtl="0" eaLnBrk="1" fontAlgn="base" latinLnBrk="0" hangingPunct="1">
              <a:lnSpc>
                <a:spcPct val="100000"/>
              </a:lnSpc>
              <a:spcBef>
                <a:spcPct val="50000"/>
              </a:spcBef>
              <a:spcAft>
                <a:spcPct val="0"/>
              </a:spcAft>
              <a:buClr>
                <a:srgbClr val="000000"/>
              </a:buClr>
              <a:buSzPct val="100000"/>
              <a:buFontTx/>
              <a:buNone/>
              <a:tabLst/>
              <a:defRPr/>
            </a:pPr>
            <a:r>
              <a:rPr kumimoji="0" lang="de-DE" sz="1200" b="1" i="0" u="none" strike="noStrike" kern="0" cap="none" spc="0" normalizeH="0" baseline="0" noProof="0">
                <a:ln>
                  <a:noFill/>
                </a:ln>
                <a:solidFill>
                  <a:schemeClr val="bg1"/>
                </a:solidFill>
                <a:effectLst/>
                <a:uLnTx/>
                <a:uFillTx/>
                <a:latin typeface="72 Brand" panose="020B0504030603020204" pitchFamily="34" charset="0"/>
                <a:ea typeface="Arial Unicode MS" pitchFamily="34" charset="-128"/>
                <a:cs typeface="Arial Unicode MS" pitchFamily="34" charset="-128"/>
              </a:rPr>
              <a:t>C</a:t>
            </a:r>
          </a:p>
        </p:txBody>
      </p:sp>
      <p:sp>
        <p:nvSpPr>
          <p:cNvPr id="108" name="TextBox 20">
            <a:extLst>
              <a:ext uri="{FF2B5EF4-FFF2-40B4-BE49-F238E27FC236}">
                <a16:creationId xmlns:a16="http://schemas.microsoft.com/office/drawing/2014/main" id="{27FF0547-6F11-EBEF-24DE-666E3F85BA8C}"/>
              </a:ext>
            </a:extLst>
          </p:cNvPr>
          <p:cNvSpPr txBox="1"/>
          <p:nvPr/>
        </p:nvSpPr>
        <p:spPr>
          <a:xfrm>
            <a:off x="11515298" y="5422267"/>
            <a:ext cx="176919" cy="184666"/>
          </a:xfrm>
          <a:prstGeom prst="rect">
            <a:avLst/>
          </a:prstGeom>
          <a:noFill/>
        </p:spPr>
        <p:txBody>
          <a:bodyPr wrap="square" lIns="0" tIns="0" rIns="0" bIns="0" rtlCol="0">
            <a:spAutoFit/>
          </a:bodyPr>
          <a:lstStyle/>
          <a:p>
            <a:pPr marL="0" marR="0" lvl="0" indent="0" algn="ctr" defTabSz="1088776" rtl="0" eaLnBrk="1" fontAlgn="base" latinLnBrk="0" hangingPunct="1">
              <a:lnSpc>
                <a:spcPct val="100000"/>
              </a:lnSpc>
              <a:spcBef>
                <a:spcPct val="50000"/>
              </a:spcBef>
              <a:spcAft>
                <a:spcPct val="0"/>
              </a:spcAft>
              <a:buClr>
                <a:srgbClr val="000000"/>
              </a:buClr>
              <a:buSzPct val="100000"/>
              <a:buFontTx/>
              <a:buNone/>
              <a:tabLst/>
              <a:defRPr/>
            </a:pPr>
            <a:r>
              <a:rPr kumimoji="0" lang="de-DE" sz="1200" b="1" i="0" u="none" strike="noStrike" kern="0" cap="none" spc="0" normalizeH="0" baseline="0" noProof="0">
                <a:ln>
                  <a:noFill/>
                </a:ln>
                <a:solidFill>
                  <a:schemeClr val="bg1"/>
                </a:solidFill>
                <a:effectLst/>
                <a:uLnTx/>
                <a:uFillTx/>
                <a:latin typeface="72 Brand" panose="020B0504030603020204" pitchFamily="34" charset="0"/>
                <a:ea typeface="Arial Unicode MS" pitchFamily="34" charset="-128"/>
                <a:cs typeface="Arial Unicode MS" pitchFamily="34" charset="-128"/>
              </a:rPr>
              <a:t>D</a:t>
            </a:r>
          </a:p>
        </p:txBody>
      </p:sp>
      <p:sp>
        <p:nvSpPr>
          <p:cNvPr id="109" name="TextBox 20">
            <a:extLst>
              <a:ext uri="{FF2B5EF4-FFF2-40B4-BE49-F238E27FC236}">
                <a16:creationId xmlns:a16="http://schemas.microsoft.com/office/drawing/2014/main" id="{74B918EB-1104-23E7-29E5-ED4217C30ED8}"/>
              </a:ext>
            </a:extLst>
          </p:cNvPr>
          <p:cNvSpPr txBox="1"/>
          <p:nvPr/>
        </p:nvSpPr>
        <p:spPr>
          <a:xfrm>
            <a:off x="11263391" y="6114857"/>
            <a:ext cx="668414" cy="138499"/>
          </a:xfrm>
          <a:prstGeom prst="rect">
            <a:avLst/>
          </a:prstGeom>
          <a:noFill/>
        </p:spPr>
        <p:txBody>
          <a:bodyPr wrap="square" lIns="0" tIns="0" rIns="0" bIns="0" rtlCol="0">
            <a:spAutoFit/>
          </a:bodyPr>
          <a:lstStyle/>
          <a:p>
            <a:pPr marL="0" marR="0" lvl="0" indent="0" algn="ctr"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90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lowest</a:t>
            </a:r>
            <a:endParaRPr kumimoji="0" lang="de-DE" sz="90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endParaRPr>
          </a:p>
        </p:txBody>
      </p:sp>
      <p:sp>
        <p:nvSpPr>
          <p:cNvPr id="8" name="Arrow: Pentagon 7">
            <a:extLst>
              <a:ext uri="{FF2B5EF4-FFF2-40B4-BE49-F238E27FC236}">
                <a16:creationId xmlns:a16="http://schemas.microsoft.com/office/drawing/2014/main" id="{D1CFF38B-28CD-6802-9A11-CD88064E7709}"/>
              </a:ext>
            </a:extLst>
          </p:cNvPr>
          <p:cNvSpPr/>
          <p:nvPr/>
        </p:nvSpPr>
        <p:spPr bwMode="auto">
          <a:xfrm>
            <a:off x="5237566" y="1735172"/>
            <a:ext cx="4227312" cy="1080000"/>
          </a:xfrm>
          <a:prstGeom prst="homePlate">
            <a:avLst/>
          </a:prstGeom>
          <a:solidFill>
            <a:srgbClr val="0014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de-DE" sz="2000" b="1" u="none" strike="noStrike" kern="1200" cap="none" spc="0" normalizeH="0" baseline="0" noProof="0">
                <a:ln>
                  <a:noFill/>
                </a:ln>
                <a:solidFill>
                  <a:schemeClr val="bg1">
                    <a:alpha val="99000"/>
                  </a:schemeClr>
                </a:solidFill>
                <a:effectLst/>
                <a:uLnTx/>
                <a:uFillTx/>
                <a:latin typeface="72 Brand"/>
                <a:ea typeface="Segoe UI" pitchFamily="34" charset="0"/>
                <a:cs typeface="Arial" panose="020B0604020202020204" pitchFamily="34" charset="0"/>
              </a:rPr>
              <a:t>A</a:t>
            </a:r>
          </a:p>
        </p:txBody>
      </p:sp>
      <p:sp>
        <p:nvSpPr>
          <p:cNvPr id="3" name="Rounded Rectangle 3">
            <a:extLst>
              <a:ext uri="{FF2B5EF4-FFF2-40B4-BE49-F238E27FC236}">
                <a16:creationId xmlns:a16="http://schemas.microsoft.com/office/drawing/2014/main" id="{E9937A8C-1C4C-F829-874A-DD8659BD7FF5}"/>
              </a:ext>
            </a:extLst>
          </p:cNvPr>
          <p:cNvSpPr/>
          <p:nvPr/>
        </p:nvSpPr>
        <p:spPr>
          <a:xfrm>
            <a:off x="48211" y="800101"/>
            <a:ext cx="5189356" cy="5566403"/>
          </a:xfrm>
          <a:prstGeom prst="roundRect">
            <a:avLst>
              <a:gd name="adj" fmla="val 2752"/>
            </a:avLst>
          </a:prstGeom>
          <a:solidFill>
            <a:schemeClr val="bg1"/>
          </a:solidFill>
          <a:ln w="9525">
            <a:solidFill>
              <a:srgbClr val="89D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10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3" name="Text 23">
            <a:extLst>
              <a:ext uri="{FF2B5EF4-FFF2-40B4-BE49-F238E27FC236}">
                <a16:creationId xmlns:a16="http://schemas.microsoft.com/office/drawing/2014/main" id="{33CFACED-0968-2832-285F-FDF24108CD74}"/>
              </a:ext>
            </a:extLst>
          </p:cNvPr>
          <p:cNvSpPr/>
          <p:nvPr/>
        </p:nvSpPr>
        <p:spPr>
          <a:xfrm>
            <a:off x="286648" y="904291"/>
            <a:ext cx="4125331" cy="362348"/>
          </a:xfrm>
          <a:prstGeom prst="rect">
            <a:avLst/>
          </a:prstGeom>
          <a:noFill/>
          <a:ln/>
        </p:spPr>
        <p:txBody>
          <a:bodyPr wrap="square" lIns="0" tIns="0" rIns="0" bIns="0" rtlCol="0" anchor="t"/>
          <a:lstStyle/>
          <a:p>
            <a:pPr marL="0" marR="0" lvl="0" indent="0" algn="l" defTabSz="1088776" rtl="0" eaLnBrk="1" fontAlgn="auto" latinLnBrk="0" hangingPunct="1">
              <a:spcBef>
                <a:spcPts val="0"/>
              </a:spcBef>
              <a:spcAft>
                <a:spcPts val="0"/>
              </a:spcAft>
              <a:buClrTx/>
              <a:buSzTx/>
              <a:buFontTx/>
              <a:buNone/>
              <a:tabLst/>
              <a:defRPr/>
            </a:pPr>
            <a:r>
              <a:rPr kumimoji="0" lang="en-US" sz="1400" u="none" strike="noStrike" kern="1200" cap="none" spc="0" normalizeH="0" baseline="0" noProof="0" dirty="0">
                <a:ln>
                  <a:noFill/>
                </a:ln>
                <a:solidFill>
                  <a:srgbClr val="002A86"/>
                </a:solidFill>
                <a:effectLst/>
                <a:uLnTx/>
                <a:uFillTx/>
                <a:latin typeface="+mj-lt"/>
                <a:ea typeface="72 Bold" pitchFamily="34" charset="-122"/>
                <a:cs typeface="72 Bold" pitchFamily="34" charset="-120"/>
              </a:rPr>
              <a:t>SAP S/4HANA Cloud Private Edition</a:t>
            </a:r>
            <a:endParaRPr kumimoji="0" lang="en-US" sz="1400" i="0" u="none" strike="noStrike" kern="1200" cap="none" spc="0" normalizeH="0" baseline="0" noProof="0" dirty="0">
              <a:ln>
                <a:noFill/>
              </a:ln>
              <a:solidFill>
                <a:srgbClr val="002A86"/>
              </a:solidFill>
              <a:effectLst/>
              <a:uLnTx/>
              <a:uFillTx/>
              <a:latin typeface="+mj-lt"/>
              <a:ea typeface="+mn-ea"/>
              <a:cs typeface="+mn-cs"/>
            </a:endParaRPr>
          </a:p>
        </p:txBody>
      </p:sp>
      <p:sp>
        <p:nvSpPr>
          <p:cNvPr id="42" name="Title 1">
            <a:extLst>
              <a:ext uri="{FF2B5EF4-FFF2-40B4-BE49-F238E27FC236}">
                <a16:creationId xmlns:a16="http://schemas.microsoft.com/office/drawing/2014/main" id="{760E5510-5243-C1E4-4CA0-BE1C0DB9181C}"/>
              </a:ext>
            </a:extLst>
          </p:cNvPr>
          <p:cNvSpPr>
            <a:spLocks noGrp="1"/>
          </p:cNvSpPr>
          <p:nvPr>
            <p:ph type="title"/>
          </p:nvPr>
        </p:nvSpPr>
        <p:spPr>
          <a:xfrm>
            <a:off x="504349" y="262864"/>
            <a:ext cx="11186476" cy="369332"/>
          </a:xfrm>
        </p:spPr>
        <p:txBody>
          <a:bodyPr/>
          <a:lstStyle/>
          <a:p>
            <a:pPr defTabSz="1088558">
              <a:spcBef>
                <a:spcPts val="0"/>
              </a:spcBef>
              <a:defRPr/>
            </a:pPr>
            <a:r>
              <a:rPr lang="en-GB" sz="2400" dirty="0"/>
              <a:t>Clean core extensibility model</a:t>
            </a:r>
            <a:endParaRPr lang="en-US" sz="1800" kern="1200" dirty="0">
              <a:solidFill>
                <a:schemeClr val="tx1"/>
              </a:solidFill>
              <a:latin typeface="+mn-lt"/>
              <a:ea typeface="+mn-ea"/>
              <a:cs typeface="+mn-cs"/>
            </a:endParaRPr>
          </a:p>
        </p:txBody>
      </p:sp>
      <p:sp>
        <p:nvSpPr>
          <p:cNvPr id="5" name="Arrow: Pentagon 4">
            <a:extLst>
              <a:ext uri="{FF2B5EF4-FFF2-40B4-BE49-F238E27FC236}">
                <a16:creationId xmlns:a16="http://schemas.microsoft.com/office/drawing/2014/main" id="{FDEB4261-AFBF-1DC0-F432-C483F54453C6}"/>
              </a:ext>
            </a:extLst>
          </p:cNvPr>
          <p:cNvSpPr/>
          <p:nvPr/>
        </p:nvSpPr>
        <p:spPr bwMode="auto">
          <a:xfrm>
            <a:off x="5237568" y="4976893"/>
            <a:ext cx="2559425" cy="1080000"/>
          </a:xfrm>
          <a:prstGeom prst="homePlate">
            <a:avLst/>
          </a:prstGeom>
          <a:solidFill>
            <a:srgbClr val="1B90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de-DE" sz="2000" b="1" u="none" strike="noStrike" kern="1200" cap="none" spc="0" normalizeH="0" baseline="0" noProof="0">
                <a:ln>
                  <a:noFill/>
                </a:ln>
                <a:solidFill>
                  <a:schemeClr val="bg1">
                    <a:alpha val="99000"/>
                  </a:schemeClr>
                </a:solidFill>
                <a:effectLst/>
                <a:uLnTx/>
                <a:uFillTx/>
                <a:latin typeface="72 Brand"/>
                <a:ea typeface="Segoe UI" pitchFamily="34" charset="0"/>
                <a:cs typeface="Arial" panose="020B0604020202020204" pitchFamily="34" charset="0"/>
              </a:rPr>
              <a:t>D</a:t>
            </a:r>
          </a:p>
        </p:txBody>
      </p:sp>
      <p:sp>
        <p:nvSpPr>
          <p:cNvPr id="6" name="Arrow: Pentagon 5">
            <a:extLst>
              <a:ext uri="{FF2B5EF4-FFF2-40B4-BE49-F238E27FC236}">
                <a16:creationId xmlns:a16="http://schemas.microsoft.com/office/drawing/2014/main" id="{447E6089-0DE2-C369-E80A-1E6ADDC40842}"/>
              </a:ext>
            </a:extLst>
          </p:cNvPr>
          <p:cNvSpPr/>
          <p:nvPr/>
        </p:nvSpPr>
        <p:spPr bwMode="auto">
          <a:xfrm>
            <a:off x="5237568" y="3897486"/>
            <a:ext cx="3121355" cy="1080000"/>
          </a:xfrm>
          <a:prstGeom prst="homePlate">
            <a:avLst/>
          </a:prstGeom>
          <a:solidFill>
            <a:srgbClr val="0070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de-DE" sz="2000" b="1" u="none" strike="noStrike" kern="1200" cap="none" spc="0" normalizeH="0" baseline="0" noProof="0">
                <a:ln>
                  <a:noFill/>
                </a:ln>
                <a:solidFill>
                  <a:schemeClr val="bg1">
                    <a:alpha val="99000"/>
                  </a:schemeClr>
                </a:solidFill>
                <a:effectLst/>
                <a:uLnTx/>
                <a:uFillTx/>
                <a:latin typeface="72 Brand"/>
                <a:ea typeface="Segoe UI" pitchFamily="34" charset="0"/>
                <a:cs typeface="Arial" panose="020B0604020202020204" pitchFamily="34" charset="0"/>
              </a:rPr>
              <a:t>C</a:t>
            </a:r>
          </a:p>
        </p:txBody>
      </p:sp>
      <p:sp>
        <p:nvSpPr>
          <p:cNvPr id="7" name="Arrow: Pentagon 6">
            <a:extLst>
              <a:ext uri="{FF2B5EF4-FFF2-40B4-BE49-F238E27FC236}">
                <a16:creationId xmlns:a16="http://schemas.microsoft.com/office/drawing/2014/main" id="{45CB5B46-00F1-F6FD-528C-A7B4978E7D50}"/>
              </a:ext>
            </a:extLst>
          </p:cNvPr>
          <p:cNvSpPr/>
          <p:nvPr/>
        </p:nvSpPr>
        <p:spPr bwMode="auto">
          <a:xfrm>
            <a:off x="5237567" y="2815250"/>
            <a:ext cx="3696122" cy="1080000"/>
          </a:xfrm>
          <a:prstGeom prst="homePlate">
            <a:avLst/>
          </a:prstGeom>
          <a:solidFill>
            <a:srgbClr val="002A8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0" marR="0" lvl="0" indent="0" algn="r" defTabSz="932472" rtl="0" eaLnBrk="1" fontAlgn="base" latinLnBrk="0" hangingPunct="1">
              <a:lnSpc>
                <a:spcPct val="100000"/>
              </a:lnSpc>
              <a:spcBef>
                <a:spcPct val="0"/>
              </a:spcBef>
              <a:spcAft>
                <a:spcPct val="0"/>
              </a:spcAft>
              <a:buClrTx/>
              <a:buSzTx/>
              <a:buFontTx/>
              <a:buNone/>
              <a:tabLst/>
              <a:defRPr/>
            </a:pPr>
            <a:r>
              <a:rPr kumimoji="0" lang="de-DE" sz="2000" b="1" u="none" strike="noStrike" kern="1200" cap="none" spc="0" normalizeH="0" baseline="0" noProof="0">
                <a:ln>
                  <a:noFill/>
                </a:ln>
                <a:solidFill>
                  <a:schemeClr val="bg1">
                    <a:alpha val="99000"/>
                  </a:schemeClr>
                </a:solidFill>
                <a:effectLst/>
                <a:uLnTx/>
                <a:uFillTx/>
                <a:latin typeface="72 Brand"/>
                <a:ea typeface="Segoe UI" pitchFamily="34" charset="0"/>
                <a:cs typeface="Arial" panose="020B0604020202020204" pitchFamily="34" charset="0"/>
              </a:rPr>
              <a:t>B</a:t>
            </a:r>
          </a:p>
        </p:txBody>
      </p:sp>
      <p:sp>
        <p:nvSpPr>
          <p:cNvPr id="13" name="Rounded Rectangle 3">
            <a:extLst>
              <a:ext uri="{FF2B5EF4-FFF2-40B4-BE49-F238E27FC236}">
                <a16:creationId xmlns:a16="http://schemas.microsoft.com/office/drawing/2014/main" id="{A7A594D3-3DE9-C4B1-E5B3-40CC1D907AB1}"/>
              </a:ext>
            </a:extLst>
          </p:cNvPr>
          <p:cNvSpPr/>
          <p:nvPr/>
        </p:nvSpPr>
        <p:spPr>
          <a:xfrm>
            <a:off x="5476005" y="800101"/>
            <a:ext cx="2800689" cy="1939925"/>
          </a:xfrm>
          <a:prstGeom prst="roundRect">
            <a:avLst>
              <a:gd name="adj" fmla="val 3112"/>
            </a:avLst>
          </a:prstGeom>
          <a:solidFill>
            <a:schemeClr val="bg1"/>
          </a:solidFill>
          <a:ln w="9525">
            <a:solidFill>
              <a:srgbClr val="89D1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088776" rtl="0" eaLnBrk="1" fontAlgn="auto" latinLnBrk="0" hangingPunct="1">
              <a:lnSpc>
                <a:spcPct val="100000"/>
              </a:lnSpc>
              <a:spcBef>
                <a:spcPts val="0"/>
              </a:spcBef>
              <a:spcAft>
                <a:spcPts val="0"/>
              </a:spcAft>
              <a:buClrTx/>
              <a:buSzTx/>
              <a:buFontTx/>
              <a:buNone/>
              <a:tabLst/>
              <a:defRPr/>
            </a:pPr>
            <a:endParaRPr kumimoji="0" lang="en-DE" sz="1400" b="0" i="0" u="none" strike="noStrike" kern="1200" cap="none" spc="0" normalizeH="0" baseline="0" noProof="0">
              <a:ln>
                <a:noFill/>
              </a:ln>
              <a:solidFill>
                <a:srgbClr val="FFFFFF"/>
              </a:solidFill>
              <a:effectLst/>
              <a:uLnTx/>
              <a:uFillTx/>
              <a:latin typeface="72 Brand"/>
              <a:ea typeface="+mn-ea"/>
              <a:cs typeface="+mn-cs"/>
            </a:endParaRPr>
          </a:p>
        </p:txBody>
      </p:sp>
      <p:sp>
        <p:nvSpPr>
          <p:cNvPr id="48" name="Text 23">
            <a:extLst>
              <a:ext uri="{FF2B5EF4-FFF2-40B4-BE49-F238E27FC236}">
                <a16:creationId xmlns:a16="http://schemas.microsoft.com/office/drawing/2014/main" id="{64997B22-D394-255F-546E-7C6CF63474B6}"/>
              </a:ext>
            </a:extLst>
          </p:cNvPr>
          <p:cNvSpPr/>
          <p:nvPr/>
        </p:nvSpPr>
        <p:spPr>
          <a:xfrm>
            <a:off x="5717811" y="904291"/>
            <a:ext cx="2641112" cy="235783"/>
          </a:xfrm>
          <a:prstGeom prst="rect">
            <a:avLst/>
          </a:prstGeom>
          <a:noFill/>
          <a:ln/>
        </p:spPr>
        <p:txBody>
          <a:bodyPr wrap="square" lIns="0" tIns="0" rIns="0" bIns="0" rtlCol="0" anchor="t"/>
          <a:lstStyle/>
          <a:p>
            <a:pPr marL="0" marR="0" lvl="0" indent="0" algn="l" defTabSz="1088776" rtl="0" eaLnBrk="1" fontAlgn="auto" latinLnBrk="0" hangingPunct="1">
              <a:spcBef>
                <a:spcPts val="0"/>
              </a:spcBef>
              <a:spcAft>
                <a:spcPts val="0"/>
              </a:spcAft>
              <a:buClrTx/>
              <a:buSzTx/>
              <a:buFontTx/>
              <a:buNone/>
              <a:tabLst/>
              <a:defRPr/>
            </a:pPr>
            <a:r>
              <a:rPr kumimoji="0" lang="en-US" sz="1400" u="none" strike="noStrike" kern="1200" cap="none" spc="0" normalizeH="0" baseline="0" noProof="0">
                <a:ln>
                  <a:noFill/>
                </a:ln>
                <a:solidFill>
                  <a:srgbClr val="002A86"/>
                </a:solidFill>
                <a:effectLst/>
                <a:uLnTx/>
                <a:uFillTx/>
                <a:latin typeface="+mj-lt"/>
                <a:ea typeface="72 Bold" pitchFamily="34" charset="-122"/>
                <a:cs typeface="72 Bold" pitchFamily="34" charset="-120"/>
              </a:rPr>
              <a:t>SAP Business Technology Platform</a:t>
            </a:r>
            <a:endParaRPr kumimoji="0" lang="en-US" sz="1400" i="0" u="none" strike="noStrike" kern="1200" cap="none" spc="0" normalizeH="0" baseline="0" noProof="0">
              <a:ln>
                <a:noFill/>
              </a:ln>
              <a:solidFill>
                <a:srgbClr val="002A86"/>
              </a:solidFill>
              <a:effectLst/>
              <a:uLnTx/>
              <a:uFillTx/>
              <a:latin typeface="+mj-lt"/>
              <a:ea typeface="+mn-ea"/>
              <a:cs typeface="+mn-cs"/>
            </a:endParaRPr>
          </a:p>
        </p:txBody>
      </p:sp>
      <p:sp>
        <p:nvSpPr>
          <p:cNvPr id="124" name="Rectangle 1">
            <a:extLst>
              <a:ext uri="{FF2B5EF4-FFF2-40B4-BE49-F238E27FC236}">
                <a16:creationId xmlns:a16="http://schemas.microsoft.com/office/drawing/2014/main" id="{2DF06C0E-7578-B986-2433-851118617B8D}"/>
              </a:ext>
            </a:extLst>
          </p:cNvPr>
          <p:cNvSpPr/>
          <p:nvPr/>
        </p:nvSpPr>
        <p:spPr bwMode="gray">
          <a:xfrm>
            <a:off x="5799060" y="1438332"/>
            <a:ext cx="2160000" cy="1200989"/>
          </a:xfrm>
          <a:prstGeom prst="roundRect">
            <a:avLst>
              <a:gd name="adj" fmla="val 5866"/>
            </a:avLst>
          </a:prstGeom>
          <a:solidFill>
            <a:srgbClr val="ECF9FF"/>
          </a:solidFill>
          <a:ln w="9525" algn="ctr">
            <a:solidFill>
              <a:srgbClr val="89D1FF"/>
            </a:solidFill>
            <a:miter lim="800000"/>
            <a:headEnd/>
            <a:tailEnd/>
          </a:ln>
        </p:spPr>
        <p:txBody>
          <a:bodyPr lIns="90000" tIns="72000" rIns="90000" bIns="72000" rtlCol="0" anchor="t"/>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4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sp>
        <p:nvSpPr>
          <p:cNvPr id="57" name="Rectangle 23">
            <a:extLst>
              <a:ext uri="{FF2B5EF4-FFF2-40B4-BE49-F238E27FC236}">
                <a16:creationId xmlns:a16="http://schemas.microsoft.com/office/drawing/2014/main" id="{89ECD4F6-4850-02C1-98C0-40F68F911478}"/>
              </a:ext>
            </a:extLst>
          </p:cNvPr>
          <p:cNvSpPr/>
          <p:nvPr/>
        </p:nvSpPr>
        <p:spPr bwMode="gray">
          <a:xfrm>
            <a:off x="5984104" y="1734130"/>
            <a:ext cx="1800000" cy="840992"/>
          </a:xfrm>
          <a:prstGeom prst="roundRect">
            <a:avLst/>
          </a:prstGeom>
          <a:solidFill>
            <a:srgbClr val="00144A"/>
          </a:solidFill>
          <a:ln w="19050" algn="ctr">
            <a:noFill/>
            <a:miter lim="800000"/>
            <a:headEnd/>
            <a:tailEnd/>
          </a:ln>
        </p:spPr>
        <p:txBody>
          <a:bodyPr lIns="90000" tIns="72000" rIns="90000" bIns="72000" rtlCol="0" anchor="ctr"/>
          <a:lstStyle/>
          <a:p>
            <a:pPr lvl="0" algn="ctr" defTabSz="914400" fontAlgn="base">
              <a:spcBef>
                <a:spcPct val="50000"/>
              </a:spcBef>
              <a:spcAft>
                <a:spcPct val="0"/>
              </a:spcAft>
              <a:buClr>
                <a:srgbClr val="F0AB00"/>
              </a:buClr>
              <a:buSzPct val="80000"/>
              <a:defRPr/>
            </a:pPr>
            <a:r>
              <a:rPr lang="en-US" sz="1050" kern="0">
                <a:solidFill>
                  <a:schemeClr val="bg1"/>
                </a:solidFill>
                <a:latin typeface="72 Brand"/>
              </a:rPr>
              <a:t>Extend with ABAP Cloud, CAP, or low-code/no-code tools (SAP Build)</a:t>
            </a:r>
            <a:endParaRPr lang="en-DE" sz="1050" kern="0">
              <a:solidFill>
                <a:schemeClr val="bg1"/>
              </a:solidFill>
              <a:latin typeface="72 Brand"/>
            </a:endParaRPr>
          </a:p>
        </p:txBody>
      </p:sp>
      <p:sp>
        <p:nvSpPr>
          <p:cNvPr id="73" name="Rectangle 1">
            <a:extLst>
              <a:ext uri="{FF2B5EF4-FFF2-40B4-BE49-F238E27FC236}">
                <a16:creationId xmlns:a16="http://schemas.microsoft.com/office/drawing/2014/main" id="{EA88CA97-C9A3-3CC2-77D4-BA0237B6F954}"/>
              </a:ext>
            </a:extLst>
          </p:cNvPr>
          <p:cNvSpPr/>
          <p:nvPr/>
        </p:nvSpPr>
        <p:spPr bwMode="gray">
          <a:xfrm>
            <a:off x="289555" y="1438703"/>
            <a:ext cx="2160000" cy="4680000"/>
          </a:xfrm>
          <a:prstGeom prst="roundRect">
            <a:avLst>
              <a:gd name="adj" fmla="val 5866"/>
            </a:avLst>
          </a:prstGeom>
          <a:solidFill>
            <a:srgbClr val="ECF9FF"/>
          </a:solidFill>
          <a:ln w="9525" algn="ctr">
            <a:solidFill>
              <a:srgbClr val="89D1FF"/>
            </a:solidFill>
            <a:miter lim="800000"/>
            <a:headEnd/>
            <a:tailEnd/>
          </a:ln>
        </p:spPr>
        <p:txBody>
          <a:bodyPr lIns="90000" tIns="72000" rIns="90000" bIns="72000" rtlCol="0" anchor="t"/>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4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sp>
        <p:nvSpPr>
          <p:cNvPr id="74" name="Rectangle 22">
            <a:extLst>
              <a:ext uri="{FF2B5EF4-FFF2-40B4-BE49-F238E27FC236}">
                <a16:creationId xmlns:a16="http://schemas.microsoft.com/office/drawing/2014/main" id="{4959F4AA-4657-CA60-ED12-5C2B5435998C}"/>
              </a:ext>
            </a:extLst>
          </p:cNvPr>
          <p:cNvSpPr/>
          <p:nvPr/>
        </p:nvSpPr>
        <p:spPr bwMode="gray">
          <a:xfrm>
            <a:off x="474513" y="2076030"/>
            <a:ext cx="1800000" cy="252000"/>
          </a:xfrm>
          <a:prstGeom prst="roundRect">
            <a:avLst/>
          </a:prstGeom>
          <a:solidFill>
            <a:srgbClr val="00144A"/>
          </a:solidFill>
          <a:ln w="1905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900" b="0" i="0" u="none" strike="noStrike" kern="0" cap="none" spc="0" normalizeH="0" baseline="0" noProof="0" dirty="0">
                <a:ln>
                  <a:noFill/>
                </a:ln>
                <a:solidFill>
                  <a:schemeClr val="bg1"/>
                </a:solidFill>
                <a:effectLst/>
                <a:uLnTx/>
                <a:uFillTx/>
                <a:latin typeface="72 Brand"/>
                <a:ea typeface="+mn-ea"/>
                <a:cs typeface="+mn-cs"/>
              </a:rPr>
              <a:t>[Released] SAP local API</a:t>
            </a:r>
            <a:endParaRPr kumimoji="0" lang="en-DE" sz="900" b="0" i="0" u="none" strike="noStrike" kern="0" cap="none" spc="0" normalizeH="0" baseline="0" noProof="0">
              <a:ln>
                <a:noFill/>
              </a:ln>
              <a:solidFill>
                <a:schemeClr val="bg1"/>
              </a:solidFill>
              <a:effectLst/>
              <a:uLnTx/>
              <a:uFillTx/>
              <a:latin typeface="72 Brand"/>
              <a:ea typeface="+mn-ea"/>
              <a:cs typeface="+mn-cs"/>
            </a:endParaRPr>
          </a:p>
        </p:txBody>
      </p:sp>
      <p:sp>
        <p:nvSpPr>
          <p:cNvPr id="75" name="Rectangle 23">
            <a:extLst>
              <a:ext uri="{FF2B5EF4-FFF2-40B4-BE49-F238E27FC236}">
                <a16:creationId xmlns:a16="http://schemas.microsoft.com/office/drawing/2014/main" id="{B461D806-F4AD-D56D-9FB7-46AFE8DE1C75}"/>
              </a:ext>
            </a:extLst>
          </p:cNvPr>
          <p:cNvSpPr/>
          <p:nvPr/>
        </p:nvSpPr>
        <p:spPr bwMode="gray">
          <a:xfrm>
            <a:off x="474513" y="1764739"/>
            <a:ext cx="1800000" cy="252000"/>
          </a:xfrm>
          <a:prstGeom prst="roundRect">
            <a:avLst/>
          </a:prstGeom>
          <a:solidFill>
            <a:srgbClr val="00144A"/>
          </a:solidFill>
          <a:ln w="1905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900" b="0" i="0" u="none" strike="noStrike" kern="0" cap="none" spc="0" normalizeH="0" baseline="0" noProof="0" dirty="0">
                <a:ln>
                  <a:noFill/>
                </a:ln>
                <a:solidFill>
                  <a:schemeClr val="bg1"/>
                </a:solidFill>
                <a:effectLst/>
                <a:uLnTx/>
                <a:uFillTx/>
                <a:latin typeface="72 Brand"/>
                <a:ea typeface="72 Brand" pitchFamily="34" charset="-128"/>
                <a:cs typeface="72 Brand" pitchFamily="34" charset="-128"/>
              </a:rPr>
              <a:t>[Released] SAP remote API</a:t>
            </a:r>
            <a:endParaRPr kumimoji="0" lang="en-DE" sz="900" b="0" i="0" u="none" strike="noStrike" kern="0" cap="none" spc="0" normalizeH="0" baseline="0" noProof="0">
              <a:ln>
                <a:noFill/>
              </a:ln>
              <a:solidFill>
                <a:schemeClr val="bg1"/>
              </a:solidFill>
              <a:effectLst/>
              <a:uLnTx/>
              <a:uFillTx/>
              <a:latin typeface="72 Brand"/>
              <a:ea typeface="72 Brand" pitchFamily="34" charset="-128"/>
              <a:cs typeface="72 Brand" pitchFamily="34" charset="-128"/>
            </a:endParaRPr>
          </a:p>
        </p:txBody>
      </p:sp>
      <p:sp>
        <p:nvSpPr>
          <p:cNvPr id="76" name="Rectangle 26">
            <a:extLst>
              <a:ext uri="{FF2B5EF4-FFF2-40B4-BE49-F238E27FC236}">
                <a16:creationId xmlns:a16="http://schemas.microsoft.com/office/drawing/2014/main" id="{8E3475CB-5D8E-42A8-285A-78D7EB94C807}"/>
              </a:ext>
            </a:extLst>
          </p:cNvPr>
          <p:cNvSpPr/>
          <p:nvPr/>
        </p:nvSpPr>
        <p:spPr bwMode="gray">
          <a:xfrm>
            <a:off x="474513" y="3352029"/>
            <a:ext cx="1800000" cy="288000"/>
          </a:xfrm>
          <a:prstGeom prst="roundRect">
            <a:avLst/>
          </a:prstGeom>
          <a:solidFill>
            <a:srgbClr val="002A86"/>
          </a:solidFill>
          <a:ln w="1905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900" b="0" i="0" u="none" strike="noStrike" kern="0" cap="none" spc="0" normalizeH="0" baseline="0" noProof="0">
                <a:ln>
                  <a:noFill/>
                </a:ln>
                <a:solidFill>
                  <a:schemeClr val="bg1"/>
                </a:solidFill>
                <a:effectLst/>
                <a:uLnTx/>
                <a:uFillTx/>
                <a:latin typeface="72 Brand"/>
                <a:ea typeface="+mn-ea"/>
                <a:cs typeface="+mn-cs"/>
              </a:rPr>
              <a:t>[Classic] SAP API</a:t>
            </a:r>
            <a:endParaRPr kumimoji="0" lang="en-DE" sz="900" b="0" i="0" u="none" strike="noStrike" kern="0" cap="none" spc="0" normalizeH="0" baseline="0" noProof="0">
              <a:ln>
                <a:noFill/>
              </a:ln>
              <a:solidFill>
                <a:schemeClr val="bg1"/>
              </a:solidFill>
              <a:effectLst/>
              <a:uLnTx/>
              <a:uFillTx/>
              <a:latin typeface="72 Brand"/>
              <a:ea typeface="+mn-ea"/>
              <a:cs typeface="+mn-cs"/>
            </a:endParaRPr>
          </a:p>
        </p:txBody>
      </p:sp>
      <p:sp>
        <p:nvSpPr>
          <p:cNvPr id="77" name="Rectangle 29">
            <a:extLst>
              <a:ext uri="{FF2B5EF4-FFF2-40B4-BE49-F238E27FC236}">
                <a16:creationId xmlns:a16="http://schemas.microsoft.com/office/drawing/2014/main" id="{8064DC95-88BE-8269-F8B5-3604FF9059E1}"/>
              </a:ext>
            </a:extLst>
          </p:cNvPr>
          <p:cNvSpPr/>
          <p:nvPr/>
        </p:nvSpPr>
        <p:spPr bwMode="gray">
          <a:xfrm>
            <a:off x="474513" y="5281657"/>
            <a:ext cx="1800000" cy="288000"/>
          </a:xfrm>
          <a:prstGeom prst="roundRect">
            <a:avLst/>
          </a:prstGeom>
          <a:solidFill>
            <a:srgbClr val="1B90FF"/>
          </a:solidFill>
          <a:ln w="1905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900" b="0" i="0" u="none" strike="noStrike" kern="0" cap="none" spc="0" normalizeH="0" baseline="0" noProof="0">
                <a:ln>
                  <a:noFill/>
                </a:ln>
                <a:solidFill>
                  <a:schemeClr val="bg1"/>
                </a:solidFill>
                <a:effectLst/>
                <a:uLnTx/>
                <a:uFillTx/>
                <a:latin typeface="72 Brand"/>
                <a:ea typeface="+mn-ea"/>
                <a:cs typeface="+mn-cs"/>
              </a:rPr>
              <a:t>[Not recommended] </a:t>
            </a:r>
            <a:br>
              <a:rPr kumimoji="0" lang="en-GB" sz="900" b="0" i="0" u="none" strike="noStrike" kern="0" cap="none" spc="0" normalizeH="0" baseline="0" noProof="0">
                <a:ln>
                  <a:noFill/>
                </a:ln>
                <a:solidFill>
                  <a:schemeClr val="bg1"/>
                </a:solidFill>
                <a:effectLst/>
                <a:uLnTx/>
                <a:uFillTx/>
                <a:latin typeface="72 Brand"/>
                <a:ea typeface="+mn-ea"/>
                <a:cs typeface="+mn-cs"/>
              </a:rPr>
            </a:br>
            <a:r>
              <a:rPr kumimoji="0" lang="en-GB" sz="900" b="0" i="0" u="none" strike="noStrike" kern="0" cap="none" spc="0" normalizeH="0" baseline="0" noProof="0">
                <a:ln>
                  <a:noFill/>
                </a:ln>
                <a:solidFill>
                  <a:schemeClr val="bg1"/>
                </a:solidFill>
                <a:effectLst/>
                <a:uLnTx/>
                <a:uFillTx/>
                <a:latin typeface="72 Brand"/>
                <a:ea typeface="+mn-ea"/>
                <a:cs typeface="+mn-cs"/>
              </a:rPr>
              <a:t>SAP object</a:t>
            </a:r>
            <a:endParaRPr kumimoji="0" lang="en-DE" sz="900" b="0" i="0" u="none" strike="noStrike" kern="0" cap="none" spc="0" normalizeH="0" baseline="0" noProof="0">
              <a:ln>
                <a:noFill/>
              </a:ln>
              <a:solidFill>
                <a:schemeClr val="bg1"/>
              </a:solidFill>
              <a:effectLst/>
              <a:uLnTx/>
              <a:uFillTx/>
              <a:latin typeface="72 Brand"/>
              <a:ea typeface="+mn-ea"/>
              <a:cs typeface="+mn-cs"/>
            </a:endParaRPr>
          </a:p>
        </p:txBody>
      </p:sp>
      <p:sp>
        <p:nvSpPr>
          <p:cNvPr id="78" name="Rectangle 26">
            <a:extLst>
              <a:ext uri="{FF2B5EF4-FFF2-40B4-BE49-F238E27FC236}">
                <a16:creationId xmlns:a16="http://schemas.microsoft.com/office/drawing/2014/main" id="{8E1084DA-3744-52C7-F1A4-543BF38CCBB4}"/>
              </a:ext>
            </a:extLst>
          </p:cNvPr>
          <p:cNvSpPr/>
          <p:nvPr/>
        </p:nvSpPr>
        <p:spPr bwMode="gray">
          <a:xfrm>
            <a:off x="474513" y="2387321"/>
            <a:ext cx="1800000" cy="252000"/>
          </a:xfrm>
          <a:prstGeom prst="roundRect">
            <a:avLst/>
          </a:prstGeom>
          <a:solidFill>
            <a:srgbClr val="00144A"/>
          </a:solidFill>
          <a:ln w="1905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900" b="0" i="0" u="none" strike="noStrike" kern="0" cap="none" spc="0" normalizeH="0" baseline="0" noProof="0">
                <a:ln>
                  <a:noFill/>
                </a:ln>
                <a:solidFill>
                  <a:schemeClr val="bg1"/>
                </a:solidFill>
                <a:effectLst/>
                <a:uLnTx/>
                <a:uFillTx/>
                <a:latin typeface="72 Brand"/>
                <a:ea typeface="+mn-ea"/>
                <a:cs typeface="+mn-cs"/>
              </a:rPr>
              <a:t>[Released] SAP extension point</a:t>
            </a:r>
            <a:endParaRPr kumimoji="0" lang="en-DE" sz="900" b="0" i="0" u="none" strike="noStrike" kern="0" cap="none" spc="0" normalizeH="0" baseline="0" noProof="0">
              <a:ln>
                <a:noFill/>
              </a:ln>
              <a:solidFill>
                <a:schemeClr val="bg1"/>
              </a:solidFill>
              <a:effectLst/>
              <a:uLnTx/>
              <a:uFillTx/>
              <a:latin typeface="72 Brand"/>
              <a:ea typeface="+mn-ea"/>
              <a:cs typeface="+mn-cs"/>
            </a:endParaRPr>
          </a:p>
        </p:txBody>
      </p:sp>
      <p:sp>
        <p:nvSpPr>
          <p:cNvPr id="79" name="Rectangle 26">
            <a:extLst>
              <a:ext uri="{FF2B5EF4-FFF2-40B4-BE49-F238E27FC236}">
                <a16:creationId xmlns:a16="http://schemas.microsoft.com/office/drawing/2014/main" id="{B08D387A-A080-8099-DD8F-0D1220B9B484}"/>
              </a:ext>
            </a:extLst>
          </p:cNvPr>
          <p:cNvSpPr/>
          <p:nvPr/>
        </p:nvSpPr>
        <p:spPr bwMode="gray">
          <a:xfrm>
            <a:off x="474513" y="3003586"/>
            <a:ext cx="1800000" cy="288000"/>
          </a:xfrm>
          <a:prstGeom prst="roundRect">
            <a:avLst/>
          </a:prstGeom>
          <a:solidFill>
            <a:srgbClr val="002A86"/>
          </a:solidFill>
          <a:ln w="1905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900" b="0" i="0" u="none" strike="noStrike" kern="0" cap="none" spc="0" normalizeH="0" baseline="0" noProof="0">
                <a:ln>
                  <a:noFill/>
                </a:ln>
                <a:solidFill>
                  <a:schemeClr val="bg1"/>
                </a:solidFill>
                <a:effectLst/>
                <a:uLnTx/>
                <a:uFillTx/>
                <a:latin typeface="72 Brand"/>
                <a:ea typeface="+mn-ea"/>
                <a:cs typeface="+mn-cs"/>
              </a:rPr>
              <a:t>[Classic] SAP extension point</a:t>
            </a:r>
            <a:endParaRPr kumimoji="0" lang="en-DE" sz="900" b="0" i="0" u="none" strike="noStrike" kern="0" cap="none" spc="0" normalizeH="0" baseline="0" noProof="0">
              <a:ln>
                <a:noFill/>
              </a:ln>
              <a:solidFill>
                <a:schemeClr val="bg1"/>
              </a:solidFill>
              <a:effectLst/>
              <a:uLnTx/>
              <a:uFillTx/>
              <a:latin typeface="72 Brand"/>
              <a:ea typeface="+mn-ea"/>
              <a:cs typeface="+mn-cs"/>
            </a:endParaRPr>
          </a:p>
        </p:txBody>
      </p:sp>
      <p:sp>
        <p:nvSpPr>
          <p:cNvPr id="80" name="Rectangle 36">
            <a:extLst>
              <a:ext uri="{FF2B5EF4-FFF2-40B4-BE49-F238E27FC236}">
                <a16:creationId xmlns:a16="http://schemas.microsoft.com/office/drawing/2014/main" id="{B9638BFE-3431-71CC-64BE-4C7998816B83}"/>
              </a:ext>
            </a:extLst>
          </p:cNvPr>
          <p:cNvSpPr/>
          <p:nvPr/>
        </p:nvSpPr>
        <p:spPr bwMode="gray">
          <a:xfrm>
            <a:off x="474513" y="4325406"/>
            <a:ext cx="1800000" cy="288000"/>
          </a:xfrm>
          <a:prstGeom prst="roundRect">
            <a:avLst/>
          </a:prstGeom>
          <a:solidFill>
            <a:srgbClr val="0070F2"/>
          </a:solidFill>
          <a:ln w="1905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900" b="0" i="0" u="none" strike="noStrike" kern="0" cap="none" spc="0" normalizeH="0" baseline="0" noProof="0">
                <a:ln>
                  <a:noFill/>
                </a:ln>
                <a:solidFill>
                  <a:schemeClr val="bg1"/>
                </a:solidFill>
                <a:effectLst/>
                <a:uLnTx/>
                <a:uFillTx/>
                <a:latin typeface="72 Brand"/>
                <a:ea typeface="+mn-ea"/>
                <a:cs typeface="+mn-cs"/>
              </a:rPr>
              <a:t>[Internal] SAP object</a:t>
            </a:r>
            <a:endParaRPr kumimoji="0" lang="en-DE" sz="900" b="0" i="0" u="none" strike="noStrike" kern="0" cap="none" spc="0" normalizeH="0" baseline="0" noProof="0">
              <a:ln>
                <a:noFill/>
              </a:ln>
              <a:solidFill>
                <a:schemeClr val="bg1"/>
              </a:solidFill>
              <a:effectLst/>
              <a:uLnTx/>
              <a:uFillTx/>
              <a:latin typeface="72 Brand"/>
              <a:ea typeface="+mn-ea"/>
              <a:cs typeface="+mn-cs"/>
            </a:endParaRPr>
          </a:p>
        </p:txBody>
      </p:sp>
      <p:sp>
        <p:nvSpPr>
          <p:cNvPr id="81" name="Text 26">
            <a:extLst>
              <a:ext uri="{FF2B5EF4-FFF2-40B4-BE49-F238E27FC236}">
                <a16:creationId xmlns:a16="http://schemas.microsoft.com/office/drawing/2014/main" id="{5A7D9304-0345-289A-D0F4-9E582FCAAB3C}"/>
              </a:ext>
            </a:extLst>
          </p:cNvPr>
          <p:cNvSpPr/>
          <p:nvPr/>
        </p:nvSpPr>
        <p:spPr>
          <a:xfrm>
            <a:off x="485647" y="1511817"/>
            <a:ext cx="1511512" cy="132074"/>
          </a:xfrm>
          <a:prstGeom prst="rect">
            <a:avLst/>
          </a:prstGeom>
          <a:noFill/>
          <a:ln/>
        </p:spPr>
        <p:txBody>
          <a:bodyPr wrap="square" lIns="0" tIns="0" rIns="0" bIns="0" rtlCol="0" anchor="t"/>
          <a:lstStyle/>
          <a:p>
            <a:pPr marL="0" marR="0" lvl="0" indent="0" algn="l" defTabSz="1088776" rtl="0" eaLnBrk="1" fontAlgn="auto" latinLnBrk="0" hangingPunct="1">
              <a:lnSpc>
                <a:spcPts val="1100"/>
              </a:lnSpc>
              <a:spcBef>
                <a:spcPts val="0"/>
              </a:spcBef>
              <a:spcAft>
                <a:spcPts val="0"/>
              </a:spcAft>
              <a:buClrTx/>
              <a:buSzTx/>
              <a:buFontTx/>
              <a:buNone/>
              <a:tabLst/>
              <a:defRPr/>
            </a:pPr>
            <a:r>
              <a:rPr kumimoji="0" lang="en-US" sz="900" u="none" strike="noStrike" kern="1200" cap="none" spc="0" normalizeH="0" baseline="0" noProof="0" dirty="0">
                <a:ln>
                  <a:noFill/>
                </a:ln>
                <a:solidFill>
                  <a:srgbClr val="00144A"/>
                </a:solidFill>
                <a:effectLst/>
                <a:uLnTx/>
                <a:uFillTx/>
                <a:latin typeface="+mn-lt"/>
                <a:ea typeface="72 Bold" pitchFamily="34" charset="-122"/>
                <a:cs typeface="72 Bold" pitchFamily="34" charset="-120"/>
              </a:rPr>
              <a:t>SAP standard objects</a:t>
            </a:r>
            <a:endParaRPr kumimoji="0" lang="en-US" sz="900" i="0" u="none" strike="noStrike" kern="1200" cap="none" spc="0" normalizeH="0" baseline="0" noProof="0" dirty="0">
              <a:ln>
                <a:noFill/>
              </a:ln>
              <a:solidFill>
                <a:srgbClr val="00144A"/>
              </a:solidFill>
              <a:effectLst/>
              <a:uLnTx/>
              <a:uFillTx/>
              <a:latin typeface="+mn-lt"/>
              <a:ea typeface="+mn-ea"/>
              <a:cs typeface="+mn-cs"/>
            </a:endParaRPr>
          </a:p>
        </p:txBody>
      </p:sp>
      <p:sp>
        <p:nvSpPr>
          <p:cNvPr id="83" name="Rectangle 1">
            <a:extLst>
              <a:ext uri="{FF2B5EF4-FFF2-40B4-BE49-F238E27FC236}">
                <a16:creationId xmlns:a16="http://schemas.microsoft.com/office/drawing/2014/main" id="{F7D0BC11-6F7A-43BF-C6FA-FA910B3D9334}"/>
              </a:ext>
            </a:extLst>
          </p:cNvPr>
          <p:cNvSpPr/>
          <p:nvPr/>
        </p:nvSpPr>
        <p:spPr bwMode="gray">
          <a:xfrm>
            <a:off x="2808091" y="1438332"/>
            <a:ext cx="2160000" cy="4679998"/>
          </a:xfrm>
          <a:prstGeom prst="roundRect">
            <a:avLst>
              <a:gd name="adj" fmla="val 5866"/>
            </a:avLst>
          </a:prstGeom>
          <a:solidFill>
            <a:srgbClr val="ECF9FF"/>
          </a:solidFill>
          <a:ln w="9525" algn="ctr">
            <a:solidFill>
              <a:srgbClr val="89D1FF"/>
            </a:solidFill>
            <a:miter lim="800000"/>
            <a:headEnd/>
            <a:tailEnd/>
          </a:ln>
        </p:spPr>
        <p:txBody>
          <a:bodyPr lIns="90000" tIns="72000" rIns="90000" bIns="72000" rtlCol="0" anchor="t"/>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4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sp>
        <p:nvSpPr>
          <p:cNvPr id="84" name="Text 26">
            <a:extLst>
              <a:ext uri="{FF2B5EF4-FFF2-40B4-BE49-F238E27FC236}">
                <a16:creationId xmlns:a16="http://schemas.microsoft.com/office/drawing/2014/main" id="{528151C3-82B2-3954-AF8F-EA1E8558505D}"/>
              </a:ext>
            </a:extLst>
          </p:cNvPr>
          <p:cNvSpPr/>
          <p:nvPr/>
        </p:nvSpPr>
        <p:spPr>
          <a:xfrm>
            <a:off x="3018987" y="1511817"/>
            <a:ext cx="1776404" cy="144743"/>
          </a:xfrm>
          <a:prstGeom prst="rect">
            <a:avLst/>
          </a:prstGeom>
          <a:noFill/>
          <a:ln/>
        </p:spPr>
        <p:txBody>
          <a:bodyPr wrap="square" lIns="0" tIns="0" rIns="0" bIns="0" rtlCol="0" anchor="t"/>
          <a:lstStyle/>
          <a:p>
            <a:pPr marL="0" marR="0" lvl="0" indent="0" algn="l" defTabSz="1088776" rtl="0" eaLnBrk="1" fontAlgn="auto" latinLnBrk="0" hangingPunct="1">
              <a:lnSpc>
                <a:spcPts val="1100"/>
              </a:lnSpc>
              <a:spcBef>
                <a:spcPts val="0"/>
              </a:spcBef>
              <a:spcAft>
                <a:spcPts val="0"/>
              </a:spcAft>
              <a:buClrTx/>
              <a:buSzTx/>
              <a:buFontTx/>
              <a:buNone/>
              <a:tabLst/>
              <a:defRPr/>
            </a:pPr>
            <a:r>
              <a:rPr kumimoji="0" lang="en-US" sz="900" u="none" strike="noStrike" kern="1200" cap="none" spc="0" normalizeH="0" baseline="0" noProof="0" dirty="0">
                <a:ln>
                  <a:noFill/>
                </a:ln>
                <a:solidFill>
                  <a:srgbClr val="00144A"/>
                </a:solidFill>
                <a:effectLst/>
                <a:uLnTx/>
                <a:uFillTx/>
                <a:latin typeface="+mn-lt"/>
                <a:ea typeface="72 Bold" pitchFamily="34" charset="-122"/>
                <a:cs typeface="72 Bold" pitchFamily="34" charset="-120"/>
              </a:rPr>
              <a:t>On-stack extension</a:t>
            </a:r>
            <a:endParaRPr kumimoji="0" lang="en-US" sz="900" i="0" u="none" strike="noStrike" kern="1200" cap="none" spc="0" normalizeH="0" baseline="0" noProof="0" dirty="0">
              <a:ln>
                <a:noFill/>
              </a:ln>
              <a:solidFill>
                <a:srgbClr val="00144A"/>
              </a:solidFill>
              <a:effectLst/>
              <a:uLnTx/>
              <a:uFillTx/>
              <a:latin typeface="+mn-lt"/>
              <a:ea typeface="+mn-ea"/>
              <a:cs typeface="+mn-cs"/>
            </a:endParaRPr>
          </a:p>
        </p:txBody>
      </p:sp>
      <p:sp>
        <p:nvSpPr>
          <p:cNvPr id="125" name="Text 26">
            <a:extLst>
              <a:ext uri="{FF2B5EF4-FFF2-40B4-BE49-F238E27FC236}">
                <a16:creationId xmlns:a16="http://schemas.microsoft.com/office/drawing/2014/main" id="{DF1864AD-98C3-4D44-160A-9B115EB4CCE6}"/>
              </a:ext>
            </a:extLst>
          </p:cNvPr>
          <p:cNvSpPr/>
          <p:nvPr/>
        </p:nvSpPr>
        <p:spPr>
          <a:xfrm>
            <a:off x="6023710" y="1511817"/>
            <a:ext cx="1776404" cy="144743"/>
          </a:xfrm>
          <a:prstGeom prst="rect">
            <a:avLst/>
          </a:prstGeom>
          <a:noFill/>
          <a:ln/>
        </p:spPr>
        <p:txBody>
          <a:bodyPr wrap="square" lIns="0" tIns="0" rIns="0" bIns="0" rtlCol="0" anchor="t"/>
          <a:lstStyle/>
          <a:p>
            <a:pPr marL="0" marR="0" lvl="0" indent="0" algn="l" defTabSz="1088776" rtl="0" eaLnBrk="1" fontAlgn="auto" latinLnBrk="0" hangingPunct="1">
              <a:lnSpc>
                <a:spcPts val="1100"/>
              </a:lnSpc>
              <a:spcBef>
                <a:spcPts val="0"/>
              </a:spcBef>
              <a:spcAft>
                <a:spcPts val="0"/>
              </a:spcAft>
              <a:buClrTx/>
              <a:buSzTx/>
              <a:buFontTx/>
              <a:buNone/>
              <a:tabLst/>
              <a:defRPr/>
            </a:pPr>
            <a:r>
              <a:rPr kumimoji="0" lang="en-US" sz="900" u="none" strike="noStrike" kern="1200" cap="none" spc="0" normalizeH="0" baseline="0" noProof="0">
                <a:ln>
                  <a:noFill/>
                </a:ln>
                <a:solidFill>
                  <a:srgbClr val="00144A"/>
                </a:solidFill>
                <a:effectLst/>
                <a:uLnTx/>
                <a:uFillTx/>
                <a:latin typeface="+mn-lt"/>
                <a:ea typeface="72 Bold" pitchFamily="34" charset="-122"/>
                <a:cs typeface="72 Bold" pitchFamily="34" charset="-120"/>
              </a:rPr>
              <a:t>Side-by-side extension</a:t>
            </a:r>
            <a:endParaRPr kumimoji="0" lang="en-US" sz="900" i="0" u="none" strike="noStrike" kern="1200" cap="none" spc="0" normalizeH="0" baseline="0" noProof="0">
              <a:ln>
                <a:noFill/>
              </a:ln>
              <a:solidFill>
                <a:srgbClr val="00144A"/>
              </a:solidFill>
              <a:effectLst/>
              <a:uLnTx/>
              <a:uFillTx/>
              <a:latin typeface="+mn-lt"/>
              <a:ea typeface="+mn-ea"/>
              <a:cs typeface="+mn-cs"/>
            </a:endParaRPr>
          </a:p>
        </p:txBody>
      </p:sp>
      <p:sp>
        <p:nvSpPr>
          <p:cNvPr id="11" name="TextBox 20">
            <a:extLst>
              <a:ext uri="{FF2B5EF4-FFF2-40B4-BE49-F238E27FC236}">
                <a16:creationId xmlns:a16="http://schemas.microsoft.com/office/drawing/2014/main" id="{9A337D05-E51A-A97F-1901-AEC9FE6D3D6C}"/>
              </a:ext>
            </a:extLst>
          </p:cNvPr>
          <p:cNvSpPr txBox="1"/>
          <p:nvPr/>
        </p:nvSpPr>
        <p:spPr>
          <a:xfrm>
            <a:off x="9387083" y="2094412"/>
            <a:ext cx="2000647" cy="369332"/>
          </a:xfrm>
          <a:prstGeom prst="rect">
            <a:avLst/>
          </a:prstGeom>
          <a:noFill/>
        </p:spPr>
        <p:txBody>
          <a:bodyPr wrap="square" lIns="0" tIns="0" rIns="0" bIns="0" rtlCol="0">
            <a:spAutoFit/>
          </a:bodyPr>
          <a:lstStyle/>
          <a:p>
            <a:pPr marL="0" marR="0" lvl="0" indent="0" algn="r"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Cloud development and </a:t>
            </a:r>
            <a:b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br>
            <a:r>
              <a:rPr kumimoji="0" lang="en-GB" sz="12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usage of released APIs</a:t>
            </a: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a:t>
            </a:r>
            <a:endParaRPr kumimoji="0" lang="de-DE"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endParaRPr>
          </a:p>
        </p:txBody>
      </p:sp>
      <p:sp>
        <p:nvSpPr>
          <p:cNvPr id="12" name="TextBox 21">
            <a:extLst>
              <a:ext uri="{FF2B5EF4-FFF2-40B4-BE49-F238E27FC236}">
                <a16:creationId xmlns:a16="http://schemas.microsoft.com/office/drawing/2014/main" id="{2E85DB81-6059-BE74-1202-2BD17BF1319C}"/>
              </a:ext>
            </a:extLst>
          </p:cNvPr>
          <p:cNvSpPr txBox="1"/>
          <p:nvPr/>
        </p:nvSpPr>
        <p:spPr>
          <a:xfrm>
            <a:off x="8392117" y="3169027"/>
            <a:ext cx="3000160" cy="369332"/>
          </a:xfrm>
          <a:prstGeom prst="rect">
            <a:avLst/>
          </a:prstGeom>
          <a:noFill/>
        </p:spPr>
        <p:txBody>
          <a:bodyPr wrap="square" lIns="0" tIns="0" rIns="0" bIns="0" rtlCol="0">
            <a:spAutoFit/>
          </a:bodyPr>
          <a:lstStyle/>
          <a:p>
            <a:pPr marL="0" marR="0" lvl="0" indent="0" algn="r"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Usage of </a:t>
            </a:r>
            <a:r>
              <a:rPr kumimoji="0" lang="en-GB" sz="12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best practice </a:t>
            </a:r>
            <a:br>
              <a:rPr kumimoji="0" lang="en-GB" sz="12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br>
            <a:r>
              <a:rPr kumimoji="0" lang="en-GB" sz="12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 classic API</a:t>
            </a: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a:t>
            </a:r>
            <a:endParaRPr kumimoji="0" lang="de-DE"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endParaRPr>
          </a:p>
        </p:txBody>
      </p:sp>
      <p:sp>
        <p:nvSpPr>
          <p:cNvPr id="14" name="TextBox 22">
            <a:extLst>
              <a:ext uri="{FF2B5EF4-FFF2-40B4-BE49-F238E27FC236}">
                <a16:creationId xmlns:a16="http://schemas.microsoft.com/office/drawing/2014/main" id="{05120388-B93C-7D59-C110-B2B7DB3A2CF7}"/>
              </a:ext>
            </a:extLst>
          </p:cNvPr>
          <p:cNvSpPr txBox="1"/>
          <p:nvPr/>
        </p:nvSpPr>
        <p:spPr>
          <a:xfrm>
            <a:off x="8867731" y="4166698"/>
            <a:ext cx="2520000" cy="553998"/>
          </a:xfrm>
          <a:prstGeom prst="rect">
            <a:avLst/>
          </a:prstGeom>
          <a:noFill/>
        </p:spPr>
        <p:txBody>
          <a:bodyPr wrap="square" lIns="0" tIns="0" rIns="0" bIns="0" rtlCol="0">
            <a:spAutoFit/>
          </a:bodyPr>
          <a:lstStyle/>
          <a:p>
            <a:pPr marL="0" marR="0" lvl="0" indent="0" algn="r"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Consumption of </a:t>
            </a:r>
            <a:r>
              <a:rPr kumimoji="0" lang="en-GB" sz="12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internal objects </a:t>
            </a:r>
            <a:br>
              <a:rPr kumimoji="0" lang="en-GB" sz="12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b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a:t>
            </a:r>
            <a:r>
              <a:rPr kumimoji="0" lang="en-GB" sz="12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conditionally</a:t>
            </a: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 clean when</a:t>
            </a:r>
            <a:r>
              <a:rPr kumimoji="0" lang="en-GB" sz="1200" b="0" i="0" u="none" strike="noStrike" kern="0" cap="none" spc="0" normalizeH="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 </a:t>
            </a: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applying </a:t>
            </a:r>
            <a:r>
              <a:rPr lang="en-GB" sz="1200" kern="0">
                <a:solidFill>
                  <a:srgbClr val="000000"/>
                </a:solidFill>
                <a:latin typeface="72 Brand" panose="020B0504030603020204" pitchFamily="34" charset="0"/>
                <a:ea typeface="Arial Unicode MS" pitchFamily="34" charset="-128"/>
                <a:cs typeface="Arial Unicode MS" pitchFamily="34" charset="-128"/>
              </a:rPr>
              <a:t>changelog for SAP objects</a:t>
            </a: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a:t>
            </a:r>
            <a:endParaRPr kumimoji="0" lang="de-DE"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endParaRPr>
          </a:p>
        </p:txBody>
      </p:sp>
      <p:sp>
        <p:nvSpPr>
          <p:cNvPr id="15" name="TextBox 23">
            <a:extLst>
              <a:ext uri="{FF2B5EF4-FFF2-40B4-BE49-F238E27FC236}">
                <a16:creationId xmlns:a16="http://schemas.microsoft.com/office/drawing/2014/main" id="{E3176967-4B5C-B739-91D1-42CC9B60C346}"/>
              </a:ext>
            </a:extLst>
          </p:cNvPr>
          <p:cNvSpPr txBox="1"/>
          <p:nvPr/>
        </p:nvSpPr>
        <p:spPr>
          <a:xfrm>
            <a:off x="8867729" y="5320579"/>
            <a:ext cx="2520000" cy="553998"/>
          </a:xfrm>
          <a:prstGeom prst="rect">
            <a:avLst/>
          </a:prstGeom>
          <a:noFill/>
        </p:spPr>
        <p:txBody>
          <a:bodyPr wrap="square" lIns="0" tIns="0" rIns="0" bIns="0" rtlCol="0">
            <a:spAutoFit/>
          </a:bodyPr>
          <a:lstStyle/>
          <a:p>
            <a:pPr marL="0" marR="0" lvl="0" indent="0" algn="r"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200" b="1"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Not clean core</a:t>
            </a:r>
            <a:b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b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Not upgrade-stable, </a:t>
            </a:r>
            <a:b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br>
            <a:r>
              <a:rPr kumimoji="0" lang="en-GB"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rPr>
              <a:t>not recommended</a:t>
            </a:r>
            <a:endParaRPr kumimoji="0" lang="de-DE" sz="1200" b="0" i="0" u="none" strike="noStrike" kern="0" cap="none" spc="0" normalizeH="0" baseline="0" noProof="0">
              <a:ln>
                <a:noFill/>
              </a:ln>
              <a:solidFill>
                <a:srgbClr val="000000"/>
              </a:solidFill>
              <a:effectLst/>
              <a:uLnTx/>
              <a:uFillTx/>
              <a:latin typeface="72 Brand" panose="020B0504030603020204" pitchFamily="34" charset="0"/>
              <a:ea typeface="Arial Unicode MS" pitchFamily="34" charset="-128"/>
              <a:cs typeface="Arial Unicode MS" pitchFamily="34" charset="-128"/>
            </a:endParaRPr>
          </a:p>
        </p:txBody>
      </p:sp>
      <p:sp>
        <p:nvSpPr>
          <p:cNvPr id="16" name="TextBox 39">
            <a:extLst>
              <a:ext uri="{FF2B5EF4-FFF2-40B4-BE49-F238E27FC236}">
                <a16:creationId xmlns:a16="http://schemas.microsoft.com/office/drawing/2014/main" id="{390AD5D2-34B6-F393-2658-3EEDE114B95A}"/>
              </a:ext>
            </a:extLst>
          </p:cNvPr>
          <p:cNvSpPr txBox="1"/>
          <p:nvPr/>
        </p:nvSpPr>
        <p:spPr>
          <a:xfrm>
            <a:off x="8757665" y="6334413"/>
            <a:ext cx="2933160" cy="384721"/>
          </a:xfrm>
          <a:prstGeom prst="rect">
            <a:avLst/>
          </a:prstGeom>
          <a:noFill/>
        </p:spPr>
        <p:txBody>
          <a:bodyPr wrap="squar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000" b="0" i="1" u="none" strike="noStrike" kern="0" cap="none" spc="0" normalizeH="0" baseline="0" noProof="0">
                <a:ln>
                  <a:noFill/>
                </a:ln>
                <a:solidFill>
                  <a:schemeClr val="tx1">
                    <a:lumMod val="50000"/>
                    <a:lumOff val="50000"/>
                  </a:schemeClr>
                </a:solidFill>
                <a:effectLst/>
                <a:uLnTx/>
                <a:uFillTx/>
                <a:latin typeface="72 Brand" panose="020B0504030603020204" pitchFamily="34" charset="0"/>
                <a:ea typeface="Arial Unicode MS" pitchFamily="34" charset="-128"/>
                <a:cs typeface="Arial Unicode MS" pitchFamily="34" charset="-128"/>
              </a:rPr>
              <a:t>*available on </a:t>
            </a:r>
            <a:r>
              <a:rPr kumimoji="0" lang="en-GB" sz="1000" b="0" i="1" u="none" strike="noStrike" kern="0" cap="none" spc="0" normalizeH="0" baseline="0" noProof="0">
                <a:ln>
                  <a:noFill/>
                </a:ln>
                <a:solidFill>
                  <a:schemeClr val="tx1">
                    <a:lumMod val="50000"/>
                    <a:lumOff val="50000"/>
                  </a:schemeClr>
                </a:solidFill>
                <a:effectLst/>
                <a:uLnTx/>
                <a:uFillTx/>
                <a:latin typeface="72 Brand" panose="020B0504030603020204" pitchFamily="34" charset="0"/>
                <a:ea typeface="Arial Unicode MS" pitchFamily="34" charset="-128"/>
                <a:cs typeface="Arial Unicode MS" pitchFamily="34" charset="-128"/>
                <a:hlinkClick r:id="rId3">
                  <a:extLst>
                    <a:ext uri="{A12FA001-AC4F-418D-AE19-62706E023703}">
                      <ahyp:hlinkClr xmlns:ahyp="http://schemas.microsoft.com/office/drawing/2018/hyperlinkcolor" val="tx"/>
                    </a:ext>
                  </a:extLst>
                </a:hlinkClick>
              </a:rPr>
              <a:t>SAP Business Accelerator Hub</a:t>
            </a:r>
            <a:r>
              <a:rPr kumimoji="0" lang="en-GB" sz="1000" b="0" i="1" u="none" strike="noStrike" kern="0" cap="none" spc="0" normalizeH="0" baseline="0" noProof="0">
                <a:ln>
                  <a:noFill/>
                </a:ln>
                <a:solidFill>
                  <a:schemeClr val="tx1">
                    <a:lumMod val="50000"/>
                    <a:lumOff val="50000"/>
                  </a:schemeClr>
                </a:solidFill>
                <a:effectLst/>
                <a:uLnTx/>
                <a:uFillTx/>
                <a:latin typeface="72 Brand" panose="020B0504030603020204" pitchFamily="34" charset="0"/>
                <a:ea typeface="Arial Unicode MS" pitchFamily="34" charset="-128"/>
                <a:cs typeface="Arial Unicode MS" pitchFamily="34" charset="-128"/>
              </a:rPr>
              <a:t> </a:t>
            </a:r>
          </a:p>
          <a:p>
            <a:pPr marL="0" marR="0" lvl="0" indent="0" algn="l" defTabSz="1088776" rtl="0" eaLnBrk="1" fontAlgn="base" latinLnBrk="0" hangingPunct="1">
              <a:lnSpc>
                <a:spcPct val="100000"/>
              </a:lnSpc>
              <a:spcBef>
                <a:spcPct val="50000"/>
              </a:spcBef>
              <a:spcAft>
                <a:spcPct val="0"/>
              </a:spcAft>
              <a:buClr>
                <a:srgbClr val="000000"/>
              </a:buClr>
              <a:buSzPct val="100000"/>
              <a:buFontTx/>
              <a:buNone/>
              <a:tabLst/>
              <a:defRPr/>
            </a:pPr>
            <a:r>
              <a:rPr kumimoji="0" lang="en-GB" sz="1000" b="0" i="1" u="none" strike="noStrike" kern="0" cap="none" spc="0" normalizeH="0" baseline="0" noProof="0">
                <a:ln>
                  <a:noFill/>
                </a:ln>
                <a:solidFill>
                  <a:schemeClr val="tx1">
                    <a:lumMod val="50000"/>
                    <a:lumOff val="50000"/>
                  </a:schemeClr>
                </a:solidFill>
                <a:effectLst/>
                <a:uLnTx/>
                <a:uFillTx/>
                <a:latin typeface="72 Brand" panose="020B0504030603020204" pitchFamily="34" charset="0"/>
                <a:ea typeface="Arial Unicode MS" pitchFamily="34" charset="-128"/>
                <a:cs typeface="Arial Unicode MS" pitchFamily="34" charset="-128"/>
              </a:rPr>
              <a:t>**available in </a:t>
            </a:r>
            <a:r>
              <a:rPr kumimoji="0" lang="en-GB" sz="1000" b="0" i="1" u="none" strike="noStrike" kern="0" cap="none" spc="0" normalizeH="0" baseline="0" noProof="0">
                <a:ln>
                  <a:noFill/>
                </a:ln>
                <a:solidFill>
                  <a:schemeClr val="tx1">
                    <a:lumMod val="50000"/>
                    <a:lumOff val="50000"/>
                  </a:schemeClr>
                </a:solidFill>
                <a:effectLst/>
                <a:uLnTx/>
                <a:uFillTx/>
                <a:latin typeface="72 Brand" panose="020B0504030603020204" pitchFamily="34" charset="0"/>
                <a:ea typeface="Arial Unicode MS" pitchFamily="34" charset="-128"/>
                <a:cs typeface="Arial Unicode MS" pitchFamily="34" charset="-128"/>
                <a:hlinkClick r:id="rId4">
                  <a:extLst>
                    <a:ext uri="{A12FA001-AC4F-418D-AE19-62706E023703}">
                      <ahyp:hlinkClr xmlns:ahyp="http://schemas.microsoft.com/office/drawing/2018/hyperlinkcolor" val="tx"/>
                    </a:ext>
                  </a:extLst>
                </a:hlinkClick>
              </a:rPr>
              <a:t>Cloudification Repository Viewer</a:t>
            </a:r>
            <a:endParaRPr kumimoji="0" lang="de-DE" sz="1000" b="0" i="1" u="none" strike="noStrike" kern="0" cap="none" spc="0" normalizeH="0" baseline="0" noProof="0">
              <a:ln>
                <a:noFill/>
              </a:ln>
              <a:solidFill>
                <a:schemeClr val="tx1">
                  <a:lumMod val="50000"/>
                  <a:lumOff val="50000"/>
                </a:schemeClr>
              </a:solidFill>
              <a:effectLst/>
              <a:uLnTx/>
              <a:uFillTx/>
              <a:latin typeface="72 Brand" panose="020B0504030603020204" pitchFamily="34" charset="0"/>
              <a:ea typeface="Arial Unicode MS" pitchFamily="34" charset="-128"/>
              <a:cs typeface="Arial Unicode MS" pitchFamily="34" charset="-128"/>
            </a:endParaRPr>
          </a:p>
        </p:txBody>
      </p:sp>
      <p:sp>
        <p:nvSpPr>
          <p:cNvPr id="2" name="Rectangle: Rounded Corners 1">
            <a:extLst>
              <a:ext uri="{FF2B5EF4-FFF2-40B4-BE49-F238E27FC236}">
                <a16:creationId xmlns:a16="http://schemas.microsoft.com/office/drawing/2014/main" id="{A237ECF5-0FD8-33E7-1979-DBE95F37771D}"/>
              </a:ext>
            </a:extLst>
          </p:cNvPr>
          <p:cNvSpPr/>
          <p:nvPr/>
        </p:nvSpPr>
        <p:spPr bwMode="gray">
          <a:xfrm>
            <a:off x="393700" y="1706247"/>
            <a:ext cx="1964148" cy="994203"/>
          </a:xfrm>
          <a:prstGeom prst="roundRect">
            <a:avLst>
              <a:gd name="adj" fmla="val 9055"/>
            </a:avLst>
          </a:prstGeom>
          <a:noFill/>
          <a:ln w="12700" algn="ctr">
            <a:solidFill>
              <a:srgbClr val="00144A"/>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8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sp>
        <p:nvSpPr>
          <p:cNvPr id="17" name="Rectangle: Rounded Corners 16">
            <a:extLst>
              <a:ext uri="{FF2B5EF4-FFF2-40B4-BE49-F238E27FC236}">
                <a16:creationId xmlns:a16="http://schemas.microsoft.com/office/drawing/2014/main" id="{2E717AD2-8677-83A3-67DF-949CBF4CA597}"/>
              </a:ext>
            </a:extLst>
          </p:cNvPr>
          <p:cNvSpPr/>
          <p:nvPr/>
        </p:nvSpPr>
        <p:spPr bwMode="gray">
          <a:xfrm>
            <a:off x="393700" y="2924332"/>
            <a:ext cx="1964148" cy="789132"/>
          </a:xfrm>
          <a:prstGeom prst="roundRect">
            <a:avLst>
              <a:gd name="adj" fmla="val 11872"/>
            </a:avLst>
          </a:prstGeom>
          <a:noFill/>
          <a:ln w="12700" algn="ctr">
            <a:solidFill>
              <a:srgbClr val="002A86"/>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8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sp>
        <p:nvSpPr>
          <p:cNvPr id="21" name="Rectangle 29">
            <a:extLst>
              <a:ext uri="{FF2B5EF4-FFF2-40B4-BE49-F238E27FC236}">
                <a16:creationId xmlns:a16="http://schemas.microsoft.com/office/drawing/2014/main" id="{7B6A9D29-8C55-4784-6AA9-5F7C1B47A15F}"/>
              </a:ext>
            </a:extLst>
          </p:cNvPr>
          <p:cNvSpPr/>
          <p:nvPr/>
        </p:nvSpPr>
        <p:spPr bwMode="gray">
          <a:xfrm>
            <a:off x="474513" y="5627994"/>
            <a:ext cx="1800000" cy="288000"/>
          </a:xfrm>
          <a:prstGeom prst="roundRect">
            <a:avLst/>
          </a:prstGeom>
          <a:solidFill>
            <a:srgbClr val="1B90FF"/>
          </a:solidFill>
          <a:ln w="19050" algn="ctr">
            <a:no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900" b="0" i="0" u="none" strike="noStrike" kern="0" cap="none" spc="0" normalizeH="0" baseline="0" noProof="0">
                <a:ln>
                  <a:noFill/>
                </a:ln>
                <a:solidFill>
                  <a:schemeClr val="bg1"/>
                </a:solidFill>
                <a:effectLst/>
                <a:uLnTx/>
                <a:uFillTx/>
                <a:latin typeface="72 Brand"/>
                <a:ea typeface="+mn-ea"/>
                <a:cs typeface="+mn-cs"/>
              </a:rPr>
              <a:t>[Not recommended] SAP extension point / technology</a:t>
            </a:r>
            <a:endParaRPr kumimoji="0" lang="en-DE" sz="900" b="0" i="0" u="none" strike="noStrike" kern="0" cap="none" spc="0" normalizeH="0" baseline="0" noProof="0">
              <a:ln>
                <a:noFill/>
              </a:ln>
              <a:solidFill>
                <a:schemeClr val="bg1"/>
              </a:solidFill>
              <a:effectLst/>
              <a:uLnTx/>
              <a:uFillTx/>
              <a:latin typeface="72 Brand"/>
              <a:ea typeface="+mn-ea"/>
              <a:cs typeface="+mn-cs"/>
            </a:endParaRPr>
          </a:p>
        </p:txBody>
      </p:sp>
      <p:sp>
        <p:nvSpPr>
          <p:cNvPr id="26" name="Rectangle: Rounded Corners 25">
            <a:extLst>
              <a:ext uri="{FF2B5EF4-FFF2-40B4-BE49-F238E27FC236}">
                <a16:creationId xmlns:a16="http://schemas.microsoft.com/office/drawing/2014/main" id="{8E0D3BFF-9DA6-1962-E453-07D0C51180BB}"/>
              </a:ext>
            </a:extLst>
          </p:cNvPr>
          <p:cNvSpPr/>
          <p:nvPr/>
        </p:nvSpPr>
        <p:spPr bwMode="gray">
          <a:xfrm>
            <a:off x="393700" y="5210495"/>
            <a:ext cx="1964148" cy="789132"/>
          </a:xfrm>
          <a:prstGeom prst="roundRect">
            <a:avLst>
              <a:gd name="adj" fmla="val 13470"/>
            </a:avLst>
          </a:prstGeom>
          <a:noFill/>
          <a:ln w="12700" algn="ctr">
            <a:solidFill>
              <a:srgbClr val="1B90FF"/>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8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sp>
        <p:nvSpPr>
          <p:cNvPr id="32" name="Rectangle: Rounded Corners 31">
            <a:extLst>
              <a:ext uri="{FF2B5EF4-FFF2-40B4-BE49-F238E27FC236}">
                <a16:creationId xmlns:a16="http://schemas.microsoft.com/office/drawing/2014/main" id="{8D161EA3-777A-A324-3431-E574F31D818E}"/>
              </a:ext>
            </a:extLst>
          </p:cNvPr>
          <p:cNvSpPr/>
          <p:nvPr/>
        </p:nvSpPr>
        <p:spPr bwMode="gray">
          <a:xfrm>
            <a:off x="393700" y="4282818"/>
            <a:ext cx="1964148" cy="387863"/>
          </a:xfrm>
          <a:prstGeom prst="roundRect">
            <a:avLst>
              <a:gd name="adj" fmla="val 19919"/>
            </a:avLst>
          </a:prstGeom>
          <a:noFill/>
          <a:ln w="12700" algn="ctr">
            <a:solidFill>
              <a:srgbClr val="0070F2"/>
            </a:solidFill>
            <a:miter lim="800000"/>
            <a:headEnd/>
            <a:tailEnd/>
          </a:ln>
        </p:spPr>
        <p:txBody>
          <a:bodyPr lIns="90000" tIns="72000" rIns="90000" bIns="72000" rtlCol="0" anchor="ct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DE" sz="1800" b="0" i="0" u="none" strike="noStrike" kern="0" cap="none" spc="0" normalizeH="0" baseline="0" noProof="0">
              <a:ln>
                <a:noFill/>
              </a:ln>
              <a:solidFill>
                <a:srgbClr val="000000"/>
              </a:solidFill>
              <a:effectLst/>
              <a:uLnTx/>
              <a:uFillTx/>
              <a:latin typeface="72 Brand"/>
              <a:ea typeface="72 Brand" pitchFamily="34" charset="-128"/>
              <a:cs typeface="72 Brand" pitchFamily="34" charset="-128"/>
            </a:endParaRPr>
          </a:p>
        </p:txBody>
      </p:sp>
      <p:sp>
        <p:nvSpPr>
          <p:cNvPr id="20" name="TextBox 13">
            <a:extLst>
              <a:ext uri="{FF2B5EF4-FFF2-40B4-BE49-F238E27FC236}">
                <a16:creationId xmlns:a16="http://schemas.microsoft.com/office/drawing/2014/main" id="{248E5601-D7C2-E702-51DD-B9D159AB0DA4}"/>
              </a:ext>
            </a:extLst>
          </p:cNvPr>
          <p:cNvSpPr txBox="1"/>
          <p:nvPr/>
        </p:nvSpPr>
        <p:spPr>
          <a:xfrm>
            <a:off x="504349" y="6472913"/>
            <a:ext cx="4259293" cy="246221"/>
          </a:xfrm>
          <a:prstGeom prst="rect">
            <a:avLst/>
          </a:prstGeom>
          <a:noFill/>
        </p:spPr>
        <p:txBody>
          <a:bodyPr wrap="square" lIns="0" tIns="0" rIns="0" bIns="0" rtlCol="0">
            <a:spAutoFit/>
          </a:bodyPr>
          <a:lstStyle/>
          <a:p>
            <a:pPr fontAlgn="base">
              <a:spcBef>
                <a:spcPct val="50000"/>
              </a:spcBef>
              <a:spcAft>
                <a:spcPct val="0"/>
              </a:spcAft>
              <a:buClr>
                <a:schemeClr val="tx1"/>
              </a:buClr>
              <a:buSzPct val="100000"/>
            </a:pPr>
            <a:r>
              <a:rPr lang="en-US" sz="800" kern="0">
                <a:solidFill>
                  <a:schemeClr val="tx1">
                    <a:lumMod val="50000"/>
                    <a:lumOff val="50000"/>
                  </a:schemeClr>
                </a:solidFill>
                <a:latin typeface="72 Brand" panose="020B0504030603020204" pitchFamily="34" charset="0"/>
                <a:ea typeface="Arial Unicode MS" pitchFamily="34" charset="-128"/>
                <a:cs typeface="Arial Unicode MS" pitchFamily="34" charset="-128"/>
                <a:hlinkClick r:id="rId5">
                  <a:extLst>
                    <a:ext uri="{A12FA001-AC4F-418D-AE19-62706E023703}">
                      <ahyp:hlinkClr xmlns:ahyp="http://schemas.microsoft.com/office/drawing/2018/hyperlinkcolor" val="tx"/>
                    </a:ext>
                  </a:extLst>
                </a:hlinkClick>
              </a:rPr>
              <a:t>SAP Build</a:t>
            </a:r>
            <a:r>
              <a:rPr lang="en-US" sz="800" kern="0">
                <a:solidFill>
                  <a:schemeClr val="tx1">
                    <a:lumMod val="50000"/>
                    <a:lumOff val="50000"/>
                  </a:schemeClr>
                </a:solidFill>
                <a:latin typeface="72 Brand" panose="020B0504030603020204" pitchFamily="34" charset="0"/>
                <a:ea typeface="Arial Unicode MS" pitchFamily="34" charset="-128"/>
                <a:cs typeface="Arial Unicode MS" pitchFamily="34" charset="-128"/>
              </a:rPr>
              <a:t> includes AI-enhanced pro-code and low-code tools for on-stack and </a:t>
            </a:r>
            <a:br>
              <a:rPr lang="en-US" sz="800" kern="0">
                <a:solidFill>
                  <a:schemeClr val="tx1">
                    <a:lumMod val="50000"/>
                    <a:lumOff val="50000"/>
                  </a:schemeClr>
                </a:solidFill>
                <a:latin typeface="72 Brand" panose="020B0504030603020204" pitchFamily="34" charset="0"/>
                <a:ea typeface="Arial Unicode MS" pitchFamily="34" charset="-128"/>
                <a:cs typeface="Arial Unicode MS" pitchFamily="34" charset="-128"/>
              </a:rPr>
            </a:br>
            <a:r>
              <a:rPr lang="en-US" sz="800" kern="0">
                <a:solidFill>
                  <a:schemeClr val="tx1">
                    <a:lumMod val="50000"/>
                    <a:lumOff val="50000"/>
                  </a:schemeClr>
                </a:solidFill>
                <a:latin typeface="72 Brand" panose="020B0504030603020204" pitchFamily="34" charset="0"/>
                <a:ea typeface="Arial Unicode MS" pitchFamily="34" charset="-128"/>
                <a:cs typeface="Arial Unicode MS" pitchFamily="34" charset="-128"/>
              </a:rPr>
              <a:t>side-by-side application development and process automation. </a:t>
            </a:r>
          </a:p>
        </p:txBody>
      </p:sp>
      <p:cxnSp>
        <p:nvCxnSpPr>
          <p:cNvPr id="18" name="Straight Arrow Connector 67">
            <a:extLst>
              <a:ext uri="{FF2B5EF4-FFF2-40B4-BE49-F238E27FC236}">
                <a16:creationId xmlns:a16="http://schemas.microsoft.com/office/drawing/2014/main" id="{D5FE3BD9-9BCA-3C60-0AB3-47B8096F83EB}"/>
              </a:ext>
            </a:extLst>
          </p:cNvPr>
          <p:cNvCxnSpPr>
            <a:cxnSpLocks/>
          </p:cNvCxnSpPr>
          <p:nvPr/>
        </p:nvCxnSpPr>
        <p:spPr>
          <a:xfrm>
            <a:off x="5228748" y="1293501"/>
            <a:ext cx="237318" cy="0"/>
          </a:xfrm>
          <a:prstGeom prst="straightConnector1">
            <a:avLst/>
          </a:prstGeom>
          <a:ln w="12700">
            <a:solidFill>
              <a:schemeClr val="tx1"/>
            </a:solidFill>
            <a:headEnd type="arrow"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47" name="Straight Arrow Connector 67">
            <a:extLst>
              <a:ext uri="{FF2B5EF4-FFF2-40B4-BE49-F238E27FC236}">
                <a16:creationId xmlns:a16="http://schemas.microsoft.com/office/drawing/2014/main" id="{1755AEAF-792C-4E02-D70C-59F2CFAF0FDA}"/>
              </a:ext>
            </a:extLst>
          </p:cNvPr>
          <p:cNvCxnSpPr>
            <a:cxnSpLocks/>
          </p:cNvCxnSpPr>
          <p:nvPr/>
        </p:nvCxnSpPr>
        <p:spPr>
          <a:xfrm>
            <a:off x="3885850" y="2471070"/>
            <a:ext cx="0" cy="314238"/>
          </a:xfrm>
          <a:prstGeom prst="straightConnector1">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51" name="Straight Arrow Connector 67">
            <a:extLst>
              <a:ext uri="{FF2B5EF4-FFF2-40B4-BE49-F238E27FC236}">
                <a16:creationId xmlns:a16="http://schemas.microsoft.com/office/drawing/2014/main" id="{6A654815-277A-A701-9A67-CA0B6EF875D8}"/>
              </a:ext>
            </a:extLst>
          </p:cNvPr>
          <p:cNvCxnSpPr>
            <a:cxnSpLocks/>
          </p:cNvCxnSpPr>
          <p:nvPr/>
        </p:nvCxnSpPr>
        <p:spPr>
          <a:xfrm flipH="1">
            <a:off x="2357848" y="2225164"/>
            <a:ext cx="644047" cy="0"/>
          </a:xfrm>
          <a:prstGeom prst="straightConnector1">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53" name="Straight Arrow Connector 67">
            <a:extLst>
              <a:ext uri="{FF2B5EF4-FFF2-40B4-BE49-F238E27FC236}">
                <a16:creationId xmlns:a16="http://schemas.microsoft.com/office/drawing/2014/main" id="{386CBDF9-7546-39ED-22F3-016FBFEE2FD7}"/>
              </a:ext>
            </a:extLst>
          </p:cNvPr>
          <p:cNvCxnSpPr>
            <a:cxnSpLocks/>
            <a:endCxn id="17" idx="3"/>
          </p:cNvCxnSpPr>
          <p:nvPr/>
        </p:nvCxnSpPr>
        <p:spPr>
          <a:xfrm flipH="1" flipV="1">
            <a:off x="2357848" y="3318898"/>
            <a:ext cx="669504" cy="956"/>
          </a:xfrm>
          <a:prstGeom prst="straightConnector1">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54" name="Straight Arrow Connector 67">
            <a:extLst>
              <a:ext uri="{FF2B5EF4-FFF2-40B4-BE49-F238E27FC236}">
                <a16:creationId xmlns:a16="http://schemas.microsoft.com/office/drawing/2014/main" id="{03DBD60A-6E5D-B9AA-CD4D-ED6D27B38B9C}"/>
              </a:ext>
            </a:extLst>
          </p:cNvPr>
          <p:cNvCxnSpPr>
            <a:cxnSpLocks/>
          </p:cNvCxnSpPr>
          <p:nvPr/>
        </p:nvCxnSpPr>
        <p:spPr>
          <a:xfrm flipH="1">
            <a:off x="2357848" y="4473891"/>
            <a:ext cx="669504" cy="0"/>
          </a:xfrm>
          <a:prstGeom prst="straightConnector1">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cxnSp>
        <p:nvCxnSpPr>
          <p:cNvPr id="55" name="Straight Arrow Connector 67">
            <a:extLst>
              <a:ext uri="{FF2B5EF4-FFF2-40B4-BE49-F238E27FC236}">
                <a16:creationId xmlns:a16="http://schemas.microsoft.com/office/drawing/2014/main" id="{2E75C0EB-794C-2E34-EBE0-9DAB0A764F17}"/>
              </a:ext>
            </a:extLst>
          </p:cNvPr>
          <p:cNvCxnSpPr>
            <a:cxnSpLocks/>
          </p:cNvCxnSpPr>
          <p:nvPr/>
        </p:nvCxnSpPr>
        <p:spPr>
          <a:xfrm flipH="1">
            <a:off x="2357848" y="5609008"/>
            <a:ext cx="669504" cy="18986"/>
          </a:xfrm>
          <a:prstGeom prst="straightConnector1">
            <a:avLst/>
          </a:prstGeom>
          <a:ln w="12700">
            <a:solidFill>
              <a:schemeClr val="tx1"/>
            </a:solidFill>
            <a:headEnd type="none" w="lg" len="med"/>
            <a:tailEnd type="arrow" w="lg" len="med"/>
          </a:ln>
        </p:spPr>
        <p:style>
          <a:lnRef idx="1">
            <a:schemeClr val="accent1"/>
          </a:lnRef>
          <a:fillRef idx="0">
            <a:schemeClr val="accent1"/>
          </a:fillRef>
          <a:effectRef idx="0">
            <a:schemeClr val="accent1"/>
          </a:effectRef>
          <a:fontRef idx="minor">
            <a:schemeClr val="tx1"/>
          </a:fontRef>
        </p:style>
      </p:cxnSp>
      <p:grpSp>
        <p:nvGrpSpPr>
          <p:cNvPr id="40" name="Gruppieren 39">
            <a:extLst>
              <a:ext uri="{FF2B5EF4-FFF2-40B4-BE49-F238E27FC236}">
                <a16:creationId xmlns:a16="http://schemas.microsoft.com/office/drawing/2014/main" id="{38A3B461-8994-A0A5-2B63-BCBEC3A3FDCE}"/>
              </a:ext>
            </a:extLst>
          </p:cNvPr>
          <p:cNvGrpSpPr/>
          <p:nvPr/>
        </p:nvGrpSpPr>
        <p:grpSpPr>
          <a:xfrm>
            <a:off x="2971405" y="2838911"/>
            <a:ext cx="1828768" cy="3174846"/>
            <a:chOff x="2971405" y="2876748"/>
            <a:chExt cx="1828768" cy="3093349"/>
          </a:xfrm>
        </p:grpSpPr>
        <p:sp>
          <p:nvSpPr>
            <p:cNvPr id="41" name="Rectangle 23">
              <a:extLst>
                <a:ext uri="{FF2B5EF4-FFF2-40B4-BE49-F238E27FC236}">
                  <a16:creationId xmlns:a16="http://schemas.microsoft.com/office/drawing/2014/main" id="{B07B38A4-CCC8-69EA-3881-5720E97FA236}"/>
                </a:ext>
              </a:extLst>
            </p:cNvPr>
            <p:cNvSpPr/>
            <p:nvPr/>
          </p:nvSpPr>
          <p:spPr bwMode="gray">
            <a:xfrm>
              <a:off x="2995390" y="2876748"/>
              <a:ext cx="1804783" cy="1027446"/>
            </a:xfrm>
            <a:prstGeom prst="round2SameRect">
              <a:avLst>
                <a:gd name="adj1" fmla="val 4853"/>
                <a:gd name="adj2" fmla="val 0"/>
              </a:avLst>
            </a:prstGeom>
            <a:solidFill>
              <a:srgbClr val="002A86"/>
            </a:solidFill>
            <a:ln w="19050" algn="ctr">
              <a:noFill/>
              <a:miter lim="800000"/>
              <a:headEnd/>
              <a:tailEnd/>
            </a:ln>
          </p:spPr>
          <p:txBody>
            <a:bodyPr lIns="90000" tIns="72000" rIns="90000" bIns="72000" rtlCol="0" anchor="t"/>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GB" sz="900" b="0" i="0" u="none" strike="noStrike" kern="0" cap="none" spc="0" normalizeH="0" baseline="0" noProof="0">
                <a:ln>
                  <a:noFill/>
                </a:ln>
                <a:solidFill>
                  <a:schemeClr val="bg1"/>
                </a:solidFill>
                <a:effectLst/>
                <a:uLnTx/>
                <a:uFillTx/>
                <a:latin typeface="72 Brand"/>
                <a:ea typeface="72 Brand" pitchFamily="34" charset="-128"/>
                <a:cs typeface="72 Brand" pitchFamily="34" charset="-128"/>
              </a:endParaRPr>
            </a:p>
          </p:txBody>
        </p:sp>
        <p:sp>
          <p:nvSpPr>
            <p:cNvPr id="44" name="Rectangle 23">
              <a:extLst>
                <a:ext uri="{FF2B5EF4-FFF2-40B4-BE49-F238E27FC236}">
                  <a16:creationId xmlns:a16="http://schemas.microsoft.com/office/drawing/2014/main" id="{6C9FB363-00D5-CDC6-ABB5-65C1914F99EF}"/>
                </a:ext>
              </a:extLst>
            </p:cNvPr>
            <p:cNvSpPr/>
            <p:nvPr/>
          </p:nvSpPr>
          <p:spPr bwMode="gray">
            <a:xfrm>
              <a:off x="2971405" y="2953533"/>
              <a:ext cx="1800000" cy="363917"/>
            </a:xfrm>
            <a:prstGeom prst="rect">
              <a:avLst/>
            </a:prstGeom>
            <a:noFill/>
            <a:ln w="19050" algn="ctr">
              <a:noFill/>
              <a:miter lim="800000"/>
              <a:headEnd/>
              <a:tailEnd/>
            </a:ln>
          </p:spPr>
          <p:txBody>
            <a:bodyPr lIns="90000" tIns="72000" rIns="90000" bIns="72000" rtlCol="0" anchor="t"/>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GB" sz="1050" b="0" i="0" u="none" strike="noStrike" kern="0" cap="none" spc="0" normalizeH="0" baseline="0" noProof="0">
                  <a:ln>
                    <a:noFill/>
                  </a:ln>
                  <a:solidFill>
                    <a:schemeClr val="bg1"/>
                  </a:solidFill>
                  <a:effectLst/>
                  <a:uLnTx/>
                  <a:uFillTx/>
                  <a:latin typeface="72 Brand"/>
                  <a:ea typeface="72 Brand" pitchFamily="34" charset="-128"/>
                  <a:cs typeface="72 Brand" pitchFamily="34" charset="-128"/>
                </a:rPr>
                <a:t>Extend with classic </a:t>
              </a:r>
              <a:br>
                <a:rPr kumimoji="0" lang="en-GB" sz="1050" b="0" i="0" u="none" strike="noStrike" kern="0" cap="none" spc="0" normalizeH="0" baseline="0" noProof="0">
                  <a:ln>
                    <a:noFill/>
                  </a:ln>
                  <a:solidFill>
                    <a:schemeClr val="bg1"/>
                  </a:solidFill>
                  <a:effectLst/>
                  <a:uLnTx/>
                  <a:uFillTx/>
                  <a:latin typeface="72 Brand"/>
                  <a:ea typeface="72 Brand" pitchFamily="34" charset="-128"/>
                  <a:cs typeface="72 Brand" pitchFamily="34" charset="-128"/>
                </a:rPr>
              </a:br>
              <a:r>
                <a:rPr kumimoji="0" lang="en-GB" sz="1050" b="0" i="0" u="none" strike="noStrike" kern="0" cap="none" spc="0" normalizeH="0" baseline="0" noProof="0">
                  <a:ln>
                    <a:noFill/>
                  </a:ln>
                  <a:solidFill>
                    <a:schemeClr val="bg1"/>
                  </a:solidFill>
                  <a:effectLst/>
                  <a:uLnTx/>
                  <a:uFillTx/>
                  <a:latin typeface="72 Brand"/>
                  <a:ea typeface="72 Brand" pitchFamily="34" charset="-128"/>
                  <a:cs typeface="72 Brand" pitchFamily="34" charset="-128"/>
                </a:rPr>
                <a:t>ABAP</a:t>
              </a:r>
            </a:p>
          </p:txBody>
        </p:sp>
        <p:sp>
          <p:nvSpPr>
            <p:cNvPr id="45" name="Rectangle 23">
              <a:extLst>
                <a:ext uri="{FF2B5EF4-FFF2-40B4-BE49-F238E27FC236}">
                  <a16:creationId xmlns:a16="http://schemas.microsoft.com/office/drawing/2014/main" id="{9E4FAB70-A3C6-771E-F2F4-C5C922D26FDE}"/>
                </a:ext>
              </a:extLst>
            </p:cNvPr>
            <p:cNvSpPr/>
            <p:nvPr/>
          </p:nvSpPr>
          <p:spPr bwMode="gray">
            <a:xfrm flipV="1">
              <a:off x="2995390" y="4961675"/>
              <a:ext cx="1804783" cy="1008422"/>
            </a:xfrm>
            <a:prstGeom prst="round2SameRect">
              <a:avLst>
                <a:gd name="adj1" fmla="val 4853"/>
                <a:gd name="adj2" fmla="val 0"/>
              </a:avLst>
            </a:prstGeom>
            <a:solidFill>
              <a:srgbClr val="1B90FF"/>
            </a:solidFill>
            <a:ln w="19050" algn="ctr">
              <a:noFill/>
              <a:miter lim="800000"/>
              <a:headEnd/>
              <a:tailEnd/>
            </a:ln>
          </p:spPr>
          <p:txBody>
            <a:bodyPr lIns="90000" tIns="72000" rIns="90000" bIns="72000" rtlCol="0" anchor="t"/>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GB" sz="900" b="0" i="0" u="none" strike="noStrike" kern="0" cap="none" spc="0" normalizeH="0" baseline="0" noProof="0">
                <a:ln>
                  <a:noFill/>
                </a:ln>
                <a:solidFill>
                  <a:schemeClr val="bg1"/>
                </a:solidFill>
                <a:effectLst/>
                <a:uLnTx/>
                <a:uFillTx/>
                <a:latin typeface="72 Brand"/>
                <a:ea typeface="72 Brand" pitchFamily="34" charset="-128"/>
                <a:cs typeface="72 Brand" pitchFamily="34" charset="-128"/>
              </a:endParaRPr>
            </a:p>
          </p:txBody>
        </p:sp>
        <p:sp>
          <p:nvSpPr>
            <p:cNvPr id="46" name="Rectangle 23">
              <a:extLst>
                <a:ext uri="{FF2B5EF4-FFF2-40B4-BE49-F238E27FC236}">
                  <a16:creationId xmlns:a16="http://schemas.microsoft.com/office/drawing/2014/main" id="{5CE4BE2E-BE66-9F3E-0015-A6FA95EC91D5}"/>
                </a:ext>
              </a:extLst>
            </p:cNvPr>
            <p:cNvSpPr/>
            <p:nvPr/>
          </p:nvSpPr>
          <p:spPr bwMode="gray">
            <a:xfrm>
              <a:off x="2995391" y="3904197"/>
              <a:ext cx="1804782" cy="1058470"/>
            </a:xfrm>
            <a:prstGeom prst="rect">
              <a:avLst/>
            </a:prstGeom>
            <a:solidFill>
              <a:srgbClr val="0070F2"/>
            </a:solidFill>
            <a:ln w="19050" algn="ctr">
              <a:noFill/>
              <a:miter lim="800000"/>
              <a:headEnd/>
              <a:tailEnd/>
            </a:ln>
          </p:spPr>
          <p:txBody>
            <a:bodyPr lIns="90000" tIns="72000" rIns="90000" bIns="72000" rtlCol="0" anchor="t"/>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endParaRPr kumimoji="0" lang="en-GB" sz="900" b="0" i="0" u="none" strike="noStrike" kern="0" cap="none" spc="0" normalizeH="0" baseline="0" noProof="0">
                <a:ln>
                  <a:noFill/>
                </a:ln>
                <a:solidFill>
                  <a:schemeClr val="bg1"/>
                </a:solidFill>
                <a:effectLst/>
                <a:uLnTx/>
                <a:uFillTx/>
                <a:latin typeface="72 Brand"/>
                <a:ea typeface="72 Brand" pitchFamily="34" charset="-128"/>
                <a:cs typeface="72 Brand" pitchFamily="34" charset="-128"/>
              </a:endParaRPr>
            </a:p>
          </p:txBody>
        </p:sp>
      </p:grpSp>
      <p:sp>
        <p:nvSpPr>
          <p:cNvPr id="85" name="Rectangle 23">
            <a:extLst>
              <a:ext uri="{FF2B5EF4-FFF2-40B4-BE49-F238E27FC236}">
                <a16:creationId xmlns:a16="http://schemas.microsoft.com/office/drawing/2014/main" id="{8919CD44-99EC-8C3F-84CA-7422D5775269}"/>
              </a:ext>
            </a:extLst>
          </p:cNvPr>
          <p:cNvSpPr/>
          <p:nvPr/>
        </p:nvSpPr>
        <p:spPr bwMode="gray">
          <a:xfrm>
            <a:off x="2996058" y="1762590"/>
            <a:ext cx="1800000" cy="810092"/>
          </a:xfrm>
          <a:prstGeom prst="roundRect">
            <a:avLst/>
          </a:prstGeom>
          <a:solidFill>
            <a:srgbClr val="00144A"/>
          </a:solidFill>
          <a:ln w="19050" algn="ctr">
            <a:noFill/>
            <a:miter lim="800000"/>
            <a:headEnd/>
            <a:tailEnd/>
          </a:ln>
        </p:spPr>
        <p:txBody>
          <a:bodyPr lIns="90000" tIns="72000" rIns="90000" bIns="72000" rtlCol="0" anchor="ctr"/>
          <a:lstStyle/>
          <a:p>
            <a:pPr lvl="0" algn="ctr" defTabSz="914400" fontAlgn="base">
              <a:spcBef>
                <a:spcPct val="50000"/>
              </a:spcBef>
              <a:spcAft>
                <a:spcPct val="0"/>
              </a:spcAft>
              <a:buClr>
                <a:srgbClr val="F0AB00"/>
              </a:buClr>
              <a:buSzPct val="80000"/>
              <a:defRPr/>
            </a:pPr>
            <a:r>
              <a:rPr lang="en-US" sz="1050" kern="0" dirty="0">
                <a:solidFill>
                  <a:schemeClr val="bg1"/>
                </a:solidFill>
                <a:latin typeface="72 Brand"/>
              </a:rPr>
              <a:t>Extend with ABAP Cloud (SAP Build)</a:t>
            </a:r>
            <a:endParaRPr lang="en-DE" sz="1050" kern="0">
              <a:solidFill>
                <a:schemeClr val="bg1"/>
              </a:solidFill>
              <a:latin typeface="72 Brand"/>
            </a:endParaRPr>
          </a:p>
        </p:txBody>
      </p:sp>
      <p:cxnSp>
        <p:nvCxnSpPr>
          <p:cNvPr id="61" name="Straight Connector 1">
            <a:extLst>
              <a:ext uri="{FF2B5EF4-FFF2-40B4-BE49-F238E27FC236}">
                <a16:creationId xmlns:a16="http://schemas.microsoft.com/office/drawing/2014/main" id="{5D2DAA36-AC94-7CE5-28D0-6303A4053A2E}"/>
              </a:ext>
            </a:extLst>
          </p:cNvPr>
          <p:cNvCxnSpPr>
            <a:cxnSpLocks/>
          </p:cNvCxnSpPr>
          <p:nvPr/>
        </p:nvCxnSpPr>
        <p:spPr>
          <a:xfrm>
            <a:off x="7796993" y="3892959"/>
            <a:ext cx="3920013" cy="0"/>
          </a:xfrm>
          <a:prstGeom prst="line">
            <a:avLst/>
          </a:prstGeom>
          <a:ln w="19050">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2" name="Straight Connector 18">
            <a:extLst>
              <a:ext uri="{FF2B5EF4-FFF2-40B4-BE49-F238E27FC236}">
                <a16:creationId xmlns:a16="http://schemas.microsoft.com/office/drawing/2014/main" id="{31B71E60-A4AB-FBA6-A37D-7372F78219DB}"/>
              </a:ext>
            </a:extLst>
          </p:cNvPr>
          <p:cNvCxnSpPr>
            <a:cxnSpLocks/>
          </p:cNvCxnSpPr>
          <p:nvPr/>
        </p:nvCxnSpPr>
        <p:spPr>
          <a:xfrm>
            <a:off x="7256206" y="4980571"/>
            <a:ext cx="4454961" cy="0"/>
          </a:xfrm>
          <a:prstGeom prst="line">
            <a:avLst/>
          </a:prstGeom>
          <a:ln w="19050">
            <a:solidFill>
              <a:schemeClr val="tx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3" name="Straight Connector 18">
            <a:extLst>
              <a:ext uri="{FF2B5EF4-FFF2-40B4-BE49-F238E27FC236}">
                <a16:creationId xmlns:a16="http://schemas.microsoft.com/office/drawing/2014/main" id="{12EFD276-9D3D-C6CE-981D-DAFA5C64C0A4}"/>
              </a:ext>
            </a:extLst>
          </p:cNvPr>
          <p:cNvCxnSpPr>
            <a:cxnSpLocks/>
          </p:cNvCxnSpPr>
          <p:nvPr/>
        </p:nvCxnSpPr>
        <p:spPr>
          <a:xfrm>
            <a:off x="5237566" y="4980571"/>
            <a:ext cx="2018640" cy="0"/>
          </a:xfrm>
          <a:prstGeom prst="line">
            <a:avLst/>
          </a:prstGeom>
          <a:ln w="190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4" name="Straight Connector 1">
            <a:extLst>
              <a:ext uri="{FF2B5EF4-FFF2-40B4-BE49-F238E27FC236}">
                <a16:creationId xmlns:a16="http://schemas.microsoft.com/office/drawing/2014/main" id="{A070C425-975F-DAAB-41D1-DBCF056E9AC0}"/>
              </a:ext>
            </a:extLst>
          </p:cNvPr>
          <p:cNvCxnSpPr>
            <a:cxnSpLocks/>
          </p:cNvCxnSpPr>
          <p:nvPr/>
        </p:nvCxnSpPr>
        <p:spPr>
          <a:xfrm>
            <a:off x="3001895" y="3892959"/>
            <a:ext cx="1793496" cy="0"/>
          </a:xfrm>
          <a:prstGeom prst="line">
            <a:avLst/>
          </a:prstGeom>
          <a:ln w="19050">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68" name="Straight Connector 18">
            <a:extLst>
              <a:ext uri="{FF2B5EF4-FFF2-40B4-BE49-F238E27FC236}">
                <a16:creationId xmlns:a16="http://schemas.microsoft.com/office/drawing/2014/main" id="{EC75D495-893E-7CEF-2CD9-59304269FABE}"/>
              </a:ext>
            </a:extLst>
          </p:cNvPr>
          <p:cNvCxnSpPr>
            <a:cxnSpLocks/>
          </p:cNvCxnSpPr>
          <p:nvPr/>
        </p:nvCxnSpPr>
        <p:spPr>
          <a:xfrm>
            <a:off x="285135" y="4980571"/>
            <a:ext cx="2710255" cy="0"/>
          </a:xfrm>
          <a:prstGeom prst="line">
            <a:avLst/>
          </a:prstGeom>
          <a:ln w="19050">
            <a:solidFill>
              <a:schemeClr val="tx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71" name="Straight Connector 1">
            <a:extLst>
              <a:ext uri="{FF2B5EF4-FFF2-40B4-BE49-F238E27FC236}">
                <a16:creationId xmlns:a16="http://schemas.microsoft.com/office/drawing/2014/main" id="{C879A8EC-9B9E-6D3C-0CC9-9D5AEFC690C4}"/>
              </a:ext>
            </a:extLst>
          </p:cNvPr>
          <p:cNvCxnSpPr>
            <a:cxnSpLocks/>
          </p:cNvCxnSpPr>
          <p:nvPr/>
        </p:nvCxnSpPr>
        <p:spPr>
          <a:xfrm>
            <a:off x="285240" y="3892959"/>
            <a:ext cx="2686165" cy="0"/>
          </a:xfrm>
          <a:prstGeom prst="line">
            <a:avLst/>
          </a:prstGeom>
          <a:ln w="19050">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9" name="Straight Connector 18">
            <a:extLst>
              <a:ext uri="{FF2B5EF4-FFF2-40B4-BE49-F238E27FC236}">
                <a16:creationId xmlns:a16="http://schemas.microsoft.com/office/drawing/2014/main" id="{A3406065-5758-657F-8754-E3A807BAA7F7}"/>
              </a:ext>
            </a:extLst>
          </p:cNvPr>
          <p:cNvCxnSpPr>
            <a:cxnSpLocks/>
          </p:cNvCxnSpPr>
          <p:nvPr/>
        </p:nvCxnSpPr>
        <p:spPr>
          <a:xfrm>
            <a:off x="4795391" y="4979785"/>
            <a:ext cx="442175" cy="0"/>
          </a:xfrm>
          <a:prstGeom prst="line">
            <a:avLst/>
          </a:prstGeom>
          <a:ln w="19050">
            <a:solidFill>
              <a:schemeClr val="tx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2BF6C5F-8567-3935-8F96-26C7271DF158}"/>
              </a:ext>
            </a:extLst>
          </p:cNvPr>
          <p:cNvCxnSpPr>
            <a:cxnSpLocks/>
          </p:cNvCxnSpPr>
          <p:nvPr/>
        </p:nvCxnSpPr>
        <p:spPr>
          <a:xfrm flipV="1">
            <a:off x="2995390" y="4979785"/>
            <a:ext cx="1800001" cy="786"/>
          </a:xfrm>
          <a:prstGeom prst="line">
            <a:avLst/>
          </a:prstGeom>
          <a:ln w="19050">
            <a:solidFill>
              <a:schemeClr val="bg1"/>
            </a:solidFill>
            <a:prstDash val="solid"/>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5" name="Straight Connector 1">
            <a:extLst>
              <a:ext uri="{FF2B5EF4-FFF2-40B4-BE49-F238E27FC236}">
                <a16:creationId xmlns:a16="http://schemas.microsoft.com/office/drawing/2014/main" id="{AD448358-270B-5AF4-2F43-B64A52B8D8B2}"/>
              </a:ext>
            </a:extLst>
          </p:cNvPr>
          <p:cNvCxnSpPr>
            <a:cxnSpLocks/>
          </p:cNvCxnSpPr>
          <p:nvPr/>
        </p:nvCxnSpPr>
        <p:spPr>
          <a:xfrm>
            <a:off x="5237566" y="3892959"/>
            <a:ext cx="2546538" cy="0"/>
          </a:xfrm>
          <a:prstGeom prst="line">
            <a:avLst/>
          </a:prstGeom>
          <a:ln w="19050">
            <a:solidFill>
              <a:schemeClr val="bg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28" name="Straight Connector 1">
            <a:extLst>
              <a:ext uri="{FF2B5EF4-FFF2-40B4-BE49-F238E27FC236}">
                <a16:creationId xmlns:a16="http://schemas.microsoft.com/office/drawing/2014/main" id="{DE121B1F-F12B-6BD8-1869-F278A91732D5}"/>
              </a:ext>
            </a:extLst>
          </p:cNvPr>
          <p:cNvCxnSpPr>
            <a:cxnSpLocks/>
          </p:cNvCxnSpPr>
          <p:nvPr/>
        </p:nvCxnSpPr>
        <p:spPr>
          <a:xfrm>
            <a:off x="4795391" y="3892959"/>
            <a:ext cx="442175" cy="0"/>
          </a:xfrm>
          <a:prstGeom prst="line">
            <a:avLst/>
          </a:prstGeom>
          <a:ln w="19050">
            <a:solidFill>
              <a:schemeClr val="tx1"/>
            </a:solidFill>
            <a:prstDash val="dash"/>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9758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2"/>
                                        </p:tgtEl>
                                        <p:attrNameLst>
                                          <p:attrName>style.visibility</p:attrName>
                                        </p:attrNameLst>
                                      </p:cBhvr>
                                      <p:to>
                                        <p:strVal val="visible"/>
                                      </p:to>
                                    </p:set>
                                    <p:animEffect transition="in" filter="fade">
                                      <p:cBhvr>
                                        <p:cTn id="21" dur="500"/>
                                        <p:tgtEl>
                                          <p:spTgt spid="102"/>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03"/>
                                        </p:tgtEl>
                                        <p:attrNameLst>
                                          <p:attrName>style.visibility</p:attrName>
                                        </p:attrNameLst>
                                      </p:cBhvr>
                                      <p:to>
                                        <p:strVal val="visible"/>
                                      </p:to>
                                    </p:set>
                                    <p:animEffect transition="in" filter="fade">
                                      <p:cBhvr>
                                        <p:cTn id="26" dur="500"/>
                                        <p:tgtEl>
                                          <p:spTgt spid="10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04"/>
                                        </p:tgtEl>
                                        <p:attrNameLst>
                                          <p:attrName>style.visibility</p:attrName>
                                        </p:attrNameLst>
                                      </p:cBhvr>
                                      <p:to>
                                        <p:strVal val="visible"/>
                                      </p:to>
                                    </p:set>
                                    <p:animEffect transition="in" filter="fade">
                                      <p:cBhvr>
                                        <p:cTn id="31" dur="500"/>
                                        <p:tgtEl>
                                          <p:spTgt spid="104"/>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06"/>
                                        </p:tgtEl>
                                        <p:attrNameLst>
                                          <p:attrName>style.visibility</p:attrName>
                                        </p:attrNameLst>
                                      </p:cBhvr>
                                      <p:to>
                                        <p:strVal val="visible"/>
                                      </p:to>
                                    </p:set>
                                    <p:animEffect transition="in" filter="fade">
                                      <p:cBhvr>
                                        <p:cTn id="36" dur="500"/>
                                        <p:tgtEl>
                                          <p:spTgt spid="106"/>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07"/>
                                        </p:tgtEl>
                                        <p:attrNameLst>
                                          <p:attrName>style.visibility</p:attrName>
                                        </p:attrNameLst>
                                      </p:cBhvr>
                                      <p:to>
                                        <p:strVal val="visible"/>
                                      </p:to>
                                    </p:set>
                                    <p:animEffect transition="in" filter="fade">
                                      <p:cBhvr>
                                        <p:cTn id="41" dur="500"/>
                                        <p:tgtEl>
                                          <p:spTgt spid="107"/>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08"/>
                                        </p:tgtEl>
                                        <p:attrNameLst>
                                          <p:attrName>style.visibility</p:attrName>
                                        </p:attrNameLst>
                                      </p:cBhvr>
                                      <p:to>
                                        <p:strVal val="visible"/>
                                      </p:to>
                                    </p:set>
                                    <p:animEffect transition="in" filter="fade">
                                      <p:cBhvr>
                                        <p:cTn id="46" dur="500"/>
                                        <p:tgtEl>
                                          <p:spTgt spid="108"/>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09"/>
                                        </p:tgtEl>
                                        <p:attrNameLst>
                                          <p:attrName>style.visibility</p:attrName>
                                        </p:attrNameLst>
                                      </p:cBhvr>
                                      <p:to>
                                        <p:strVal val="visible"/>
                                      </p:to>
                                    </p:set>
                                    <p:animEffect transition="in" filter="fade">
                                      <p:cBhvr>
                                        <p:cTn id="51" dur="500"/>
                                        <p:tgtEl>
                                          <p:spTgt spid="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p:bldP spid="103" grpId="0"/>
      <p:bldP spid="104" grpId="0"/>
      <p:bldP spid="106" grpId="0"/>
      <p:bldP spid="107" grpId="0"/>
      <p:bldP spid="108" grpId="0"/>
      <p:bldP spid="109" grpId="0"/>
      <p:bldP spid="11" grpId="0"/>
      <p:bldP spid="12"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7D39B-C82D-F190-9314-2E284EDC71A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8496350-6649-AA4D-DB17-991490FA1166}"/>
              </a:ext>
            </a:extLst>
          </p:cNvPr>
          <p:cNvSpPr>
            <a:spLocks noGrp="1"/>
          </p:cNvSpPr>
          <p:nvPr>
            <p:ph type="ctrTitle"/>
          </p:nvPr>
        </p:nvSpPr>
        <p:spPr/>
        <p:txBody>
          <a:bodyPr/>
          <a:lstStyle/>
          <a:p>
            <a:r>
              <a:rPr lang="en-US" noProof="0"/>
              <a:t>SAP Application Extension Methodology</a:t>
            </a:r>
          </a:p>
        </p:txBody>
      </p:sp>
    </p:spTree>
    <p:extLst>
      <p:ext uri="{BB962C8B-B14F-4D97-AF65-F5344CB8AC3E}">
        <p14:creationId xmlns:p14="http://schemas.microsoft.com/office/powerpoint/2010/main" val="73337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14">
            <a:extLst>
              <a:ext uri="{FF2B5EF4-FFF2-40B4-BE49-F238E27FC236}">
                <a16:creationId xmlns:a16="http://schemas.microsoft.com/office/drawing/2014/main" id="{F037DB1E-315A-3F39-0EE2-263B3572EDB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2773256" y="-591555"/>
            <a:ext cx="13199971" cy="8783222"/>
          </a:xfrm>
          <a:prstGeom prst="rect">
            <a:avLst/>
          </a:prstGeom>
        </p:spPr>
      </p:pic>
      <p:pic>
        <p:nvPicPr>
          <p:cNvPr id="16" name="Picture 15">
            <a:extLst>
              <a:ext uri="{FF2B5EF4-FFF2-40B4-BE49-F238E27FC236}">
                <a16:creationId xmlns:a16="http://schemas.microsoft.com/office/drawing/2014/main" id="{2907C68D-8BB7-D5E7-F027-62F9C92FCDB5}"/>
              </a:ext>
            </a:extLst>
          </p:cNvPr>
          <p:cNvPicPr>
            <a:picLocks noChangeAspect="1"/>
          </p:cNvPicPr>
          <p:nvPr/>
        </p:nvPicPr>
        <p:blipFill>
          <a:blip r:embed="rId4" cstate="screen">
            <a:extLst>
              <a:ext uri="{28A0092B-C50C-407E-A947-70E740481C1C}">
                <a14:useLocalDpi xmlns:a14="http://schemas.microsoft.com/office/drawing/2010/main"/>
              </a:ext>
            </a:extLst>
          </a:blip>
          <a:srcRect r="6409"/>
          <a:stretch/>
        </p:blipFill>
        <p:spPr>
          <a:xfrm>
            <a:off x="25198" y="1635239"/>
            <a:ext cx="6916515" cy="4177142"/>
          </a:xfrm>
          <a:prstGeom prst="rect">
            <a:avLst/>
          </a:prstGeom>
        </p:spPr>
      </p:pic>
      <p:sp>
        <p:nvSpPr>
          <p:cNvPr id="11" name="TextBox 10">
            <a:extLst>
              <a:ext uri="{FF2B5EF4-FFF2-40B4-BE49-F238E27FC236}">
                <a16:creationId xmlns:a16="http://schemas.microsoft.com/office/drawing/2014/main" id="{59F1C36A-3293-F0AF-19EE-08DF389A5659}"/>
              </a:ext>
            </a:extLst>
          </p:cNvPr>
          <p:cNvSpPr txBox="1"/>
          <p:nvPr/>
        </p:nvSpPr>
        <p:spPr>
          <a:xfrm>
            <a:off x="7659273" y="3719469"/>
            <a:ext cx="4354381" cy="369236"/>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200" kern="0">
                <a:solidFill>
                  <a:schemeClr val="bg1"/>
                </a:solidFill>
                <a:latin typeface="72" panose="020B0503030000000003" pitchFamily="34" charset="0"/>
                <a:ea typeface="Arial Unicode MS" pitchFamily="34" charset="-128"/>
                <a:cs typeface="72" panose="020B0503030000000003" pitchFamily="34" charset="0"/>
              </a:rPr>
              <a:t>To access scan this code </a:t>
            </a:r>
            <a:br>
              <a:rPr lang="en-US" sz="1200" kern="0">
                <a:solidFill>
                  <a:schemeClr val="bg1"/>
                </a:solidFill>
                <a:latin typeface="72" panose="020B0503030000000003" pitchFamily="34" charset="0"/>
                <a:ea typeface="Arial Unicode MS" pitchFamily="34" charset="-128"/>
                <a:cs typeface="72" panose="020B0503030000000003" pitchFamily="34" charset="0"/>
              </a:rPr>
            </a:br>
            <a:r>
              <a:rPr lang="en-US" sz="1200" kern="0">
                <a:solidFill>
                  <a:schemeClr val="bg1"/>
                </a:solidFill>
                <a:latin typeface="72" panose="020B0503030000000003" pitchFamily="34" charset="0"/>
                <a:ea typeface="Arial Unicode MS" pitchFamily="34" charset="-128"/>
                <a:cs typeface="72" panose="020B0503030000000003" pitchFamily="34" charset="0"/>
              </a:rPr>
              <a:t>or click the link on top </a:t>
            </a:r>
          </a:p>
        </p:txBody>
      </p:sp>
      <p:sp>
        <p:nvSpPr>
          <p:cNvPr id="6" name="Titel 5">
            <a:extLst>
              <a:ext uri="{FF2B5EF4-FFF2-40B4-BE49-F238E27FC236}">
                <a16:creationId xmlns:a16="http://schemas.microsoft.com/office/drawing/2014/main" id="{1597C6EE-2D54-14A7-7D6F-74D4ADFDA836}"/>
              </a:ext>
            </a:extLst>
          </p:cNvPr>
          <p:cNvSpPr>
            <a:spLocks noGrp="1"/>
          </p:cNvSpPr>
          <p:nvPr>
            <p:ph type="title"/>
          </p:nvPr>
        </p:nvSpPr>
        <p:spPr>
          <a:xfrm>
            <a:off x="504001" y="504000"/>
            <a:ext cx="11186476" cy="676980"/>
          </a:xfrm>
        </p:spPr>
        <p:txBody>
          <a:bodyPr/>
          <a:lstStyle/>
          <a:p>
            <a:r>
              <a:rPr lang="en-US" sz="2599" dirty="0"/>
              <a:t>Extension architecture</a:t>
            </a:r>
            <a:br>
              <a:rPr lang="en-US" sz="2599" dirty="0"/>
            </a:br>
            <a:r>
              <a:rPr lang="en-US" sz="1800" dirty="0">
                <a:latin typeface="+mn-lt"/>
              </a:rPr>
              <a:t>SAP Application Extension Methodology</a:t>
            </a:r>
          </a:p>
        </p:txBody>
      </p:sp>
      <p:grpSp>
        <p:nvGrpSpPr>
          <p:cNvPr id="2" name="Gruppieren 1">
            <a:extLst>
              <a:ext uri="{FF2B5EF4-FFF2-40B4-BE49-F238E27FC236}">
                <a16:creationId xmlns:a16="http://schemas.microsoft.com/office/drawing/2014/main" id="{79E1897F-25A6-3537-FF94-6ED1490B48D8}"/>
              </a:ext>
            </a:extLst>
          </p:cNvPr>
          <p:cNvGrpSpPr/>
          <p:nvPr/>
        </p:nvGrpSpPr>
        <p:grpSpPr>
          <a:xfrm>
            <a:off x="8068379" y="1542896"/>
            <a:ext cx="3537340" cy="4804217"/>
            <a:chOff x="8067304" y="1471507"/>
            <a:chExt cx="3538261" cy="4805468"/>
          </a:xfrm>
        </p:grpSpPr>
        <p:sp>
          <p:nvSpPr>
            <p:cNvPr id="3" name="Rectangle: Rounded Corners 56">
              <a:extLst>
                <a:ext uri="{FF2B5EF4-FFF2-40B4-BE49-F238E27FC236}">
                  <a16:creationId xmlns:a16="http://schemas.microsoft.com/office/drawing/2014/main" id="{25F3B08A-C288-C62F-7882-150E04506488}"/>
                </a:ext>
              </a:extLst>
            </p:cNvPr>
            <p:cNvSpPr/>
            <p:nvPr/>
          </p:nvSpPr>
          <p:spPr bwMode="auto">
            <a:xfrm>
              <a:off x="8067307" y="1479450"/>
              <a:ext cx="3537089" cy="4797525"/>
            </a:xfrm>
            <a:prstGeom prst="roundRect">
              <a:avLst>
                <a:gd name="adj" fmla="val 3586"/>
              </a:avLst>
            </a:prstGeom>
            <a:solidFill>
              <a:schemeClr val="bg1"/>
            </a:solidFill>
            <a:ln>
              <a:noFill/>
              <a:headEnd type="none" w="med" len="med"/>
              <a:tailEnd type="none" w="med" len="med"/>
            </a:ln>
            <a:effectLst>
              <a:outerShdw blurRad="50800" dir="2700000" algn="tl" rotWithShape="0">
                <a:prstClr val="black">
                  <a:alpha val="4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defTabSz="932192" fontAlgn="base">
                <a:spcBef>
                  <a:spcPct val="0"/>
                </a:spcBef>
                <a:spcAft>
                  <a:spcPct val="0"/>
                </a:spcAft>
              </a:pPr>
              <a:endParaRPr lang="en-US" sz="1200" b="1">
                <a:solidFill>
                  <a:schemeClr val="tx1"/>
                </a:solidFill>
                <a:latin typeface="72" panose="020B0503030000000003" pitchFamily="34" charset="0"/>
                <a:ea typeface="Segoe UI" pitchFamily="34" charset="0"/>
                <a:cs typeface="72" panose="020B0503030000000003" pitchFamily="34" charset="0"/>
              </a:endParaRPr>
            </a:p>
          </p:txBody>
        </p:sp>
        <p:sp>
          <p:nvSpPr>
            <p:cNvPr id="38" name="TextBox 37">
              <a:extLst>
                <a:ext uri="{FF2B5EF4-FFF2-40B4-BE49-F238E27FC236}">
                  <a16:creationId xmlns:a16="http://schemas.microsoft.com/office/drawing/2014/main" id="{F42BB1A5-22C9-3B88-D1D0-DC9CE558AAA0}"/>
                </a:ext>
              </a:extLst>
            </p:cNvPr>
            <p:cNvSpPr txBox="1"/>
            <p:nvPr/>
          </p:nvSpPr>
          <p:spPr>
            <a:xfrm>
              <a:off x="8366857" y="5656551"/>
              <a:ext cx="2915074" cy="200055"/>
            </a:xfrm>
            <a:prstGeom prst="rect">
              <a:avLst/>
            </a:prstGeom>
            <a:noFill/>
          </p:spPr>
          <p:txBody>
            <a:bodyPr wrap="square" lIns="0" tIns="0" rIns="0" bIns="0" rtlCol="0" anchor="t">
              <a:spAutoFit/>
            </a:bodyPr>
            <a:lstStyle/>
            <a:p>
              <a:pPr marL="285664" indent="-285664" defTabSz="1088122" fontAlgn="base">
                <a:spcBef>
                  <a:spcPct val="50000"/>
                </a:spcBef>
                <a:spcAft>
                  <a:spcPts val="300"/>
                </a:spcAft>
                <a:buClr>
                  <a:srgbClr val="0070F3"/>
                </a:buClr>
                <a:buSzPct val="80000"/>
                <a:buFont typeface="Wingdings" pitchFamily="2" charset="2"/>
                <a:buChar char="§"/>
                <a:defRPr/>
              </a:pPr>
              <a:endParaRPr lang="en-US" sz="1300" kern="0">
                <a:solidFill>
                  <a:srgbClr val="0070F3"/>
                </a:solidFill>
                <a:latin typeface="72" panose="020B0503030000000003" pitchFamily="34" charset="0"/>
                <a:ea typeface="Arial Unicode MS"/>
                <a:cs typeface="72" panose="020B0503030000000003" pitchFamily="34" charset="0"/>
              </a:endParaRPr>
            </a:p>
          </p:txBody>
        </p:sp>
        <p:sp>
          <p:nvSpPr>
            <p:cNvPr id="8" name="Round Same-side Corner of Rectangle 7">
              <a:extLst>
                <a:ext uri="{FF2B5EF4-FFF2-40B4-BE49-F238E27FC236}">
                  <a16:creationId xmlns:a16="http://schemas.microsoft.com/office/drawing/2014/main" id="{04C7DE77-BD36-0BE0-5F12-42F3C15E69F2}"/>
                </a:ext>
              </a:extLst>
            </p:cNvPr>
            <p:cNvSpPr/>
            <p:nvPr/>
          </p:nvSpPr>
          <p:spPr bwMode="auto">
            <a:xfrm>
              <a:off x="8067307" y="2210239"/>
              <a:ext cx="3537089" cy="1883212"/>
            </a:xfrm>
            <a:prstGeom prst="round2SameRect">
              <a:avLst>
                <a:gd name="adj1" fmla="val 0"/>
                <a:gd name="adj2" fmla="val 0"/>
              </a:avLst>
            </a:prstGeom>
            <a:solidFill>
              <a:srgbClr val="0070F3"/>
            </a:solidFill>
            <a:ln w="158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defTabSz="932192" fontAlgn="base">
                <a:spcBef>
                  <a:spcPct val="0"/>
                </a:spcBef>
                <a:spcAft>
                  <a:spcPct val="0"/>
                </a:spcAft>
              </a:pPr>
              <a:endParaRPr lang="en-US" sz="1999" err="1">
                <a:gradFill>
                  <a:gsLst>
                    <a:gs pos="0">
                      <a:schemeClr val="bg1"/>
                    </a:gs>
                    <a:gs pos="100000">
                      <a:schemeClr val="bg1"/>
                    </a:gs>
                  </a:gsLst>
                  <a:lin ang="5400000" scaled="1"/>
                </a:gradFill>
                <a:latin typeface="72" panose="020B0503030000000003" pitchFamily="34" charset="0"/>
                <a:ea typeface="Segoe UI" pitchFamily="34" charset="0"/>
                <a:cs typeface="72" panose="020B0503030000000003" pitchFamily="34" charset="0"/>
              </a:endParaRPr>
            </a:p>
          </p:txBody>
        </p:sp>
        <p:sp>
          <p:nvSpPr>
            <p:cNvPr id="18" name="Freeform 17">
              <a:extLst>
                <a:ext uri="{FF2B5EF4-FFF2-40B4-BE49-F238E27FC236}">
                  <a16:creationId xmlns:a16="http://schemas.microsoft.com/office/drawing/2014/main" id="{AF416632-018E-A4C5-8285-9B348AE98F31}"/>
                </a:ext>
              </a:extLst>
            </p:cNvPr>
            <p:cNvSpPr/>
            <p:nvPr/>
          </p:nvSpPr>
          <p:spPr bwMode="auto">
            <a:xfrm rot="10800000">
              <a:off x="8067306" y="1471507"/>
              <a:ext cx="3537087" cy="479641"/>
            </a:xfrm>
            <a:custGeom>
              <a:avLst/>
              <a:gdLst>
                <a:gd name="connsiteX0" fmla="*/ 0 w 2775857"/>
                <a:gd name="connsiteY0" fmla="*/ 0 h 479641"/>
                <a:gd name="connsiteX1" fmla="*/ 2775857 w 2775857"/>
                <a:gd name="connsiteY1" fmla="*/ 0 h 479641"/>
                <a:gd name="connsiteX2" fmla="*/ 2775857 w 2775857"/>
                <a:gd name="connsiteY2" fmla="*/ 390231 h 479641"/>
                <a:gd name="connsiteX3" fmla="*/ 2686447 w 2775857"/>
                <a:gd name="connsiteY3" fmla="*/ 479641 h 479641"/>
                <a:gd name="connsiteX4" fmla="*/ 89410 w 2775857"/>
                <a:gd name="connsiteY4" fmla="*/ 479641 h 479641"/>
                <a:gd name="connsiteX5" fmla="*/ 0 w 2775857"/>
                <a:gd name="connsiteY5" fmla="*/ 390231 h 47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75857" h="479641">
                  <a:moveTo>
                    <a:pt x="0" y="0"/>
                  </a:moveTo>
                  <a:lnTo>
                    <a:pt x="2775857" y="0"/>
                  </a:lnTo>
                  <a:lnTo>
                    <a:pt x="2775857" y="390231"/>
                  </a:lnTo>
                  <a:cubicBezTo>
                    <a:pt x="2775857" y="439611"/>
                    <a:pt x="2735827" y="479641"/>
                    <a:pt x="2686447" y="479641"/>
                  </a:cubicBezTo>
                  <a:lnTo>
                    <a:pt x="89410" y="479641"/>
                  </a:lnTo>
                  <a:cubicBezTo>
                    <a:pt x="40030" y="479641"/>
                    <a:pt x="0" y="439611"/>
                    <a:pt x="0" y="390231"/>
                  </a:cubicBezTo>
                  <a:close/>
                </a:path>
              </a:pathLst>
            </a:cu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defTabSz="932192" fontAlgn="base">
                <a:spcBef>
                  <a:spcPct val="0"/>
                </a:spcBef>
                <a:spcAft>
                  <a:spcPct val="0"/>
                </a:spcAft>
              </a:pPr>
              <a:endParaRPr lang="en-US" sz="1999">
                <a:gradFill>
                  <a:gsLst>
                    <a:gs pos="0">
                      <a:schemeClr val="bg1"/>
                    </a:gs>
                    <a:gs pos="100000">
                      <a:schemeClr val="bg1"/>
                    </a:gs>
                  </a:gsLst>
                  <a:lin ang="5400000" scaled="1"/>
                </a:gradFill>
                <a:latin typeface="72" panose="020B0503030000000003" pitchFamily="34" charset="0"/>
                <a:ea typeface="Segoe UI" pitchFamily="34" charset="0"/>
                <a:cs typeface="72" panose="020B0503030000000003" pitchFamily="34" charset="0"/>
              </a:endParaRPr>
            </a:p>
          </p:txBody>
        </p:sp>
        <p:sp>
          <p:nvSpPr>
            <p:cNvPr id="10" name="TextBox 9">
              <a:extLst>
                <a:ext uri="{FF2B5EF4-FFF2-40B4-BE49-F238E27FC236}">
                  <a16:creationId xmlns:a16="http://schemas.microsoft.com/office/drawing/2014/main" id="{F41CFCD6-2794-3678-62FB-FBA218A06F93}"/>
                </a:ext>
              </a:extLst>
            </p:cNvPr>
            <p:cNvSpPr txBox="1"/>
            <p:nvPr/>
          </p:nvSpPr>
          <p:spPr>
            <a:xfrm>
              <a:off x="8067304" y="1563874"/>
              <a:ext cx="3538261" cy="553741"/>
            </a:xfrm>
            <a:prstGeom prst="rect">
              <a:avLst/>
            </a:prstGeom>
            <a:noFill/>
          </p:spPr>
          <p:txBody>
            <a:bodyPr wrap="square" lIns="0" tIns="0" rIns="0" bIns="0" rtlCol="0">
              <a:spAutoFit/>
            </a:bodyPr>
            <a:lstStyle/>
            <a:p>
              <a:pPr algn="ctr" fontAlgn="base">
                <a:spcBef>
                  <a:spcPct val="50000"/>
                </a:spcBef>
                <a:spcAft>
                  <a:spcPct val="0"/>
                </a:spcAft>
                <a:buClr>
                  <a:srgbClr val="F0AB00"/>
                </a:buClr>
                <a:buSzPct val="80000"/>
              </a:pPr>
              <a:r>
                <a:rPr lang="en-US" sz="1799" b="1" u="sng" kern="0">
                  <a:solidFill>
                    <a:srgbClr val="0070F3"/>
                  </a:solidFill>
                  <a:latin typeface="72" panose="020B0503030000000003" pitchFamily="34" charset="0"/>
                  <a:ea typeface="Arial Unicode MS" pitchFamily="34" charset="-128"/>
                  <a:cs typeface="72" panose="020B0503030000000003" pitchFamily="34" charset="0"/>
                </a:rPr>
                <a:t>SAP Application Extension </a:t>
              </a:r>
              <a:br>
                <a:rPr lang="en-US" sz="1799" b="1" u="sng" kern="0">
                  <a:solidFill>
                    <a:srgbClr val="0070F3"/>
                  </a:solidFill>
                  <a:latin typeface="72" panose="020B0503030000000003" pitchFamily="34" charset="0"/>
                  <a:ea typeface="Arial Unicode MS" pitchFamily="34" charset="-128"/>
                  <a:cs typeface="72" panose="020B0503030000000003" pitchFamily="34" charset="0"/>
                </a:rPr>
              </a:br>
              <a:r>
                <a:rPr lang="en-US" sz="1799" b="1" u="sng" kern="0">
                  <a:solidFill>
                    <a:srgbClr val="0070F3"/>
                  </a:solidFill>
                  <a:latin typeface="72" panose="020B0503030000000003" pitchFamily="34" charset="0"/>
                  <a:ea typeface="Arial Unicode MS" pitchFamily="34" charset="-128"/>
                  <a:cs typeface="72" panose="020B0503030000000003" pitchFamily="34" charset="0"/>
                </a:rPr>
                <a:t>Methodology</a:t>
              </a:r>
              <a:endParaRPr lang="en-DE" sz="1799" b="1" u="sng" kern="0">
                <a:solidFill>
                  <a:srgbClr val="0070F3"/>
                </a:solidFill>
                <a:latin typeface="72" panose="020B0503030000000003" pitchFamily="34" charset="0"/>
                <a:ea typeface="Arial Unicode MS" pitchFamily="34" charset="-128"/>
                <a:cs typeface="72" panose="020B0503030000000003" pitchFamily="34" charset="0"/>
              </a:endParaRPr>
            </a:p>
          </p:txBody>
        </p:sp>
        <p:sp>
          <p:nvSpPr>
            <p:cNvPr id="7" name="Rectangle: Rounded Corners 56">
              <a:extLst>
                <a:ext uri="{FF2B5EF4-FFF2-40B4-BE49-F238E27FC236}">
                  <a16:creationId xmlns:a16="http://schemas.microsoft.com/office/drawing/2014/main" id="{3F0C8F87-7923-5FFB-41FD-77111A6B339C}"/>
                </a:ext>
              </a:extLst>
            </p:cNvPr>
            <p:cNvSpPr/>
            <p:nvPr/>
          </p:nvSpPr>
          <p:spPr bwMode="auto">
            <a:xfrm>
              <a:off x="8067304" y="4093452"/>
              <a:ext cx="3537089" cy="190029"/>
            </a:xfrm>
            <a:prstGeom prst="roundRect">
              <a:avLst>
                <a:gd name="adj" fmla="val 0"/>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32" tIns="146266" rIns="182832" bIns="146266" numCol="1" spcCol="0" rtlCol="0" fromWordArt="0" anchor="t" anchorCtr="0" forceAA="0" compatLnSpc="1">
              <a:prstTxWarp prst="textNoShape">
                <a:avLst/>
              </a:prstTxWarp>
              <a:noAutofit/>
            </a:bodyPr>
            <a:lstStyle/>
            <a:p>
              <a:pPr defTabSz="932192" fontAlgn="base">
                <a:spcBef>
                  <a:spcPct val="0"/>
                </a:spcBef>
                <a:spcAft>
                  <a:spcPct val="0"/>
                </a:spcAft>
              </a:pPr>
              <a:endParaRPr lang="en-US" sz="1200" b="1">
                <a:solidFill>
                  <a:schemeClr val="tx1"/>
                </a:solidFill>
                <a:latin typeface="72" panose="020B0503030000000003" pitchFamily="34" charset="0"/>
                <a:ea typeface="Segoe UI" pitchFamily="34" charset="0"/>
                <a:cs typeface="72" panose="020B0503030000000003" pitchFamily="34" charset="0"/>
              </a:endParaRPr>
            </a:p>
          </p:txBody>
        </p:sp>
      </p:grpSp>
      <p:sp>
        <p:nvSpPr>
          <p:cNvPr id="17" name="TextBox 36">
            <a:extLst>
              <a:ext uri="{FF2B5EF4-FFF2-40B4-BE49-F238E27FC236}">
                <a16:creationId xmlns:a16="http://schemas.microsoft.com/office/drawing/2014/main" id="{693E65F9-98B0-2411-CDF9-87097BD9D64C}"/>
              </a:ext>
            </a:extLst>
          </p:cNvPr>
          <p:cNvSpPr txBox="1"/>
          <p:nvPr/>
        </p:nvSpPr>
        <p:spPr>
          <a:xfrm>
            <a:off x="8367855" y="4336449"/>
            <a:ext cx="3044925" cy="1315745"/>
          </a:xfrm>
          <a:prstGeom prst="rect">
            <a:avLst/>
          </a:prstGeom>
          <a:noFill/>
        </p:spPr>
        <p:txBody>
          <a:bodyPr wrap="square" lIns="0" tIns="0" rIns="0" bIns="0" rtlCol="0">
            <a:spAutoFit/>
          </a:bodyPr>
          <a:lstStyle/>
          <a:p>
            <a:pPr marL="285664" indent="-285664" defTabSz="1088122" fontAlgn="base">
              <a:spcAft>
                <a:spcPts val="300"/>
              </a:spcAft>
              <a:buClr>
                <a:srgbClr val="0070F3"/>
              </a:buClr>
              <a:buSzPct val="80000"/>
              <a:buFont typeface="Wingdings" pitchFamily="2" charset="2"/>
              <a:buChar char="§"/>
              <a:defRPr/>
            </a:pPr>
            <a:r>
              <a:rPr lang="en-US" sz="1400" dirty="0">
                <a:solidFill>
                  <a:srgbClr val="666666"/>
                </a:solidFill>
                <a:latin typeface="72" panose="020B0503030000000003" pitchFamily="34" charset="0"/>
              </a:rPr>
              <a:t>The </a:t>
            </a:r>
            <a:r>
              <a:rPr lang="en-US" sz="1400" dirty="0">
                <a:solidFill>
                  <a:srgbClr val="666666"/>
                </a:solidFill>
                <a:latin typeface="72" panose="020B0503030000000003" pitchFamily="34" charset="0"/>
                <a:hlinkClick r:id="rId5"/>
              </a:rPr>
              <a:t>SAP Application Extension Methodology</a:t>
            </a:r>
            <a:r>
              <a:rPr lang="en-US" sz="1400" dirty="0">
                <a:solidFill>
                  <a:srgbClr val="666666"/>
                </a:solidFill>
                <a:latin typeface="72" panose="020B0503030000000003" pitchFamily="34" charset="0"/>
              </a:rPr>
              <a:t> helps you to define, document and execute an enterprise extension strategy </a:t>
            </a:r>
            <a:br>
              <a:rPr lang="en-US" sz="1400" dirty="0">
                <a:solidFill>
                  <a:srgbClr val="666666"/>
                </a:solidFill>
                <a:latin typeface="72" panose="020B0503030000000003" pitchFamily="34" charset="0"/>
              </a:rPr>
            </a:br>
            <a:r>
              <a:rPr lang="en-US" sz="1400" dirty="0">
                <a:solidFill>
                  <a:srgbClr val="666666"/>
                </a:solidFill>
                <a:latin typeface="72" panose="020B0503030000000003" pitchFamily="34" charset="0"/>
              </a:rPr>
              <a:t>for your organization.</a:t>
            </a:r>
          </a:p>
          <a:p>
            <a:pPr marL="285664" indent="-285664" defTabSz="1088122" fontAlgn="base">
              <a:spcAft>
                <a:spcPts val="300"/>
              </a:spcAft>
              <a:buClr>
                <a:srgbClr val="0070F3"/>
              </a:buClr>
              <a:buSzPct val="80000"/>
              <a:buFont typeface="Wingdings" pitchFamily="2" charset="2"/>
              <a:buChar char="§"/>
              <a:defRPr/>
            </a:pPr>
            <a:endParaRPr lang="en-US" sz="1300" kern="0" dirty="0">
              <a:solidFill>
                <a:sysClr val="windowText" lastClr="000000"/>
              </a:solidFill>
              <a:latin typeface="72" panose="020B0503030000000003" pitchFamily="34" charset="0"/>
              <a:ea typeface="Arial Unicode MS" pitchFamily="34" charset="-128"/>
              <a:cs typeface="72" panose="020B0503030000000003" pitchFamily="34" charset="0"/>
            </a:endParaRPr>
          </a:p>
        </p:txBody>
      </p:sp>
      <p:pic>
        <p:nvPicPr>
          <p:cNvPr id="1026" name="Picture 2">
            <a:extLst>
              <a:ext uri="{FF2B5EF4-FFF2-40B4-BE49-F238E27FC236}">
                <a16:creationId xmlns:a16="http://schemas.microsoft.com/office/drawing/2014/main" id="{D866CF96-AA94-3820-F6B1-20D047E7D6BD}"/>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9252110" y="2544924"/>
            <a:ext cx="1276412" cy="127641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CAD7725-4C89-AA5D-3087-0E3ECB1CECF8}"/>
              </a:ext>
            </a:extLst>
          </p:cNvPr>
          <p:cNvPicPr>
            <a:picLocks noChangeAspect="1"/>
          </p:cNvPicPr>
          <p:nvPr/>
        </p:nvPicPr>
        <p:blipFill>
          <a:blip r:embed="rId7"/>
          <a:stretch>
            <a:fillRect/>
          </a:stretch>
        </p:blipFill>
        <p:spPr>
          <a:xfrm>
            <a:off x="24029" y="2193180"/>
            <a:ext cx="6916514" cy="3533671"/>
          </a:xfrm>
          <a:prstGeom prst="rect">
            <a:avLst/>
          </a:prstGeom>
        </p:spPr>
      </p:pic>
      <p:sp>
        <p:nvSpPr>
          <p:cNvPr id="12" name="Gefaltete Ecke 6">
            <a:extLst>
              <a:ext uri="{FF2B5EF4-FFF2-40B4-BE49-F238E27FC236}">
                <a16:creationId xmlns:a16="http://schemas.microsoft.com/office/drawing/2014/main" id="{6FE549C6-EE25-708A-48E9-43F1CE4A433C}"/>
              </a:ext>
            </a:extLst>
          </p:cNvPr>
          <p:cNvSpPr/>
          <p:nvPr/>
        </p:nvSpPr>
        <p:spPr bwMode="gray">
          <a:xfrm>
            <a:off x="-21712" y="-63530"/>
            <a:ext cx="120471" cy="7032625"/>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panose="020B0503030000000003" pitchFamily="34" charset="0"/>
              <a:cs typeface="72" panose="020B0503030000000003" pitchFamily="34" charset="0"/>
            </a:endParaRPr>
          </a:p>
        </p:txBody>
      </p:sp>
      <p:sp>
        <p:nvSpPr>
          <p:cNvPr id="5" name="TextBox 4">
            <a:extLst>
              <a:ext uri="{FF2B5EF4-FFF2-40B4-BE49-F238E27FC236}">
                <a16:creationId xmlns:a16="http://schemas.microsoft.com/office/drawing/2014/main" id="{B2A93934-F18B-A45F-6E8B-1CF5B1220537}"/>
              </a:ext>
            </a:extLst>
          </p:cNvPr>
          <p:cNvSpPr txBox="1"/>
          <p:nvPr/>
        </p:nvSpPr>
        <p:spPr>
          <a:xfrm>
            <a:off x="10726118" y="0"/>
            <a:ext cx="1469057" cy="677108"/>
          </a:xfrm>
          <a:prstGeom prst="rect">
            <a:avLst/>
          </a:prstGeom>
          <a:noFill/>
        </p:spPr>
        <p:txBody>
          <a:bodyPr wrap="square">
            <a:spAutoFit/>
          </a:bodyPr>
          <a:lstStyle/>
          <a:p>
            <a:pPr algn="r" defTabSz="1088558">
              <a:defRPr/>
            </a:pPr>
            <a:r>
              <a:rPr lang="en-US" sz="1800" dirty="0">
                <a:solidFill>
                  <a:srgbClr val="1B90FF"/>
                </a:solidFill>
                <a:latin typeface="+mj-lt"/>
                <a:cs typeface="72" panose="020B0503030000000003" pitchFamily="34" charset="0"/>
              </a:rPr>
              <a:t>2</a:t>
            </a:r>
          </a:p>
          <a:p>
            <a:pPr algn="r" defTabSz="1088558">
              <a:defRPr/>
            </a:pPr>
            <a:r>
              <a:rPr lang="en-US" sz="1000" b="1" dirty="0">
                <a:solidFill>
                  <a:srgbClr val="1B90FF"/>
                </a:solidFill>
                <a:latin typeface="+mn-lt"/>
                <a:cs typeface="72" panose="020B0503030000000003" pitchFamily="34" charset="0"/>
              </a:rPr>
              <a:t>Extension</a:t>
            </a:r>
            <a:br>
              <a:rPr lang="en-US" sz="1000" b="1" dirty="0">
                <a:solidFill>
                  <a:srgbClr val="1B90FF"/>
                </a:solidFill>
                <a:latin typeface="+mn-lt"/>
                <a:cs typeface="72" panose="020B0503030000000003" pitchFamily="34" charset="0"/>
              </a:rPr>
            </a:br>
            <a:r>
              <a:rPr lang="en-US" sz="1000" b="1" dirty="0">
                <a:solidFill>
                  <a:srgbClr val="1B90FF"/>
                </a:solidFill>
                <a:latin typeface="+mn-lt"/>
                <a:cs typeface="72" panose="020B0503030000000003" pitchFamily="34" charset="0"/>
              </a:rPr>
              <a:t>architecture</a:t>
            </a:r>
          </a:p>
        </p:txBody>
      </p:sp>
    </p:spTree>
    <p:extLst>
      <p:ext uri="{BB962C8B-B14F-4D97-AF65-F5344CB8AC3E}">
        <p14:creationId xmlns:p14="http://schemas.microsoft.com/office/powerpoint/2010/main" val="6658922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efaltete Ecke 6">
            <a:extLst>
              <a:ext uri="{FF2B5EF4-FFF2-40B4-BE49-F238E27FC236}">
                <a16:creationId xmlns:a16="http://schemas.microsoft.com/office/drawing/2014/main" id="{446F8ADC-385F-35EA-5126-6E6C6ABF6D69}"/>
              </a:ext>
            </a:extLst>
          </p:cNvPr>
          <p:cNvSpPr/>
          <p:nvPr/>
        </p:nvSpPr>
        <p:spPr bwMode="gray">
          <a:xfrm>
            <a:off x="-21712" y="-23768"/>
            <a:ext cx="120471" cy="7032625"/>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panose="020B0503030000000003" pitchFamily="34" charset="0"/>
              <a:cs typeface="72" panose="020B0503030000000003" pitchFamily="34" charset="0"/>
            </a:endParaRPr>
          </a:p>
        </p:txBody>
      </p:sp>
      <p:sp>
        <p:nvSpPr>
          <p:cNvPr id="5" name="Rounded Rectangle 2">
            <a:extLst>
              <a:ext uri="{FF2B5EF4-FFF2-40B4-BE49-F238E27FC236}">
                <a16:creationId xmlns:a16="http://schemas.microsoft.com/office/drawing/2014/main" id="{AA236527-F050-60D0-43EC-12E9A20CB819}"/>
              </a:ext>
            </a:extLst>
          </p:cNvPr>
          <p:cNvSpPr/>
          <p:nvPr/>
        </p:nvSpPr>
        <p:spPr bwMode="gray">
          <a:xfrm>
            <a:off x="504001" y="1242664"/>
            <a:ext cx="1054885" cy="233316"/>
          </a:xfrm>
          <a:prstGeom prst="roundRect">
            <a:avLst>
              <a:gd name="adj" fmla="val 21664"/>
            </a:avLst>
          </a:prstGeom>
          <a:solidFill>
            <a:srgbClr val="D2EFFF"/>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tx1"/>
                </a:solidFill>
                <a:latin typeface="72 Brand" panose="020B0504030603020204" pitchFamily="34" charset="0"/>
                <a:ea typeface="Arial Unicode MS" pitchFamily="34" charset="-128"/>
                <a:cs typeface="Arial Unicode MS" pitchFamily="34" charset="-128"/>
                <a:sym typeface="Arial"/>
              </a:rPr>
              <a:t>Example</a:t>
            </a:r>
          </a:p>
        </p:txBody>
      </p:sp>
      <p:sp>
        <p:nvSpPr>
          <p:cNvPr id="62" name="Arrow: Pentagon 7">
            <a:extLst>
              <a:ext uri="{FF2B5EF4-FFF2-40B4-BE49-F238E27FC236}">
                <a16:creationId xmlns:a16="http://schemas.microsoft.com/office/drawing/2014/main" id="{30CF3BE5-CC60-6EBA-6D94-3881B17F8BD4}"/>
              </a:ext>
            </a:extLst>
          </p:cNvPr>
          <p:cNvSpPr/>
          <p:nvPr/>
        </p:nvSpPr>
        <p:spPr bwMode="auto">
          <a:xfrm>
            <a:off x="8272447" y="1955865"/>
            <a:ext cx="2961916" cy="301145"/>
          </a:xfrm>
          <a:prstGeom prst="homePlate">
            <a:avLst/>
          </a:prstGeom>
          <a:solidFill>
            <a:srgbClr val="0014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A</a:t>
            </a:r>
          </a:p>
        </p:txBody>
      </p:sp>
      <p:sp>
        <p:nvSpPr>
          <p:cNvPr id="65" name="Arrow: Pentagon 6">
            <a:extLst>
              <a:ext uri="{FF2B5EF4-FFF2-40B4-BE49-F238E27FC236}">
                <a16:creationId xmlns:a16="http://schemas.microsoft.com/office/drawing/2014/main" id="{6695F11D-42BF-70AC-0F36-A7E93A03D0A1}"/>
              </a:ext>
            </a:extLst>
          </p:cNvPr>
          <p:cNvSpPr/>
          <p:nvPr/>
        </p:nvSpPr>
        <p:spPr bwMode="auto">
          <a:xfrm>
            <a:off x="8827539" y="3059826"/>
            <a:ext cx="2406823" cy="301146"/>
          </a:xfrm>
          <a:prstGeom prst="homePlate">
            <a:avLst/>
          </a:prstGeom>
          <a:solidFill>
            <a:srgbClr val="00288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B</a:t>
            </a:r>
          </a:p>
        </p:txBody>
      </p:sp>
      <p:sp>
        <p:nvSpPr>
          <p:cNvPr id="67" name="Arrow: Pentagon 7">
            <a:extLst>
              <a:ext uri="{FF2B5EF4-FFF2-40B4-BE49-F238E27FC236}">
                <a16:creationId xmlns:a16="http://schemas.microsoft.com/office/drawing/2014/main" id="{BF3BC2B8-F88C-BF6C-5102-5629B100569F}"/>
              </a:ext>
            </a:extLst>
          </p:cNvPr>
          <p:cNvSpPr/>
          <p:nvPr/>
        </p:nvSpPr>
        <p:spPr bwMode="auto">
          <a:xfrm>
            <a:off x="8827539" y="2326024"/>
            <a:ext cx="2402089" cy="298881"/>
          </a:xfrm>
          <a:prstGeom prst="homePlate">
            <a:avLst/>
          </a:prstGeom>
          <a:solidFill>
            <a:srgbClr val="0014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A</a:t>
            </a:r>
          </a:p>
        </p:txBody>
      </p:sp>
      <p:sp>
        <p:nvSpPr>
          <p:cNvPr id="70" name="Textfeld 69">
            <a:extLst>
              <a:ext uri="{FF2B5EF4-FFF2-40B4-BE49-F238E27FC236}">
                <a16:creationId xmlns:a16="http://schemas.microsoft.com/office/drawing/2014/main" id="{1CE8025A-44AF-FAFB-4227-70EDBAA055AA}"/>
              </a:ext>
            </a:extLst>
          </p:cNvPr>
          <p:cNvSpPr txBox="1"/>
          <p:nvPr/>
        </p:nvSpPr>
        <p:spPr>
          <a:xfrm>
            <a:off x="474049" y="6090330"/>
            <a:ext cx="5041445" cy="246221"/>
          </a:xfrm>
          <a:prstGeom prst="rect">
            <a:avLst/>
          </a:prstGeom>
          <a:noFill/>
        </p:spPr>
        <p:txBody>
          <a:bodyPr wrap="none" lIns="0" tIns="0" rIns="0" bIns="0" rtlCol="0">
            <a:spAutoFit/>
          </a:bodyPr>
          <a:lstStyle/>
          <a:p>
            <a:pPr algn="l" fontAlgn="base">
              <a:spcBef>
                <a:spcPct val="50000"/>
              </a:spcBef>
              <a:spcAft>
                <a:spcPct val="0"/>
              </a:spcAft>
              <a:buClr>
                <a:schemeClr val="tx1"/>
              </a:buClr>
              <a:buSzPct val="100000"/>
            </a:pPr>
            <a:r>
              <a:rPr lang="de-DE" sz="1600" kern="0">
                <a:latin typeface="72 Brand" panose="020B0504030603020204" pitchFamily="34" charset="0"/>
                <a:ea typeface="72 Brand" pitchFamily="34" charset="-128"/>
                <a:cs typeface="72 Brand" pitchFamily="34" charset="-128"/>
              </a:rPr>
              <a:t>Source </a:t>
            </a:r>
            <a:r>
              <a:rPr lang="de-DE" sz="1600" kern="0" err="1">
                <a:latin typeface="72 Brand" panose="020B0504030603020204" pitchFamily="34" charset="0"/>
                <a:ea typeface="72 Brand" pitchFamily="34" charset="-128"/>
                <a:cs typeface="72 Brand" pitchFamily="34" charset="-128"/>
              </a:rPr>
              <a:t>of</a:t>
            </a:r>
            <a:r>
              <a:rPr lang="de-DE" sz="1600" kern="0">
                <a:latin typeface="72 Brand" panose="020B0504030603020204" pitchFamily="34" charset="0"/>
                <a:ea typeface="72 Brand" pitchFamily="34" charset="-128"/>
                <a:cs typeface="72 Brand" pitchFamily="34" charset="-128"/>
              </a:rPr>
              <a:t> </a:t>
            </a:r>
            <a:r>
              <a:rPr lang="de-DE" sz="1600" kern="0" err="1">
                <a:latin typeface="72 Brand" panose="020B0504030603020204" pitchFamily="34" charset="0"/>
                <a:ea typeface="72 Brand" pitchFamily="34" charset="-128"/>
                <a:cs typeface="72 Brand" pitchFamily="34" charset="-128"/>
              </a:rPr>
              <a:t>truth</a:t>
            </a:r>
            <a:r>
              <a:rPr lang="de-DE" sz="1600" kern="0">
                <a:latin typeface="72 Brand" panose="020B0504030603020204" pitchFamily="34" charset="0"/>
                <a:ea typeface="72 Brand" pitchFamily="34" charset="-128"/>
                <a:cs typeface="72 Brand" pitchFamily="34" charset="-128"/>
              </a:rPr>
              <a:t> </a:t>
            </a:r>
            <a:r>
              <a:rPr lang="de-DE" sz="1600" kern="0" err="1">
                <a:latin typeface="72 Brand" panose="020B0504030603020204" pitchFamily="34" charset="0"/>
                <a:ea typeface="72 Brand" pitchFamily="34" charset="-128"/>
                <a:cs typeface="72 Brand" pitchFamily="34" charset="-128"/>
              </a:rPr>
              <a:t>for</a:t>
            </a:r>
            <a:r>
              <a:rPr lang="de-DE" sz="1600" kern="0">
                <a:latin typeface="72 Brand" panose="020B0504030603020204" pitchFamily="34" charset="0"/>
                <a:ea typeface="72 Brand" pitchFamily="34" charset="-128"/>
                <a:cs typeface="72 Brand" pitchFamily="34" charset="-128"/>
              </a:rPr>
              <a:t> clean </a:t>
            </a:r>
            <a:r>
              <a:rPr lang="de-DE" sz="1600" kern="0" err="1">
                <a:latin typeface="72 Brand" panose="020B0504030603020204" pitchFamily="34" charset="0"/>
                <a:ea typeface="72 Brand" pitchFamily="34" charset="-128"/>
                <a:cs typeface="72 Brand" pitchFamily="34" charset="-128"/>
              </a:rPr>
              <a:t>core</a:t>
            </a:r>
            <a:r>
              <a:rPr lang="de-DE" sz="1600" kern="0">
                <a:latin typeface="72 Brand" panose="020B0504030603020204" pitchFamily="34" charset="0"/>
                <a:ea typeface="72 Brand" pitchFamily="34" charset="-128"/>
                <a:cs typeface="72 Brand" pitchFamily="34" charset="-128"/>
              </a:rPr>
              <a:t> </a:t>
            </a:r>
            <a:r>
              <a:rPr lang="de-DE" sz="1600" kern="0" err="1">
                <a:latin typeface="72 Brand" panose="020B0504030603020204" pitchFamily="34" charset="0"/>
                <a:ea typeface="72 Brand" pitchFamily="34" charset="-128"/>
                <a:cs typeface="72 Brand" pitchFamily="34" charset="-128"/>
              </a:rPr>
              <a:t>levels</a:t>
            </a:r>
            <a:r>
              <a:rPr lang="de-DE" sz="1600" kern="0">
                <a:latin typeface="72 Brand" panose="020B0504030603020204" pitchFamily="34" charset="0"/>
                <a:ea typeface="72 Brand" pitchFamily="34" charset="-128"/>
                <a:cs typeface="72 Brand" pitchFamily="34" charset="-128"/>
              </a:rPr>
              <a:t>: SAP-Note </a:t>
            </a:r>
            <a:r>
              <a:rPr lang="de-DE" sz="1600" kern="0">
                <a:latin typeface="72 Brand" panose="020B0504030603020204" pitchFamily="34" charset="0"/>
                <a:ea typeface="72 Brand" pitchFamily="34" charset="-128"/>
                <a:cs typeface="72 Brand" pitchFamily="34" charset="-128"/>
                <a:hlinkClick r:id="rId3"/>
              </a:rPr>
              <a:t>3578329</a:t>
            </a:r>
            <a:endParaRPr lang="de-DE" sz="1600" kern="0">
              <a:latin typeface="72 Brand" panose="020B0504030603020204" pitchFamily="34" charset="0"/>
              <a:ea typeface="72 Brand" pitchFamily="34" charset="-128"/>
              <a:cs typeface="72 Brand" pitchFamily="34" charset="-128"/>
            </a:endParaRPr>
          </a:p>
        </p:txBody>
      </p:sp>
      <p:sp>
        <p:nvSpPr>
          <p:cNvPr id="71" name="Arrow: Pentagon 7">
            <a:extLst>
              <a:ext uri="{FF2B5EF4-FFF2-40B4-BE49-F238E27FC236}">
                <a16:creationId xmlns:a16="http://schemas.microsoft.com/office/drawing/2014/main" id="{C7B2B035-631E-BD81-EC82-E7A437475A2C}"/>
              </a:ext>
            </a:extLst>
          </p:cNvPr>
          <p:cNvSpPr/>
          <p:nvPr/>
        </p:nvSpPr>
        <p:spPr bwMode="auto">
          <a:xfrm>
            <a:off x="8822805" y="3962639"/>
            <a:ext cx="2406823" cy="294794"/>
          </a:xfrm>
          <a:prstGeom prst="homePlate">
            <a:avLst/>
          </a:prstGeom>
          <a:solidFill>
            <a:srgbClr val="0014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A</a:t>
            </a:r>
          </a:p>
        </p:txBody>
      </p:sp>
      <p:sp>
        <p:nvSpPr>
          <p:cNvPr id="72" name="Arrow: Pentagon 7">
            <a:extLst>
              <a:ext uri="{FF2B5EF4-FFF2-40B4-BE49-F238E27FC236}">
                <a16:creationId xmlns:a16="http://schemas.microsoft.com/office/drawing/2014/main" id="{F5E15A6C-91C9-00F4-F572-845D5478F36F}"/>
              </a:ext>
            </a:extLst>
          </p:cNvPr>
          <p:cNvSpPr/>
          <p:nvPr/>
        </p:nvSpPr>
        <p:spPr bwMode="auto">
          <a:xfrm>
            <a:off x="8827537" y="4330097"/>
            <a:ext cx="2406823" cy="301146"/>
          </a:xfrm>
          <a:prstGeom prst="homePlate">
            <a:avLst/>
          </a:prstGeom>
          <a:solidFill>
            <a:srgbClr val="0014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A</a:t>
            </a:r>
          </a:p>
        </p:txBody>
      </p:sp>
      <p:sp>
        <p:nvSpPr>
          <p:cNvPr id="73" name="Arrow: Pentagon 7">
            <a:extLst>
              <a:ext uri="{FF2B5EF4-FFF2-40B4-BE49-F238E27FC236}">
                <a16:creationId xmlns:a16="http://schemas.microsoft.com/office/drawing/2014/main" id="{1D227EDA-27C0-D709-77CB-1EA49BF0AFB2}"/>
              </a:ext>
            </a:extLst>
          </p:cNvPr>
          <p:cNvSpPr/>
          <p:nvPr/>
        </p:nvSpPr>
        <p:spPr bwMode="auto">
          <a:xfrm>
            <a:off x="8827536" y="4696632"/>
            <a:ext cx="2406823" cy="303326"/>
          </a:xfrm>
          <a:prstGeom prst="homePlate">
            <a:avLst/>
          </a:prstGeom>
          <a:solidFill>
            <a:srgbClr val="0014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A</a:t>
            </a:r>
          </a:p>
        </p:txBody>
      </p:sp>
      <p:sp>
        <p:nvSpPr>
          <p:cNvPr id="74" name="Arrow: Pentagon 7">
            <a:extLst>
              <a:ext uri="{FF2B5EF4-FFF2-40B4-BE49-F238E27FC236}">
                <a16:creationId xmlns:a16="http://schemas.microsoft.com/office/drawing/2014/main" id="{8AADBE56-1E32-F049-98BD-181CEA58B2C0}"/>
              </a:ext>
            </a:extLst>
          </p:cNvPr>
          <p:cNvSpPr/>
          <p:nvPr/>
        </p:nvSpPr>
        <p:spPr bwMode="auto">
          <a:xfrm>
            <a:off x="8822805" y="5074332"/>
            <a:ext cx="2406823" cy="291743"/>
          </a:xfrm>
          <a:prstGeom prst="homePlate">
            <a:avLst/>
          </a:prstGeom>
          <a:solidFill>
            <a:srgbClr val="0014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A</a:t>
            </a:r>
          </a:p>
        </p:txBody>
      </p:sp>
      <p:sp>
        <p:nvSpPr>
          <p:cNvPr id="75" name="Arrow: Pentagon 7">
            <a:extLst>
              <a:ext uri="{FF2B5EF4-FFF2-40B4-BE49-F238E27FC236}">
                <a16:creationId xmlns:a16="http://schemas.microsoft.com/office/drawing/2014/main" id="{4A65BB41-9618-B122-2D54-24F485E1FB2C}"/>
              </a:ext>
            </a:extLst>
          </p:cNvPr>
          <p:cNvSpPr/>
          <p:nvPr/>
        </p:nvSpPr>
        <p:spPr bwMode="auto">
          <a:xfrm>
            <a:off x="8822805" y="5436227"/>
            <a:ext cx="2406823" cy="298460"/>
          </a:xfrm>
          <a:prstGeom prst="homePlate">
            <a:avLst/>
          </a:prstGeom>
          <a:solidFill>
            <a:srgbClr val="00144A"/>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A</a:t>
            </a:r>
          </a:p>
        </p:txBody>
      </p:sp>
      <p:sp>
        <p:nvSpPr>
          <p:cNvPr id="76" name="TextBox 8">
            <a:extLst>
              <a:ext uri="{FF2B5EF4-FFF2-40B4-BE49-F238E27FC236}">
                <a16:creationId xmlns:a16="http://schemas.microsoft.com/office/drawing/2014/main" id="{4A82D3F7-FB31-E931-47D3-307E76CB74E5}"/>
              </a:ext>
            </a:extLst>
          </p:cNvPr>
          <p:cNvSpPr txBox="1"/>
          <p:nvPr/>
        </p:nvSpPr>
        <p:spPr>
          <a:xfrm>
            <a:off x="8801032" y="1689596"/>
            <a:ext cx="1181868" cy="246221"/>
          </a:xfrm>
          <a:prstGeom prst="rect">
            <a:avLst/>
          </a:prstGeom>
          <a:noFill/>
        </p:spPr>
        <p:txBody>
          <a:bodyPr wrap="square" lIns="0" tIns="0" rIns="0" bIns="0">
            <a:spAutoFit/>
          </a:bodyPr>
          <a:lstStyle/>
          <a:p>
            <a:r>
              <a:rPr lang="en-US" sz="800">
                <a:solidFill>
                  <a:schemeClr val="tx1">
                    <a:lumMod val="75000"/>
                    <a:lumOff val="25000"/>
                  </a:schemeClr>
                </a:solidFill>
              </a:rPr>
              <a:t>Clean Core </a:t>
            </a:r>
          </a:p>
          <a:p>
            <a:r>
              <a:rPr lang="en-US" sz="800">
                <a:solidFill>
                  <a:schemeClr val="tx1">
                    <a:lumMod val="75000"/>
                    <a:lumOff val="25000"/>
                  </a:schemeClr>
                </a:solidFill>
              </a:rPr>
              <a:t>Level</a:t>
            </a:r>
          </a:p>
        </p:txBody>
      </p:sp>
      <p:sp>
        <p:nvSpPr>
          <p:cNvPr id="78" name="TextBox 20">
            <a:extLst>
              <a:ext uri="{FF2B5EF4-FFF2-40B4-BE49-F238E27FC236}">
                <a16:creationId xmlns:a16="http://schemas.microsoft.com/office/drawing/2014/main" id="{599CA459-B224-BD56-1A01-E0FD12FAAC05}"/>
              </a:ext>
            </a:extLst>
          </p:cNvPr>
          <p:cNvSpPr txBox="1"/>
          <p:nvPr/>
        </p:nvSpPr>
        <p:spPr>
          <a:xfrm>
            <a:off x="6140699" y="5915583"/>
            <a:ext cx="1831954" cy="215444"/>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en-GB" sz="1400" b="1" kern="0">
                <a:latin typeface="72 Brand" panose="020B0504030603020204" pitchFamily="34" charset="0"/>
                <a:ea typeface="Arial Unicode MS" pitchFamily="34" charset="-128"/>
                <a:cs typeface="Arial Unicode MS" pitchFamily="34" charset="-128"/>
              </a:rPr>
              <a:t>Clean Core Levels</a:t>
            </a:r>
            <a:endParaRPr lang="de-DE" sz="1400" b="1" kern="0">
              <a:latin typeface="72 Brand" panose="020B0504030603020204" pitchFamily="34" charset="0"/>
              <a:ea typeface="Arial Unicode MS" pitchFamily="34" charset="-128"/>
              <a:cs typeface="Arial Unicode MS" pitchFamily="34" charset="-128"/>
            </a:endParaRPr>
          </a:p>
        </p:txBody>
      </p:sp>
      <p:sp>
        <p:nvSpPr>
          <p:cNvPr id="79" name="TextBox 20">
            <a:extLst>
              <a:ext uri="{FF2B5EF4-FFF2-40B4-BE49-F238E27FC236}">
                <a16:creationId xmlns:a16="http://schemas.microsoft.com/office/drawing/2014/main" id="{5FDBD15A-DE8F-64CA-3F96-56001118933A}"/>
              </a:ext>
            </a:extLst>
          </p:cNvPr>
          <p:cNvSpPr txBox="1"/>
          <p:nvPr/>
        </p:nvSpPr>
        <p:spPr>
          <a:xfrm>
            <a:off x="10554346" y="6167532"/>
            <a:ext cx="2236942" cy="215444"/>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en-GB" sz="1400" kern="0">
                <a:latin typeface="72 Brand" panose="020B0504030603020204" pitchFamily="34" charset="0"/>
                <a:ea typeface="Arial Unicode MS" pitchFamily="34" charset="-128"/>
                <a:cs typeface="Arial Unicode MS" pitchFamily="34" charset="-128"/>
              </a:rPr>
              <a:t>highest</a:t>
            </a:r>
            <a:endParaRPr lang="de-DE" sz="1400" kern="0">
              <a:latin typeface="72 Brand" panose="020B0504030603020204" pitchFamily="34" charset="0"/>
              <a:ea typeface="Arial Unicode MS" pitchFamily="34" charset="-128"/>
              <a:cs typeface="Arial Unicode MS" pitchFamily="34" charset="-128"/>
            </a:endParaRPr>
          </a:p>
        </p:txBody>
      </p:sp>
      <p:sp>
        <p:nvSpPr>
          <p:cNvPr id="80" name="TextBox 20">
            <a:extLst>
              <a:ext uri="{FF2B5EF4-FFF2-40B4-BE49-F238E27FC236}">
                <a16:creationId xmlns:a16="http://schemas.microsoft.com/office/drawing/2014/main" id="{46F06338-E869-F704-460D-707A48B31644}"/>
              </a:ext>
            </a:extLst>
          </p:cNvPr>
          <p:cNvSpPr txBox="1"/>
          <p:nvPr/>
        </p:nvSpPr>
        <p:spPr>
          <a:xfrm>
            <a:off x="6254575" y="6162279"/>
            <a:ext cx="617972" cy="215444"/>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en-GB" sz="1400" kern="0">
                <a:latin typeface="72 Brand" panose="020B0504030603020204" pitchFamily="34" charset="0"/>
                <a:ea typeface="Arial Unicode MS" pitchFamily="34" charset="-128"/>
                <a:cs typeface="Arial Unicode MS" pitchFamily="34" charset="-128"/>
              </a:rPr>
              <a:t>lowest</a:t>
            </a:r>
            <a:endParaRPr lang="de-DE" sz="1400" kern="0">
              <a:latin typeface="72 Brand" panose="020B0504030603020204" pitchFamily="34" charset="0"/>
              <a:ea typeface="Arial Unicode MS" pitchFamily="34" charset="-128"/>
              <a:cs typeface="Arial Unicode MS" pitchFamily="34" charset="-128"/>
            </a:endParaRPr>
          </a:p>
        </p:txBody>
      </p:sp>
      <p:grpSp>
        <p:nvGrpSpPr>
          <p:cNvPr id="52" name="Group 51">
            <a:extLst>
              <a:ext uri="{FF2B5EF4-FFF2-40B4-BE49-F238E27FC236}">
                <a16:creationId xmlns:a16="http://schemas.microsoft.com/office/drawing/2014/main" id="{EE04514E-24D9-16D0-FACB-68C526E12007}"/>
              </a:ext>
            </a:extLst>
          </p:cNvPr>
          <p:cNvGrpSpPr/>
          <p:nvPr/>
        </p:nvGrpSpPr>
        <p:grpSpPr>
          <a:xfrm>
            <a:off x="10166184" y="6102144"/>
            <a:ext cx="1050925" cy="372057"/>
            <a:chOff x="10271287" y="6102144"/>
            <a:chExt cx="1050925" cy="372057"/>
          </a:xfrm>
        </p:grpSpPr>
        <p:sp>
          <p:nvSpPr>
            <p:cNvPr id="77" name="Rectangle 23">
              <a:extLst>
                <a:ext uri="{FF2B5EF4-FFF2-40B4-BE49-F238E27FC236}">
                  <a16:creationId xmlns:a16="http://schemas.microsoft.com/office/drawing/2014/main" id="{67F95885-66AD-186E-17AB-5E0419662117}"/>
                </a:ext>
              </a:extLst>
            </p:cNvPr>
            <p:cNvSpPr/>
            <p:nvPr/>
          </p:nvSpPr>
          <p:spPr bwMode="gray">
            <a:xfrm rot="5400000">
              <a:off x="10610721" y="5762710"/>
              <a:ext cx="372057" cy="1050925"/>
            </a:xfrm>
            <a:prstGeom prst="upArrow">
              <a:avLst/>
            </a:prstGeom>
            <a:solidFill>
              <a:srgbClr val="00144A"/>
            </a:solidFill>
            <a:ln w="19050" algn="ctr">
              <a:noFill/>
              <a:miter lim="800000"/>
              <a:headEnd/>
              <a:tailEnd/>
            </a:ln>
          </p:spPr>
          <p:txBody>
            <a:bodyPr lIns="90000" tIns="72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9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81" name="TextBox 20">
              <a:extLst>
                <a:ext uri="{FF2B5EF4-FFF2-40B4-BE49-F238E27FC236}">
                  <a16:creationId xmlns:a16="http://schemas.microsoft.com/office/drawing/2014/main" id="{2FE41E40-5643-E68E-9E2E-37A470FEB277}"/>
                </a:ext>
              </a:extLst>
            </p:cNvPr>
            <p:cNvSpPr txBox="1"/>
            <p:nvPr/>
          </p:nvSpPr>
          <p:spPr>
            <a:xfrm>
              <a:off x="10693221" y="6195839"/>
              <a:ext cx="207057" cy="184666"/>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de-DE" sz="1200" b="1" kern="0">
                  <a:solidFill>
                    <a:schemeClr val="bg1"/>
                  </a:solidFill>
                  <a:latin typeface="72 Brand" panose="020B0504030603020204" pitchFamily="34" charset="0"/>
                  <a:ea typeface="Arial Unicode MS" pitchFamily="34" charset="-128"/>
                  <a:cs typeface="Arial Unicode MS" pitchFamily="34" charset="-128"/>
                </a:rPr>
                <a:t>A</a:t>
              </a:r>
            </a:p>
          </p:txBody>
        </p:sp>
      </p:grpSp>
      <p:grpSp>
        <p:nvGrpSpPr>
          <p:cNvPr id="51" name="Group 50">
            <a:extLst>
              <a:ext uri="{FF2B5EF4-FFF2-40B4-BE49-F238E27FC236}">
                <a16:creationId xmlns:a16="http://schemas.microsoft.com/office/drawing/2014/main" id="{DFFA2BF2-4374-425C-A70E-A5EC5AFB1040}"/>
              </a:ext>
            </a:extLst>
          </p:cNvPr>
          <p:cNvGrpSpPr/>
          <p:nvPr/>
        </p:nvGrpSpPr>
        <p:grpSpPr>
          <a:xfrm>
            <a:off x="9087745" y="6193057"/>
            <a:ext cx="1081896" cy="184666"/>
            <a:chOff x="9191806" y="6193057"/>
            <a:chExt cx="1081896" cy="184666"/>
          </a:xfrm>
        </p:grpSpPr>
        <p:sp>
          <p:nvSpPr>
            <p:cNvPr id="46" name="Rectangle 45">
              <a:extLst>
                <a:ext uri="{FF2B5EF4-FFF2-40B4-BE49-F238E27FC236}">
                  <a16:creationId xmlns:a16="http://schemas.microsoft.com/office/drawing/2014/main" id="{4177C8EC-5E21-140D-ED0F-A173DBAB537A}"/>
                </a:ext>
              </a:extLst>
            </p:cNvPr>
            <p:cNvSpPr/>
            <p:nvPr/>
          </p:nvSpPr>
          <p:spPr bwMode="gray">
            <a:xfrm>
              <a:off x="9191806" y="6193057"/>
              <a:ext cx="1081896" cy="184666"/>
            </a:xfrm>
            <a:prstGeom prst="rect">
              <a:avLst/>
            </a:prstGeom>
            <a:solidFill>
              <a:srgbClr val="002986"/>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PT"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82" name="TextBox 20">
              <a:extLst>
                <a:ext uri="{FF2B5EF4-FFF2-40B4-BE49-F238E27FC236}">
                  <a16:creationId xmlns:a16="http://schemas.microsoft.com/office/drawing/2014/main" id="{325F6CF4-1CFD-E1E5-B54E-08DB34D8E200}"/>
                </a:ext>
              </a:extLst>
            </p:cNvPr>
            <p:cNvSpPr txBox="1"/>
            <p:nvPr/>
          </p:nvSpPr>
          <p:spPr>
            <a:xfrm>
              <a:off x="9644295" y="6193057"/>
              <a:ext cx="176919" cy="184666"/>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de-DE" sz="1200" b="1" kern="0">
                  <a:solidFill>
                    <a:schemeClr val="bg1"/>
                  </a:solidFill>
                  <a:latin typeface="72 Brand" panose="020B0504030603020204" pitchFamily="34" charset="0"/>
                  <a:ea typeface="Arial Unicode MS" pitchFamily="34" charset="-128"/>
                  <a:cs typeface="Arial Unicode MS" pitchFamily="34" charset="-128"/>
                </a:rPr>
                <a:t>B</a:t>
              </a:r>
            </a:p>
          </p:txBody>
        </p:sp>
      </p:grpSp>
      <p:grpSp>
        <p:nvGrpSpPr>
          <p:cNvPr id="50" name="Group 49">
            <a:extLst>
              <a:ext uri="{FF2B5EF4-FFF2-40B4-BE49-F238E27FC236}">
                <a16:creationId xmlns:a16="http://schemas.microsoft.com/office/drawing/2014/main" id="{08D97685-65A1-CDFA-F4A0-98699327392A}"/>
              </a:ext>
            </a:extLst>
          </p:cNvPr>
          <p:cNvGrpSpPr/>
          <p:nvPr/>
        </p:nvGrpSpPr>
        <p:grpSpPr>
          <a:xfrm>
            <a:off x="8009306" y="6193057"/>
            <a:ext cx="1081896" cy="188942"/>
            <a:chOff x="8110722" y="6193057"/>
            <a:chExt cx="1081896" cy="188942"/>
          </a:xfrm>
        </p:grpSpPr>
        <p:sp>
          <p:nvSpPr>
            <p:cNvPr id="47" name="Rectangle 46">
              <a:extLst>
                <a:ext uri="{FF2B5EF4-FFF2-40B4-BE49-F238E27FC236}">
                  <a16:creationId xmlns:a16="http://schemas.microsoft.com/office/drawing/2014/main" id="{6D239727-A2A1-8B18-F0B8-C82964F4A598}"/>
                </a:ext>
              </a:extLst>
            </p:cNvPr>
            <p:cNvSpPr/>
            <p:nvPr/>
          </p:nvSpPr>
          <p:spPr bwMode="gray">
            <a:xfrm>
              <a:off x="8110722" y="6193057"/>
              <a:ext cx="1081896" cy="184666"/>
            </a:xfrm>
            <a:prstGeom prst="rect">
              <a:avLst/>
            </a:prstGeom>
            <a:solidFill>
              <a:srgbClr val="0070F3"/>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PT"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83" name="TextBox 20">
              <a:extLst>
                <a:ext uri="{FF2B5EF4-FFF2-40B4-BE49-F238E27FC236}">
                  <a16:creationId xmlns:a16="http://schemas.microsoft.com/office/drawing/2014/main" id="{4C2FDC5E-01A1-4554-FEE8-93242E0D65E3}"/>
                </a:ext>
              </a:extLst>
            </p:cNvPr>
            <p:cNvSpPr txBox="1"/>
            <p:nvPr/>
          </p:nvSpPr>
          <p:spPr>
            <a:xfrm>
              <a:off x="8548142" y="6197333"/>
              <a:ext cx="207057" cy="184666"/>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de-DE" sz="1200" b="1" kern="0">
                  <a:solidFill>
                    <a:schemeClr val="bg1"/>
                  </a:solidFill>
                  <a:latin typeface="72 Brand" panose="020B0504030603020204" pitchFamily="34" charset="0"/>
                  <a:ea typeface="Arial Unicode MS" pitchFamily="34" charset="-128"/>
                  <a:cs typeface="Arial Unicode MS" pitchFamily="34" charset="-128"/>
                </a:rPr>
                <a:t>C</a:t>
              </a:r>
            </a:p>
          </p:txBody>
        </p:sp>
      </p:grpSp>
      <p:grpSp>
        <p:nvGrpSpPr>
          <p:cNvPr id="49" name="Group 48">
            <a:extLst>
              <a:ext uri="{FF2B5EF4-FFF2-40B4-BE49-F238E27FC236}">
                <a16:creationId xmlns:a16="http://schemas.microsoft.com/office/drawing/2014/main" id="{9BB557C8-6126-7A5A-138E-8284B3C7A04D}"/>
              </a:ext>
            </a:extLst>
          </p:cNvPr>
          <p:cNvGrpSpPr/>
          <p:nvPr/>
        </p:nvGrpSpPr>
        <p:grpSpPr>
          <a:xfrm>
            <a:off x="6930867" y="6193609"/>
            <a:ext cx="1081896" cy="184666"/>
            <a:chOff x="7035970" y="6193609"/>
            <a:chExt cx="1081896" cy="184666"/>
          </a:xfrm>
        </p:grpSpPr>
        <p:sp>
          <p:nvSpPr>
            <p:cNvPr id="48" name="Rectangle 47">
              <a:extLst>
                <a:ext uri="{FF2B5EF4-FFF2-40B4-BE49-F238E27FC236}">
                  <a16:creationId xmlns:a16="http://schemas.microsoft.com/office/drawing/2014/main" id="{61C086D2-2891-1042-7791-7DD9DCDD47EF}"/>
                </a:ext>
              </a:extLst>
            </p:cNvPr>
            <p:cNvSpPr/>
            <p:nvPr/>
          </p:nvSpPr>
          <p:spPr bwMode="gray">
            <a:xfrm>
              <a:off x="7035970" y="6193609"/>
              <a:ext cx="1081896" cy="184666"/>
            </a:xfrm>
            <a:prstGeom prst="rect">
              <a:avLst/>
            </a:prstGeom>
            <a:solidFill>
              <a:srgbClr val="1990FF"/>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PT"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84" name="TextBox 20">
              <a:extLst>
                <a:ext uri="{FF2B5EF4-FFF2-40B4-BE49-F238E27FC236}">
                  <a16:creationId xmlns:a16="http://schemas.microsoft.com/office/drawing/2014/main" id="{F85BC5E7-2EB4-25B0-CE10-9D3B9CE55CCE}"/>
                </a:ext>
              </a:extLst>
            </p:cNvPr>
            <p:cNvSpPr txBox="1"/>
            <p:nvPr/>
          </p:nvSpPr>
          <p:spPr>
            <a:xfrm>
              <a:off x="7488459" y="6193609"/>
              <a:ext cx="176919" cy="184666"/>
            </a:xfrm>
            <a:prstGeom prst="rect">
              <a:avLst/>
            </a:prstGeom>
            <a:noFill/>
          </p:spPr>
          <p:txBody>
            <a:bodyPr wrap="square" lIns="0" tIns="0" rIns="0" bIns="0" rtlCol="0">
              <a:spAutoFit/>
            </a:bodyPr>
            <a:lstStyle/>
            <a:p>
              <a:pPr algn="ctr" fontAlgn="base">
                <a:spcBef>
                  <a:spcPct val="50000"/>
                </a:spcBef>
                <a:spcAft>
                  <a:spcPct val="0"/>
                </a:spcAft>
                <a:buClr>
                  <a:schemeClr val="tx1"/>
                </a:buClr>
                <a:buSzPct val="100000"/>
              </a:pPr>
              <a:r>
                <a:rPr lang="de-DE" sz="1200" b="1" kern="0">
                  <a:solidFill>
                    <a:schemeClr val="bg1"/>
                  </a:solidFill>
                  <a:latin typeface="72 Brand" panose="020B0504030603020204" pitchFamily="34" charset="0"/>
                  <a:ea typeface="Arial Unicode MS" pitchFamily="34" charset="-128"/>
                  <a:cs typeface="Arial Unicode MS" pitchFamily="34" charset="-128"/>
                </a:rPr>
                <a:t>D</a:t>
              </a:r>
            </a:p>
          </p:txBody>
        </p:sp>
      </p:grpSp>
      <p:sp>
        <p:nvSpPr>
          <p:cNvPr id="85" name="Arrow: Pentagon 6">
            <a:extLst>
              <a:ext uri="{FF2B5EF4-FFF2-40B4-BE49-F238E27FC236}">
                <a16:creationId xmlns:a16="http://schemas.microsoft.com/office/drawing/2014/main" id="{82F34198-240F-9A7B-3285-A33DC7B0D47F}"/>
              </a:ext>
            </a:extLst>
          </p:cNvPr>
          <p:cNvSpPr/>
          <p:nvPr/>
        </p:nvSpPr>
        <p:spPr bwMode="auto">
          <a:xfrm>
            <a:off x="8827539" y="2692369"/>
            <a:ext cx="2402089" cy="301145"/>
          </a:xfrm>
          <a:prstGeom prst="homePlate">
            <a:avLst/>
          </a:prstGeom>
          <a:solidFill>
            <a:srgbClr val="00288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r" defTabSz="932472" fontAlgn="base">
              <a:spcBef>
                <a:spcPct val="0"/>
              </a:spcBef>
              <a:spcAft>
                <a:spcPct val="0"/>
              </a:spcAft>
            </a:pPr>
            <a:r>
              <a:rPr lang="de-DE" sz="2000" b="1">
                <a:solidFill>
                  <a:schemeClr val="bg1">
                    <a:alpha val="99000"/>
                  </a:schemeClr>
                </a:solidFill>
                <a:ea typeface="Segoe UI" pitchFamily="34" charset="0"/>
                <a:cs typeface="72" panose="020B0503030000000003" pitchFamily="34" charset="0"/>
              </a:rPr>
              <a:t>B</a:t>
            </a:r>
          </a:p>
        </p:txBody>
      </p:sp>
      <p:grpSp>
        <p:nvGrpSpPr>
          <p:cNvPr id="6" name="Gruppieren 5">
            <a:extLst>
              <a:ext uri="{FF2B5EF4-FFF2-40B4-BE49-F238E27FC236}">
                <a16:creationId xmlns:a16="http://schemas.microsoft.com/office/drawing/2014/main" id="{44B3FA65-0DF0-9E0A-9A02-EBBB2DD99B4C}"/>
              </a:ext>
            </a:extLst>
          </p:cNvPr>
          <p:cNvGrpSpPr/>
          <p:nvPr/>
        </p:nvGrpSpPr>
        <p:grpSpPr>
          <a:xfrm>
            <a:off x="504001" y="1673240"/>
            <a:ext cx="8484136" cy="4064137"/>
            <a:chOff x="504001" y="1673240"/>
            <a:chExt cx="8484136" cy="4064137"/>
          </a:xfrm>
        </p:grpSpPr>
        <p:grpSp>
          <p:nvGrpSpPr>
            <p:cNvPr id="7" name="Group 54">
              <a:extLst>
                <a:ext uri="{FF2B5EF4-FFF2-40B4-BE49-F238E27FC236}">
                  <a16:creationId xmlns:a16="http://schemas.microsoft.com/office/drawing/2014/main" id="{B27C73FB-B2DC-310C-C33C-A48FE59B20C0}"/>
                </a:ext>
              </a:extLst>
            </p:cNvPr>
            <p:cNvGrpSpPr/>
            <p:nvPr/>
          </p:nvGrpSpPr>
          <p:grpSpPr>
            <a:xfrm>
              <a:off x="6340991" y="3961387"/>
              <a:ext cx="2647146" cy="1775990"/>
              <a:chOff x="8400097" y="4358039"/>
              <a:chExt cx="2647146" cy="1775990"/>
            </a:xfrm>
          </p:grpSpPr>
          <p:sp>
            <p:nvSpPr>
              <p:cNvPr id="38" name="Rechteck 9">
                <a:extLst>
                  <a:ext uri="{FF2B5EF4-FFF2-40B4-BE49-F238E27FC236}">
                    <a16:creationId xmlns:a16="http://schemas.microsoft.com/office/drawing/2014/main" id="{80CBDBBD-F374-710A-CD27-A13B6557CEEF}"/>
                  </a:ext>
                </a:extLst>
              </p:cNvPr>
              <p:cNvSpPr/>
              <p:nvPr/>
            </p:nvSpPr>
            <p:spPr>
              <a:xfrm>
                <a:off x="8400097" y="4358039"/>
                <a:ext cx="2647146" cy="301150"/>
              </a:xfrm>
              <a:prstGeom prst="roundRect">
                <a:avLst>
                  <a:gd name="adj" fmla="val 50000"/>
                </a:avLst>
              </a:prstGeom>
              <a:solidFill>
                <a:srgbClr val="F1ECFF"/>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a:solidFill>
                      <a:srgbClr val="12171C"/>
                    </a:solidFill>
                  </a:rPr>
                  <a:t>SAP Fiori Elements</a:t>
                </a:r>
              </a:p>
            </p:txBody>
          </p:sp>
          <p:sp>
            <p:nvSpPr>
              <p:cNvPr id="39" name="Rechteck 9">
                <a:extLst>
                  <a:ext uri="{FF2B5EF4-FFF2-40B4-BE49-F238E27FC236}">
                    <a16:creationId xmlns:a16="http://schemas.microsoft.com/office/drawing/2014/main" id="{2141DE71-10D3-209C-6DEA-4579A0ACBA53}"/>
                  </a:ext>
                </a:extLst>
              </p:cNvPr>
              <p:cNvSpPr/>
              <p:nvPr/>
            </p:nvSpPr>
            <p:spPr>
              <a:xfrm>
                <a:off x="8400097" y="4726749"/>
                <a:ext cx="2647146" cy="301150"/>
              </a:xfrm>
              <a:prstGeom prst="roundRect">
                <a:avLst>
                  <a:gd name="adj" fmla="val 50000"/>
                </a:avLst>
              </a:prstGeom>
              <a:solidFill>
                <a:srgbClr val="F1ECFF"/>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a:solidFill>
                      <a:srgbClr val="12171C"/>
                    </a:solidFill>
                  </a:rPr>
                  <a:t>SAPUI5</a:t>
                </a:r>
              </a:p>
            </p:txBody>
          </p:sp>
          <p:sp>
            <p:nvSpPr>
              <p:cNvPr id="40" name="Rechteck 9">
                <a:extLst>
                  <a:ext uri="{FF2B5EF4-FFF2-40B4-BE49-F238E27FC236}">
                    <a16:creationId xmlns:a16="http://schemas.microsoft.com/office/drawing/2014/main" id="{B7A79E67-7FE9-02E9-C857-5F37B71A77FE}"/>
                  </a:ext>
                </a:extLst>
              </p:cNvPr>
              <p:cNvSpPr/>
              <p:nvPr/>
            </p:nvSpPr>
            <p:spPr>
              <a:xfrm>
                <a:off x="8400097" y="5095459"/>
                <a:ext cx="2647146" cy="301150"/>
              </a:xfrm>
              <a:prstGeom prst="roundRect">
                <a:avLst>
                  <a:gd name="adj" fmla="val 50000"/>
                </a:avLst>
              </a:prstGeom>
              <a:solidFill>
                <a:srgbClr val="F1ECFF"/>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a:solidFill>
                      <a:srgbClr val="12171C"/>
                    </a:solidFill>
                  </a:rPr>
                  <a:t>UI5 Webcomponent</a:t>
                </a:r>
              </a:p>
            </p:txBody>
          </p:sp>
          <p:sp>
            <p:nvSpPr>
              <p:cNvPr id="41" name="Rechteck 9">
                <a:extLst>
                  <a:ext uri="{FF2B5EF4-FFF2-40B4-BE49-F238E27FC236}">
                    <a16:creationId xmlns:a16="http://schemas.microsoft.com/office/drawing/2014/main" id="{8E92FE10-F540-1A6C-DDB8-22E61082ADAE}"/>
                  </a:ext>
                </a:extLst>
              </p:cNvPr>
              <p:cNvSpPr/>
              <p:nvPr/>
            </p:nvSpPr>
            <p:spPr>
              <a:xfrm>
                <a:off x="8400097" y="5464169"/>
                <a:ext cx="2647146" cy="301150"/>
              </a:xfrm>
              <a:prstGeom prst="roundRect">
                <a:avLst>
                  <a:gd name="adj" fmla="val 50000"/>
                </a:avLst>
              </a:prstGeom>
              <a:solidFill>
                <a:srgbClr val="F1ECFF"/>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a:solidFill>
                      <a:srgbClr val="12171C"/>
                    </a:solidFill>
                  </a:rPr>
                  <a:t>SAP Mobile Services</a:t>
                </a:r>
              </a:p>
            </p:txBody>
          </p:sp>
          <p:sp>
            <p:nvSpPr>
              <p:cNvPr id="42" name="Rechteck 9">
                <a:extLst>
                  <a:ext uri="{FF2B5EF4-FFF2-40B4-BE49-F238E27FC236}">
                    <a16:creationId xmlns:a16="http://schemas.microsoft.com/office/drawing/2014/main" id="{F5C26623-9784-AFF1-CC0C-1F024CB63994}"/>
                  </a:ext>
                </a:extLst>
              </p:cNvPr>
              <p:cNvSpPr/>
              <p:nvPr/>
            </p:nvSpPr>
            <p:spPr>
              <a:xfrm>
                <a:off x="8400097" y="5832879"/>
                <a:ext cx="2647146" cy="301150"/>
              </a:xfrm>
              <a:prstGeom prst="roundRect">
                <a:avLst>
                  <a:gd name="adj" fmla="val 50000"/>
                </a:avLst>
              </a:prstGeom>
              <a:solidFill>
                <a:srgbClr val="F1ECFF"/>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a:solidFill>
                      <a:srgbClr val="12171C"/>
                    </a:solidFill>
                  </a:rPr>
                  <a:t>SAP Build Apps</a:t>
                </a:r>
              </a:p>
            </p:txBody>
          </p:sp>
        </p:grpSp>
        <p:sp>
          <p:nvSpPr>
            <p:cNvPr id="8" name="Left Brace 67">
              <a:extLst>
                <a:ext uri="{FF2B5EF4-FFF2-40B4-BE49-F238E27FC236}">
                  <a16:creationId xmlns:a16="http://schemas.microsoft.com/office/drawing/2014/main" id="{97F1414D-9A11-9A73-C9EC-651C506458C0}"/>
                </a:ext>
              </a:extLst>
            </p:cNvPr>
            <p:cNvSpPr/>
            <p:nvPr/>
          </p:nvSpPr>
          <p:spPr>
            <a:xfrm>
              <a:off x="5679945" y="4113068"/>
              <a:ext cx="661045" cy="1476894"/>
            </a:xfrm>
            <a:prstGeom prst="leftBrace">
              <a:avLst>
                <a:gd name="adj1" fmla="val 0"/>
                <a:gd name="adj2" fmla="val 49587"/>
              </a:avLst>
            </a:prstGeom>
            <a:ln w="12700">
              <a:solidFill>
                <a:srgbClr val="5D36FF"/>
              </a:solidFill>
              <a:headEnd type="none" w="med" len="me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Left Brace 61">
              <a:extLst>
                <a:ext uri="{FF2B5EF4-FFF2-40B4-BE49-F238E27FC236}">
                  <a16:creationId xmlns:a16="http://schemas.microsoft.com/office/drawing/2014/main" id="{D8E7E0D1-0725-6D5D-2372-EC5DF9AE0752}"/>
                </a:ext>
              </a:extLst>
            </p:cNvPr>
            <p:cNvSpPr/>
            <p:nvPr/>
          </p:nvSpPr>
          <p:spPr>
            <a:xfrm>
              <a:off x="5679944" y="2100436"/>
              <a:ext cx="661045" cy="1120031"/>
            </a:xfrm>
            <a:prstGeom prst="leftBrace">
              <a:avLst>
                <a:gd name="adj1" fmla="val 0"/>
                <a:gd name="adj2" fmla="val 50601"/>
              </a:avLst>
            </a:prstGeom>
            <a:ln w="12700">
              <a:solidFill>
                <a:srgbClr val="22BB97"/>
              </a:solidFill>
              <a:headEnd type="none" w="med" len="me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2">
              <a:extLst>
                <a:ext uri="{FF2B5EF4-FFF2-40B4-BE49-F238E27FC236}">
                  <a16:creationId xmlns:a16="http://schemas.microsoft.com/office/drawing/2014/main" id="{2B40B7DC-88DB-5397-3BBA-8547C8B24A3B}"/>
                </a:ext>
              </a:extLst>
            </p:cNvPr>
            <p:cNvSpPr txBox="1"/>
            <p:nvPr/>
          </p:nvSpPr>
          <p:spPr>
            <a:xfrm>
              <a:off x="504001" y="1795396"/>
              <a:ext cx="1465942" cy="246221"/>
            </a:xfrm>
            <a:prstGeom prst="rect">
              <a:avLst/>
            </a:prstGeom>
            <a:noFill/>
          </p:spPr>
          <p:txBody>
            <a:bodyPr wrap="square" lIns="0" tIns="0" rIns="0" bIns="0">
              <a:spAutoFit/>
            </a:bodyPr>
            <a:lstStyle/>
            <a:p>
              <a:r>
                <a:rPr lang="en-US" sz="800">
                  <a:solidFill>
                    <a:schemeClr val="tx1">
                      <a:lumMod val="75000"/>
                      <a:lumOff val="25000"/>
                    </a:schemeClr>
                  </a:solidFill>
                </a:rPr>
                <a:t>Tier </a:t>
              </a:r>
              <a:br>
                <a:rPr lang="en-US" sz="800">
                  <a:solidFill>
                    <a:schemeClr val="tx1">
                      <a:lumMod val="75000"/>
                      <a:lumOff val="25000"/>
                    </a:schemeClr>
                  </a:solidFill>
                </a:rPr>
              </a:br>
              <a:r>
                <a:rPr lang="en-US" sz="800">
                  <a:solidFill>
                    <a:schemeClr val="tx1">
                      <a:lumMod val="75000"/>
                      <a:lumOff val="25000"/>
                    </a:schemeClr>
                  </a:solidFill>
                </a:rPr>
                <a:t>Architecture</a:t>
              </a:r>
            </a:p>
          </p:txBody>
        </p:sp>
        <p:sp>
          <p:nvSpPr>
            <p:cNvPr id="12" name="TextBox 3">
              <a:extLst>
                <a:ext uri="{FF2B5EF4-FFF2-40B4-BE49-F238E27FC236}">
                  <a16:creationId xmlns:a16="http://schemas.microsoft.com/office/drawing/2014/main" id="{9C905E44-C36D-5463-B58A-3BF5DD964CFD}"/>
                </a:ext>
              </a:extLst>
            </p:cNvPr>
            <p:cNvSpPr txBox="1"/>
            <p:nvPr/>
          </p:nvSpPr>
          <p:spPr>
            <a:xfrm>
              <a:off x="504001" y="3224946"/>
              <a:ext cx="1465942" cy="246221"/>
            </a:xfrm>
            <a:prstGeom prst="rect">
              <a:avLst/>
            </a:prstGeom>
            <a:noFill/>
          </p:spPr>
          <p:txBody>
            <a:bodyPr wrap="square" lIns="0" tIns="0" rIns="0" bIns="0">
              <a:spAutoFit/>
            </a:bodyPr>
            <a:lstStyle/>
            <a:p>
              <a:r>
                <a:rPr lang="en-US" sz="800">
                  <a:solidFill>
                    <a:schemeClr val="tx1">
                      <a:lumMod val="75000"/>
                      <a:lumOff val="25000"/>
                    </a:schemeClr>
                  </a:solidFill>
                </a:rPr>
                <a:t>Extension </a:t>
              </a:r>
              <a:br>
                <a:rPr lang="en-US" sz="800">
                  <a:solidFill>
                    <a:schemeClr val="tx1">
                      <a:lumMod val="75000"/>
                      <a:lumOff val="25000"/>
                    </a:schemeClr>
                  </a:solidFill>
                </a:rPr>
              </a:br>
              <a:r>
                <a:rPr lang="en-US" sz="800">
                  <a:solidFill>
                    <a:schemeClr val="tx1">
                      <a:lumMod val="75000"/>
                      <a:lumOff val="25000"/>
                    </a:schemeClr>
                  </a:solidFill>
                </a:rPr>
                <a:t>Style</a:t>
              </a:r>
            </a:p>
          </p:txBody>
        </p:sp>
        <p:sp>
          <p:nvSpPr>
            <p:cNvPr id="13" name="TextBox 6">
              <a:extLst>
                <a:ext uri="{FF2B5EF4-FFF2-40B4-BE49-F238E27FC236}">
                  <a16:creationId xmlns:a16="http://schemas.microsoft.com/office/drawing/2014/main" id="{BD5A1ADE-0261-0A3E-4D55-C072354F30DD}"/>
                </a:ext>
              </a:extLst>
            </p:cNvPr>
            <p:cNvSpPr txBox="1"/>
            <p:nvPr/>
          </p:nvSpPr>
          <p:spPr>
            <a:xfrm>
              <a:off x="2362298" y="3224946"/>
              <a:ext cx="1465942" cy="246221"/>
            </a:xfrm>
            <a:prstGeom prst="rect">
              <a:avLst/>
            </a:prstGeom>
            <a:noFill/>
          </p:spPr>
          <p:txBody>
            <a:bodyPr wrap="square" lIns="0" tIns="0" rIns="0" bIns="0">
              <a:spAutoFit/>
            </a:bodyPr>
            <a:lstStyle/>
            <a:p>
              <a:r>
                <a:rPr lang="en-US" sz="800">
                  <a:solidFill>
                    <a:schemeClr val="tx1">
                      <a:lumMod val="75000"/>
                      <a:lumOff val="25000"/>
                    </a:schemeClr>
                  </a:solidFill>
                </a:rPr>
                <a:t>Extension </a:t>
              </a:r>
              <a:br>
                <a:rPr lang="en-US" sz="800">
                  <a:solidFill>
                    <a:schemeClr val="tx1">
                      <a:lumMod val="75000"/>
                      <a:lumOff val="25000"/>
                    </a:schemeClr>
                  </a:solidFill>
                </a:rPr>
              </a:br>
              <a:r>
                <a:rPr lang="en-US" sz="800">
                  <a:solidFill>
                    <a:schemeClr val="tx1">
                      <a:lumMod val="75000"/>
                      <a:lumOff val="25000"/>
                    </a:schemeClr>
                  </a:solidFill>
                </a:rPr>
                <a:t>Task</a:t>
              </a:r>
            </a:p>
          </p:txBody>
        </p:sp>
        <p:sp>
          <p:nvSpPr>
            <p:cNvPr id="14" name="TextBox 7">
              <a:extLst>
                <a:ext uri="{FF2B5EF4-FFF2-40B4-BE49-F238E27FC236}">
                  <a16:creationId xmlns:a16="http://schemas.microsoft.com/office/drawing/2014/main" id="{BED0E08A-F758-736C-C332-08BF2D185B18}"/>
                </a:ext>
              </a:extLst>
            </p:cNvPr>
            <p:cNvSpPr txBox="1"/>
            <p:nvPr/>
          </p:nvSpPr>
          <p:spPr>
            <a:xfrm>
              <a:off x="4214004" y="2141531"/>
              <a:ext cx="1596572" cy="246221"/>
            </a:xfrm>
            <a:prstGeom prst="rect">
              <a:avLst/>
            </a:prstGeom>
            <a:noFill/>
          </p:spPr>
          <p:txBody>
            <a:bodyPr wrap="square" lIns="0" tIns="0" rIns="0" bIns="0">
              <a:spAutoFit/>
            </a:bodyPr>
            <a:lstStyle/>
            <a:p>
              <a:r>
                <a:rPr lang="en-US" sz="800">
                  <a:solidFill>
                    <a:schemeClr val="tx1">
                      <a:lumMod val="75000"/>
                      <a:lumOff val="25000"/>
                    </a:schemeClr>
                  </a:solidFill>
                </a:rPr>
                <a:t>Extension </a:t>
              </a:r>
              <a:br>
                <a:rPr lang="en-US" sz="800">
                  <a:solidFill>
                    <a:schemeClr val="tx1">
                      <a:lumMod val="75000"/>
                      <a:lumOff val="25000"/>
                    </a:schemeClr>
                  </a:solidFill>
                </a:rPr>
              </a:br>
              <a:r>
                <a:rPr lang="en-US" sz="800">
                  <a:solidFill>
                    <a:schemeClr val="tx1">
                      <a:lumMod val="75000"/>
                      <a:lumOff val="25000"/>
                    </a:schemeClr>
                  </a:solidFill>
                </a:rPr>
                <a:t>Domain</a:t>
              </a:r>
            </a:p>
          </p:txBody>
        </p:sp>
        <p:sp>
          <p:nvSpPr>
            <p:cNvPr id="15" name="TextBox 8">
              <a:extLst>
                <a:ext uri="{FF2B5EF4-FFF2-40B4-BE49-F238E27FC236}">
                  <a16:creationId xmlns:a16="http://schemas.microsoft.com/office/drawing/2014/main" id="{8AC459B5-0622-2DB9-270A-A4681609AFE5}"/>
                </a:ext>
              </a:extLst>
            </p:cNvPr>
            <p:cNvSpPr txBox="1"/>
            <p:nvPr/>
          </p:nvSpPr>
          <p:spPr>
            <a:xfrm>
              <a:off x="6340990" y="1673240"/>
              <a:ext cx="1181868" cy="246221"/>
            </a:xfrm>
            <a:prstGeom prst="rect">
              <a:avLst/>
            </a:prstGeom>
            <a:noFill/>
          </p:spPr>
          <p:txBody>
            <a:bodyPr wrap="square" lIns="0" tIns="0" rIns="0" bIns="0">
              <a:spAutoFit/>
            </a:bodyPr>
            <a:lstStyle/>
            <a:p>
              <a:r>
                <a:rPr lang="en-US" sz="800">
                  <a:solidFill>
                    <a:schemeClr val="tx1">
                      <a:lumMod val="75000"/>
                      <a:lumOff val="25000"/>
                    </a:schemeClr>
                  </a:solidFill>
                </a:rPr>
                <a:t>Building </a:t>
              </a:r>
              <a:br>
                <a:rPr lang="en-US" sz="800">
                  <a:solidFill>
                    <a:schemeClr val="tx1">
                      <a:lumMod val="75000"/>
                      <a:lumOff val="25000"/>
                    </a:schemeClr>
                  </a:solidFill>
                </a:rPr>
              </a:br>
              <a:r>
                <a:rPr lang="en-US" sz="800">
                  <a:solidFill>
                    <a:schemeClr val="tx1">
                      <a:lumMod val="75000"/>
                      <a:lumOff val="25000"/>
                    </a:schemeClr>
                  </a:solidFill>
                </a:rPr>
                <a:t>Block</a:t>
              </a:r>
            </a:p>
          </p:txBody>
        </p:sp>
        <p:sp>
          <p:nvSpPr>
            <p:cNvPr id="16" name="Rechteck 9">
              <a:extLst>
                <a:ext uri="{FF2B5EF4-FFF2-40B4-BE49-F238E27FC236}">
                  <a16:creationId xmlns:a16="http://schemas.microsoft.com/office/drawing/2014/main" id="{1503C4B6-36B1-8BDB-E8FD-E201E50A31DE}"/>
                </a:ext>
              </a:extLst>
            </p:cNvPr>
            <p:cNvSpPr/>
            <p:nvPr/>
          </p:nvSpPr>
          <p:spPr>
            <a:xfrm>
              <a:off x="504001" y="2105584"/>
              <a:ext cx="1465942" cy="624843"/>
            </a:xfrm>
            <a:prstGeom prst="roundRect">
              <a:avLst>
                <a:gd name="adj" fmla="val 10746"/>
              </a:avLst>
            </a:prstGeom>
            <a:solidFill>
              <a:srgbClr val="D2EFFF"/>
            </a:solidFill>
            <a:ln w="19050" cap="rnd">
              <a:noFill/>
            </a:ln>
            <a:effectLst>
              <a:outerShdw blurRad="90482" dist="50800" dir="5400000" algn="ctr" rotWithShape="0">
                <a:srgbClr val="000000">
                  <a:alpha val="23945"/>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72000" bIns="72000" rtlCol="0" anchor="ctr"/>
            <a:lstStyle/>
            <a:p>
              <a:r>
                <a:rPr lang="en-US" sz="1400" dirty="0">
                  <a:solidFill>
                    <a:srgbClr val="444C88"/>
                  </a:solidFill>
                </a:rPr>
                <a:t>Presentation Tier</a:t>
              </a:r>
              <a:endParaRPr lang="en-US" sz="1400" i="1" dirty="0">
                <a:solidFill>
                  <a:srgbClr val="444C88"/>
                </a:solidFill>
              </a:endParaRPr>
            </a:p>
          </p:txBody>
        </p:sp>
        <p:sp>
          <p:nvSpPr>
            <p:cNvPr id="17" name="Rechteck 9">
              <a:extLst>
                <a:ext uri="{FF2B5EF4-FFF2-40B4-BE49-F238E27FC236}">
                  <a16:creationId xmlns:a16="http://schemas.microsoft.com/office/drawing/2014/main" id="{83049096-1693-F683-61E8-F0AB84E8180B}"/>
                </a:ext>
              </a:extLst>
            </p:cNvPr>
            <p:cNvSpPr/>
            <p:nvPr/>
          </p:nvSpPr>
          <p:spPr>
            <a:xfrm>
              <a:off x="504001" y="3549405"/>
              <a:ext cx="1465942" cy="624843"/>
            </a:xfrm>
            <a:prstGeom prst="roundRect">
              <a:avLst>
                <a:gd name="adj" fmla="val 10746"/>
              </a:avLst>
            </a:prstGeom>
            <a:solidFill>
              <a:srgbClr val="D2EFFF"/>
            </a:solidFill>
            <a:ln w="19050" cap="rnd">
              <a:noFill/>
            </a:ln>
            <a:effectLst>
              <a:outerShdw blurRad="90482" dist="50800" dir="5400000" algn="ctr" rotWithShape="0">
                <a:srgbClr val="000000">
                  <a:alpha val="23945"/>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72000" bIns="72000" rtlCol="0" anchor="ctr"/>
            <a:lstStyle/>
            <a:p>
              <a:r>
                <a:rPr lang="en-US" sz="1400">
                  <a:solidFill>
                    <a:schemeClr val="tx1"/>
                  </a:solidFill>
                </a:rPr>
                <a:t>New User Interface</a:t>
              </a:r>
              <a:endParaRPr lang="en-US" sz="1400" i="1">
                <a:solidFill>
                  <a:schemeClr val="tx1"/>
                </a:solidFill>
              </a:endParaRPr>
            </a:p>
          </p:txBody>
        </p:sp>
        <p:sp>
          <p:nvSpPr>
            <p:cNvPr id="18" name="Rechteck 9">
              <a:extLst>
                <a:ext uri="{FF2B5EF4-FFF2-40B4-BE49-F238E27FC236}">
                  <a16:creationId xmlns:a16="http://schemas.microsoft.com/office/drawing/2014/main" id="{F1FA1A9E-C940-AC23-0B56-1920A558FC85}"/>
                </a:ext>
              </a:extLst>
            </p:cNvPr>
            <p:cNvSpPr/>
            <p:nvPr/>
          </p:nvSpPr>
          <p:spPr>
            <a:xfrm>
              <a:off x="2362298" y="3549405"/>
              <a:ext cx="1465942" cy="624843"/>
            </a:xfrm>
            <a:prstGeom prst="roundRect">
              <a:avLst>
                <a:gd name="adj" fmla="val 10746"/>
              </a:avLst>
            </a:prstGeom>
            <a:solidFill>
              <a:srgbClr val="D2EFFF"/>
            </a:solidFill>
            <a:ln w="19050" cap="rnd">
              <a:noFill/>
            </a:ln>
            <a:effectLst>
              <a:outerShdw blurRad="90482" dist="50800" dir="5400000" algn="ctr" rotWithShape="0">
                <a:srgbClr val="000000">
                  <a:alpha val="23945"/>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72000" bIns="72000" rtlCol="0" anchor="ctr"/>
            <a:lstStyle/>
            <a:p>
              <a:r>
                <a:rPr lang="en-US" sz="1400">
                  <a:solidFill>
                    <a:schemeClr val="tx1"/>
                  </a:solidFill>
                </a:rPr>
                <a:t>Create </a:t>
              </a:r>
              <a:br>
                <a:rPr lang="en-US" sz="1400">
                  <a:solidFill>
                    <a:schemeClr val="tx1"/>
                  </a:solidFill>
                </a:rPr>
              </a:br>
              <a:r>
                <a:rPr lang="en-US" sz="1400">
                  <a:solidFill>
                    <a:schemeClr val="tx1"/>
                  </a:solidFill>
                </a:rPr>
                <a:t>custom UI</a:t>
              </a:r>
              <a:endParaRPr lang="en-US" sz="1400" i="1">
                <a:solidFill>
                  <a:schemeClr val="tx1"/>
                </a:solidFill>
              </a:endParaRPr>
            </a:p>
          </p:txBody>
        </p:sp>
        <p:sp>
          <p:nvSpPr>
            <p:cNvPr id="19" name="Rechteck 9">
              <a:extLst>
                <a:ext uri="{FF2B5EF4-FFF2-40B4-BE49-F238E27FC236}">
                  <a16:creationId xmlns:a16="http://schemas.microsoft.com/office/drawing/2014/main" id="{8C3E9F1A-2A55-CF4E-C8DE-370BEDBA779B}"/>
                </a:ext>
              </a:extLst>
            </p:cNvPr>
            <p:cNvSpPr/>
            <p:nvPr/>
          </p:nvSpPr>
          <p:spPr>
            <a:xfrm>
              <a:off x="4214004" y="2464966"/>
              <a:ext cx="1465942" cy="430887"/>
            </a:xfrm>
            <a:prstGeom prst="roundRect">
              <a:avLst>
                <a:gd name="adj" fmla="val 10746"/>
              </a:avLst>
            </a:prstGeom>
            <a:solidFill>
              <a:srgbClr val="22BB97"/>
            </a:solidFill>
            <a:ln w="19050" cap="rnd">
              <a:noFill/>
            </a:ln>
            <a:effectLst>
              <a:outerShdw blurRad="90482" dist="50800" dir="5400000" algn="ctr" rotWithShape="0">
                <a:srgbClr val="000000">
                  <a:alpha val="23945"/>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72000" bIns="72000" rtlCol="0" anchor="t"/>
            <a:lstStyle/>
            <a:p>
              <a:pPr algn="ctr"/>
              <a:r>
                <a:rPr lang="en-US" sz="1400" dirty="0">
                  <a:solidFill>
                    <a:schemeClr val="bg1"/>
                  </a:solidFill>
                </a:rPr>
                <a:t>On-stack</a:t>
              </a:r>
            </a:p>
          </p:txBody>
        </p:sp>
        <p:grpSp>
          <p:nvGrpSpPr>
            <p:cNvPr id="20" name="Group 55">
              <a:extLst>
                <a:ext uri="{FF2B5EF4-FFF2-40B4-BE49-F238E27FC236}">
                  <a16:creationId xmlns:a16="http://schemas.microsoft.com/office/drawing/2014/main" id="{29317373-CDF6-554A-E2BA-DAC4C974F11B}"/>
                </a:ext>
              </a:extLst>
            </p:cNvPr>
            <p:cNvGrpSpPr/>
            <p:nvPr/>
          </p:nvGrpSpPr>
          <p:grpSpPr>
            <a:xfrm>
              <a:off x="6340990" y="1955867"/>
              <a:ext cx="2647146" cy="1407280"/>
              <a:chOff x="8400097" y="2363914"/>
              <a:chExt cx="2647146" cy="1407280"/>
            </a:xfrm>
          </p:grpSpPr>
          <p:sp>
            <p:nvSpPr>
              <p:cNvPr id="34" name="Rechteck 9">
                <a:extLst>
                  <a:ext uri="{FF2B5EF4-FFF2-40B4-BE49-F238E27FC236}">
                    <a16:creationId xmlns:a16="http://schemas.microsoft.com/office/drawing/2014/main" id="{682F546F-E3FC-46CA-0482-0564CAB65555}"/>
                  </a:ext>
                </a:extLst>
              </p:cNvPr>
              <p:cNvSpPr/>
              <p:nvPr/>
            </p:nvSpPr>
            <p:spPr>
              <a:xfrm>
                <a:off x="8400097" y="2363914"/>
                <a:ext cx="2647146" cy="301150"/>
              </a:xfrm>
              <a:prstGeom prst="roundRect">
                <a:avLst>
                  <a:gd name="adj" fmla="val 50000"/>
                </a:avLst>
              </a:prstGeom>
              <a:solidFill>
                <a:srgbClr val="DAFDF5"/>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a:solidFill>
                      <a:srgbClr val="12171C"/>
                    </a:solidFill>
                  </a:rPr>
                  <a:t>SAP Fiori Elements</a:t>
                </a:r>
              </a:p>
            </p:txBody>
          </p:sp>
          <p:sp>
            <p:nvSpPr>
              <p:cNvPr id="35" name="Rechteck 9">
                <a:extLst>
                  <a:ext uri="{FF2B5EF4-FFF2-40B4-BE49-F238E27FC236}">
                    <a16:creationId xmlns:a16="http://schemas.microsoft.com/office/drawing/2014/main" id="{50D38031-BC09-2AA9-DAAE-07585EDFC9E5}"/>
                  </a:ext>
                </a:extLst>
              </p:cNvPr>
              <p:cNvSpPr/>
              <p:nvPr/>
            </p:nvSpPr>
            <p:spPr>
              <a:xfrm>
                <a:off x="8400097" y="2732624"/>
                <a:ext cx="2647146" cy="301150"/>
              </a:xfrm>
              <a:prstGeom prst="roundRect">
                <a:avLst>
                  <a:gd name="adj" fmla="val 50000"/>
                </a:avLst>
              </a:prstGeom>
              <a:solidFill>
                <a:srgbClr val="DAFDF5"/>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a:solidFill>
                      <a:srgbClr val="12171C"/>
                    </a:solidFill>
                  </a:rPr>
                  <a:t>SAPUI5</a:t>
                </a:r>
              </a:p>
            </p:txBody>
          </p:sp>
          <p:sp>
            <p:nvSpPr>
              <p:cNvPr id="36" name="Rechteck 9">
                <a:extLst>
                  <a:ext uri="{FF2B5EF4-FFF2-40B4-BE49-F238E27FC236}">
                    <a16:creationId xmlns:a16="http://schemas.microsoft.com/office/drawing/2014/main" id="{4DCD3E53-7008-27EB-E33C-5FBEF31FEAAE}"/>
                  </a:ext>
                </a:extLst>
              </p:cNvPr>
              <p:cNvSpPr/>
              <p:nvPr/>
            </p:nvSpPr>
            <p:spPr>
              <a:xfrm>
                <a:off x="8400097" y="3101334"/>
                <a:ext cx="2647146" cy="301150"/>
              </a:xfrm>
              <a:prstGeom prst="roundRect">
                <a:avLst>
                  <a:gd name="adj" fmla="val 50000"/>
                </a:avLst>
              </a:prstGeom>
              <a:solidFill>
                <a:srgbClr val="DAFDF5"/>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dirty="0">
                    <a:solidFill>
                      <a:srgbClr val="12171C"/>
                    </a:solidFill>
                  </a:rPr>
                  <a:t>Classic Extensibility: Dynpro</a:t>
                </a:r>
              </a:p>
            </p:txBody>
          </p:sp>
          <p:sp>
            <p:nvSpPr>
              <p:cNvPr id="37" name="Rechteck 9">
                <a:extLst>
                  <a:ext uri="{FF2B5EF4-FFF2-40B4-BE49-F238E27FC236}">
                    <a16:creationId xmlns:a16="http://schemas.microsoft.com/office/drawing/2014/main" id="{1128E302-FD89-4D4E-303A-94D20DF1B35E}"/>
                  </a:ext>
                </a:extLst>
              </p:cNvPr>
              <p:cNvSpPr/>
              <p:nvPr/>
            </p:nvSpPr>
            <p:spPr>
              <a:xfrm>
                <a:off x="8400097" y="3470044"/>
                <a:ext cx="2647146" cy="301150"/>
              </a:xfrm>
              <a:prstGeom prst="roundRect">
                <a:avLst>
                  <a:gd name="adj" fmla="val 50000"/>
                </a:avLst>
              </a:prstGeom>
              <a:solidFill>
                <a:srgbClr val="DAFDF5"/>
              </a:solidFill>
              <a:ln w="19050" cap="rnd">
                <a:noFill/>
                <a:prstDash val="solid"/>
              </a:ln>
            </p:spPr>
            <p:style>
              <a:lnRef idx="2">
                <a:schemeClr val="accent1">
                  <a:shade val="50000"/>
                </a:schemeClr>
              </a:lnRef>
              <a:fillRef idx="1">
                <a:schemeClr val="accent1"/>
              </a:fillRef>
              <a:effectRef idx="0">
                <a:schemeClr val="accent1"/>
              </a:effectRef>
              <a:fontRef idx="minor">
                <a:schemeClr val="lt1"/>
              </a:fontRef>
            </p:style>
            <p:txBody>
              <a:bodyPr lIns="72000" tIns="0" rIns="0" bIns="36000" rtlCol="0" anchor="ctr"/>
              <a:lstStyle/>
              <a:p>
                <a:pPr>
                  <a:lnSpc>
                    <a:spcPts val="1450"/>
                  </a:lnSpc>
                  <a:spcBef>
                    <a:spcPts val="600"/>
                  </a:spcBef>
                </a:pPr>
                <a:r>
                  <a:rPr lang="en-US" sz="950">
                    <a:solidFill>
                      <a:srgbClr val="12171C"/>
                    </a:solidFill>
                  </a:rPr>
                  <a:t>Classic Extensibility: WebDynpro</a:t>
                </a:r>
              </a:p>
            </p:txBody>
          </p:sp>
        </p:grpSp>
        <p:sp>
          <p:nvSpPr>
            <p:cNvPr id="21" name="Rechteck 9">
              <a:extLst>
                <a:ext uri="{FF2B5EF4-FFF2-40B4-BE49-F238E27FC236}">
                  <a16:creationId xmlns:a16="http://schemas.microsoft.com/office/drawing/2014/main" id="{4CC4A910-8069-2A77-AFEE-26CCC0F35160}"/>
                </a:ext>
              </a:extLst>
            </p:cNvPr>
            <p:cNvSpPr/>
            <p:nvPr/>
          </p:nvSpPr>
          <p:spPr>
            <a:xfrm>
              <a:off x="4223510" y="4643446"/>
              <a:ext cx="1465942" cy="430887"/>
            </a:xfrm>
            <a:prstGeom prst="roundRect">
              <a:avLst>
                <a:gd name="adj" fmla="val 10746"/>
              </a:avLst>
            </a:prstGeom>
            <a:solidFill>
              <a:srgbClr val="5D36FF"/>
            </a:solidFill>
            <a:ln w="19050" cap="rnd">
              <a:noFill/>
            </a:ln>
            <a:effectLst>
              <a:outerShdw blurRad="90482" dist="50800" dir="5400000" algn="ctr" rotWithShape="0">
                <a:srgbClr val="000000">
                  <a:alpha val="23945"/>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72000" bIns="72000" rtlCol="0" anchor="t"/>
            <a:lstStyle/>
            <a:p>
              <a:pPr algn="ctr"/>
              <a:r>
                <a:rPr lang="en-US" sz="1400">
                  <a:solidFill>
                    <a:schemeClr val="bg1"/>
                  </a:solidFill>
                </a:rPr>
                <a:t>Side-by-Side</a:t>
              </a:r>
              <a:endParaRPr lang="en-US" sz="1400" i="1">
                <a:solidFill>
                  <a:schemeClr val="bg1"/>
                </a:solidFill>
              </a:endParaRPr>
            </a:p>
          </p:txBody>
        </p:sp>
        <p:sp>
          <p:nvSpPr>
            <p:cNvPr id="22" name="Left Brace 59">
              <a:extLst>
                <a:ext uri="{FF2B5EF4-FFF2-40B4-BE49-F238E27FC236}">
                  <a16:creationId xmlns:a16="http://schemas.microsoft.com/office/drawing/2014/main" id="{13BC446B-6C52-ED0A-7DED-9BCFEFD0F347}"/>
                </a:ext>
              </a:extLst>
            </p:cNvPr>
            <p:cNvSpPr/>
            <p:nvPr/>
          </p:nvSpPr>
          <p:spPr>
            <a:xfrm>
              <a:off x="3828240" y="2659626"/>
              <a:ext cx="385764" cy="2218295"/>
            </a:xfrm>
            <a:prstGeom prst="leftBrace">
              <a:avLst>
                <a:gd name="adj1" fmla="val 0"/>
                <a:gd name="adj2" fmla="val 53785"/>
              </a:avLst>
            </a:prstGeom>
            <a:ln w="12700">
              <a:solidFill>
                <a:schemeClr val="bg2">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 name="Straight Arrow Connector 60">
              <a:extLst>
                <a:ext uri="{FF2B5EF4-FFF2-40B4-BE49-F238E27FC236}">
                  <a16:creationId xmlns:a16="http://schemas.microsoft.com/office/drawing/2014/main" id="{EA9B0D49-931E-3DC9-2E7B-78264B4E9157}"/>
                </a:ext>
              </a:extLst>
            </p:cNvPr>
            <p:cNvCxnSpPr>
              <a:cxnSpLocks/>
            </p:cNvCxnSpPr>
            <p:nvPr/>
          </p:nvCxnSpPr>
          <p:spPr>
            <a:xfrm>
              <a:off x="4016685" y="4879465"/>
              <a:ext cx="216000" cy="0"/>
            </a:xfrm>
            <a:prstGeom prst="straightConnector1">
              <a:avLst/>
            </a:prstGeom>
            <a:ln w="12700">
              <a:solidFill>
                <a:schemeClr val="bg2">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63">
              <a:extLst>
                <a:ext uri="{FF2B5EF4-FFF2-40B4-BE49-F238E27FC236}">
                  <a16:creationId xmlns:a16="http://schemas.microsoft.com/office/drawing/2014/main" id="{81C3CBE6-8193-AFF7-BA0E-261CFD248456}"/>
                </a:ext>
              </a:extLst>
            </p:cNvPr>
            <p:cNvCxnSpPr>
              <a:cxnSpLocks/>
            </p:cNvCxnSpPr>
            <p:nvPr/>
          </p:nvCxnSpPr>
          <p:spPr>
            <a:xfrm>
              <a:off x="6007388" y="3220468"/>
              <a:ext cx="343126" cy="0"/>
            </a:xfrm>
            <a:prstGeom prst="straightConnector1">
              <a:avLst/>
            </a:prstGeom>
            <a:ln w="12700">
              <a:solidFill>
                <a:srgbClr val="22BB97"/>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65">
              <a:extLst>
                <a:ext uri="{FF2B5EF4-FFF2-40B4-BE49-F238E27FC236}">
                  <a16:creationId xmlns:a16="http://schemas.microsoft.com/office/drawing/2014/main" id="{7BB923A0-19A3-AAFB-C0BB-4CDF1A20CA15}"/>
                </a:ext>
              </a:extLst>
            </p:cNvPr>
            <p:cNvCxnSpPr>
              <a:cxnSpLocks/>
            </p:cNvCxnSpPr>
            <p:nvPr/>
          </p:nvCxnSpPr>
          <p:spPr>
            <a:xfrm>
              <a:off x="6007388" y="2842643"/>
              <a:ext cx="343126" cy="0"/>
            </a:xfrm>
            <a:prstGeom prst="straightConnector1">
              <a:avLst/>
            </a:prstGeom>
            <a:ln w="12700">
              <a:solidFill>
                <a:srgbClr val="22BB97"/>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66">
              <a:extLst>
                <a:ext uri="{FF2B5EF4-FFF2-40B4-BE49-F238E27FC236}">
                  <a16:creationId xmlns:a16="http://schemas.microsoft.com/office/drawing/2014/main" id="{FC01DA1B-9D77-FC60-BC80-423BE5758CF4}"/>
                </a:ext>
              </a:extLst>
            </p:cNvPr>
            <p:cNvCxnSpPr>
              <a:cxnSpLocks/>
            </p:cNvCxnSpPr>
            <p:nvPr/>
          </p:nvCxnSpPr>
          <p:spPr>
            <a:xfrm>
              <a:off x="6007388" y="2474343"/>
              <a:ext cx="343126" cy="0"/>
            </a:xfrm>
            <a:prstGeom prst="straightConnector1">
              <a:avLst/>
            </a:prstGeom>
            <a:ln w="12700">
              <a:solidFill>
                <a:srgbClr val="22BB97"/>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69">
              <a:extLst>
                <a:ext uri="{FF2B5EF4-FFF2-40B4-BE49-F238E27FC236}">
                  <a16:creationId xmlns:a16="http://schemas.microsoft.com/office/drawing/2014/main" id="{63F79D9D-1B98-376B-3561-A4FB7028C30D}"/>
                </a:ext>
              </a:extLst>
            </p:cNvPr>
            <p:cNvCxnSpPr>
              <a:cxnSpLocks/>
            </p:cNvCxnSpPr>
            <p:nvPr/>
          </p:nvCxnSpPr>
          <p:spPr>
            <a:xfrm>
              <a:off x="6007389" y="5218602"/>
              <a:ext cx="343126" cy="0"/>
            </a:xfrm>
            <a:prstGeom prst="straightConnector1">
              <a:avLst/>
            </a:prstGeom>
            <a:ln w="12700">
              <a:solidFill>
                <a:srgbClr val="5D36FF"/>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70">
              <a:extLst>
                <a:ext uri="{FF2B5EF4-FFF2-40B4-BE49-F238E27FC236}">
                  <a16:creationId xmlns:a16="http://schemas.microsoft.com/office/drawing/2014/main" id="{8FE5BC99-B889-FEF7-649A-D64A72C78F0C}"/>
                </a:ext>
              </a:extLst>
            </p:cNvPr>
            <p:cNvCxnSpPr>
              <a:cxnSpLocks/>
            </p:cNvCxnSpPr>
            <p:nvPr/>
          </p:nvCxnSpPr>
          <p:spPr>
            <a:xfrm>
              <a:off x="6010564" y="4481319"/>
              <a:ext cx="342000" cy="0"/>
            </a:xfrm>
            <a:prstGeom prst="straightConnector1">
              <a:avLst/>
            </a:prstGeom>
            <a:ln w="12700">
              <a:solidFill>
                <a:srgbClr val="5D36FF"/>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71">
              <a:extLst>
                <a:ext uri="{FF2B5EF4-FFF2-40B4-BE49-F238E27FC236}">
                  <a16:creationId xmlns:a16="http://schemas.microsoft.com/office/drawing/2014/main" id="{881C9F8A-ED67-B754-24A4-774BB7117F07}"/>
                </a:ext>
              </a:extLst>
            </p:cNvPr>
            <p:cNvCxnSpPr>
              <a:cxnSpLocks/>
            </p:cNvCxnSpPr>
            <p:nvPr/>
          </p:nvCxnSpPr>
          <p:spPr>
            <a:xfrm>
              <a:off x="6007389" y="5589962"/>
              <a:ext cx="343126" cy="0"/>
            </a:xfrm>
            <a:prstGeom prst="straightConnector1">
              <a:avLst/>
            </a:prstGeom>
            <a:ln w="12700">
              <a:solidFill>
                <a:srgbClr val="5D36FF"/>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72">
              <a:extLst>
                <a:ext uri="{FF2B5EF4-FFF2-40B4-BE49-F238E27FC236}">
                  <a16:creationId xmlns:a16="http://schemas.microsoft.com/office/drawing/2014/main" id="{3FA6F57B-7C04-A149-5389-265C368A55DE}"/>
                </a:ext>
              </a:extLst>
            </p:cNvPr>
            <p:cNvCxnSpPr>
              <a:cxnSpLocks/>
            </p:cNvCxnSpPr>
            <p:nvPr/>
          </p:nvCxnSpPr>
          <p:spPr>
            <a:xfrm>
              <a:off x="6010564" y="4849619"/>
              <a:ext cx="342000" cy="0"/>
            </a:xfrm>
            <a:prstGeom prst="straightConnector1">
              <a:avLst/>
            </a:prstGeom>
            <a:ln w="12700">
              <a:solidFill>
                <a:srgbClr val="5D36FF"/>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1">
              <a:extLst>
                <a:ext uri="{FF2B5EF4-FFF2-40B4-BE49-F238E27FC236}">
                  <a16:creationId xmlns:a16="http://schemas.microsoft.com/office/drawing/2014/main" id="{B3D34175-DA6A-3ADB-B424-BADB95EA14F6}"/>
                </a:ext>
              </a:extLst>
            </p:cNvPr>
            <p:cNvCxnSpPr>
              <a:cxnSpLocks/>
              <a:stCxn id="16" idx="2"/>
              <a:endCxn id="17" idx="0"/>
            </p:cNvCxnSpPr>
            <p:nvPr/>
          </p:nvCxnSpPr>
          <p:spPr>
            <a:xfrm>
              <a:off x="1236972" y="2730427"/>
              <a:ext cx="0" cy="818978"/>
            </a:xfrm>
            <a:prstGeom prst="straightConnector1">
              <a:avLst/>
            </a:prstGeom>
            <a:ln w="12700">
              <a:solidFill>
                <a:schemeClr val="bg2">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10">
              <a:extLst>
                <a:ext uri="{FF2B5EF4-FFF2-40B4-BE49-F238E27FC236}">
                  <a16:creationId xmlns:a16="http://schemas.microsoft.com/office/drawing/2014/main" id="{256D51D5-9BF0-B5FF-EF92-44DD8AF5698B}"/>
                </a:ext>
              </a:extLst>
            </p:cNvPr>
            <p:cNvCxnSpPr>
              <a:cxnSpLocks/>
              <a:stCxn id="17" idx="3"/>
              <a:endCxn id="18" idx="1"/>
            </p:cNvCxnSpPr>
            <p:nvPr/>
          </p:nvCxnSpPr>
          <p:spPr>
            <a:xfrm>
              <a:off x="1969943" y="3861827"/>
              <a:ext cx="392355" cy="0"/>
            </a:xfrm>
            <a:prstGeom prst="straightConnector1">
              <a:avLst/>
            </a:prstGeom>
            <a:ln w="12700">
              <a:solidFill>
                <a:schemeClr val="bg2">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3" name="TextBox 13">
              <a:extLst>
                <a:ext uri="{FF2B5EF4-FFF2-40B4-BE49-F238E27FC236}">
                  <a16:creationId xmlns:a16="http://schemas.microsoft.com/office/drawing/2014/main" id="{6DBEF628-CE11-A930-C5AC-56ADD89ACFEE}"/>
                </a:ext>
              </a:extLst>
            </p:cNvPr>
            <p:cNvSpPr txBox="1"/>
            <p:nvPr/>
          </p:nvSpPr>
          <p:spPr>
            <a:xfrm>
              <a:off x="4214004" y="4326887"/>
              <a:ext cx="1596572" cy="246221"/>
            </a:xfrm>
            <a:prstGeom prst="rect">
              <a:avLst/>
            </a:prstGeom>
            <a:noFill/>
          </p:spPr>
          <p:txBody>
            <a:bodyPr wrap="square" lIns="0" tIns="0" rIns="0" bIns="0">
              <a:spAutoFit/>
            </a:bodyPr>
            <a:lstStyle/>
            <a:p>
              <a:r>
                <a:rPr lang="en-US" sz="800">
                  <a:solidFill>
                    <a:schemeClr val="tx1">
                      <a:lumMod val="75000"/>
                      <a:lumOff val="25000"/>
                    </a:schemeClr>
                  </a:solidFill>
                </a:rPr>
                <a:t>Extension </a:t>
              </a:r>
              <a:br>
                <a:rPr lang="en-US" sz="800">
                  <a:solidFill>
                    <a:schemeClr val="tx1">
                      <a:lumMod val="75000"/>
                      <a:lumOff val="25000"/>
                    </a:schemeClr>
                  </a:solidFill>
                </a:rPr>
              </a:br>
              <a:r>
                <a:rPr lang="en-US" sz="800">
                  <a:solidFill>
                    <a:schemeClr val="tx1">
                      <a:lumMod val="75000"/>
                      <a:lumOff val="25000"/>
                    </a:schemeClr>
                  </a:solidFill>
                </a:rPr>
                <a:t>Domain</a:t>
              </a:r>
            </a:p>
          </p:txBody>
        </p:sp>
      </p:grpSp>
      <p:sp>
        <p:nvSpPr>
          <p:cNvPr id="9" name="Titel 5">
            <a:extLst>
              <a:ext uri="{FF2B5EF4-FFF2-40B4-BE49-F238E27FC236}">
                <a16:creationId xmlns:a16="http://schemas.microsoft.com/office/drawing/2014/main" id="{6AEA7364-DFF2-FB53-EB75-146C58B6CBE9}"/>
              </a:ext>
            </a:extLst>
          </p:cNvPr>
          <p:cNvSpPr txBox="1">
            <a:spLocks/>
          </p:cNvSpPr>
          <p:nvPr/>
        </p:nvSpPr>
        <p:spPr bwMode="black">
          <a:xfrm>
            <a:off x="504001" y="504000"/>
            <a:ext cx="11186476" cy="676980"/>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r>
              <a:rPr lang="en-US" sz="2599"/>
              <a:t>Extension architecture</a:t>
            </a:r>
            <a:br>
              <a:rPr lang="en-US" sz="2599"/>
            </a:br>
            <a:r>
              <a:rPr lang="en-US" sz="1800">
                <a:cs typeface="Arial" panose="020B0604020202020204" pitchFamily="34" charset="0"/>
              </a:rPr>
              <a:t>Visualization of the Decision Guidance per Extension Task (customer specific)</a:t>
            </a:r>
            <a:endParaRPr lang="en-US" sz="1800"/>
          </a:p>
        </p:txBody>
      </p:sp>
      <p:sp>
        <p:nvSpPr>
          <p:cNvPr id="43" name="TextBox 42">
            <a:extLst>
              <a:ext uri="{FF2B5EF4-FFF2-40B4-BE49-F238E27FC236}">
                <a16:creationId xmlns:a16="http://schemas.microsoft.com/office/drawing/2014/main" id="{4D69359A-2323-5962-2123-3B464B1C067D}"/>
              </a:ext>
            </a:extLst>
          </p:cNvPr>
          <p:cNvSpPr txBox="1"/>
          <p:nvPr/>
        </p:nvSpPr>
        <p:spPr>
          <a:xfrm>
            <a:off x="10726118" y="0"/>
            <a:ext cx="1469057" cy="677108"/>
          </a:xfrm>
          <a:prstGeom prst="rect">
            <a:avLst/>
          </a:prstGeom>
          <a:noFill/>
        </p:spPr>
        <p:txBody>
          <a:bodyPr wrap="square">
            <a:spAutoFit/>
          </a:bodyPr>
          <a:lstStyle/>
          <a:p>
            <a:pPr algn="r" defTabSz="1088558">
              <a:defRPr/>
            </a:pPr>
            <a:r>
              <a:rPr lang="en-US" sz="1800">
                <a:solidFill>
                  <a:srgbClr val="1B90FF"/>
                </a:solidFill>
                <a:latin typeface="+mj-lt"/>
                <a:cs typeface="72" panose="020B0503030000000003" pitchFamily="34" charset="0"/>
              </a:rPr>
              <a:t>2</a:t>
            </a:r>
          </a:p>
          <a:p>
            <a:pPr algn="r" defTabSz="1088558">
              <a:defRPr/>
            </a:pPr>
            <a:r>
              <a:rPr lang="en-US" sz="1000" b="1">
                <a:solidFill>
                  <a:srgbClr val="1B90FF"/>
                </a:solidFill>
                <a:latin typeface="+mn-lt"/>
                <a:cs typeface="72" panose="020B0503030000000003" pitchFamily="34" charset="0"/>
              </a:rPr>
              <a:t>Extension</a:t>
            </a:r>
            <a:br>
              <a:rPr lang="en-US" sz="1000" b="1">
                <a:solidFill>
                  <a:srgbClr val="1B90FF"/>
                </a:solidFill>
                <a:latin typeface="+mn-lt"/>
                <a:cs typeface="72" panose="020B0503030000000003" pitchFamily="34" charset="0"/>
              </a:rPr>
            </a:br>
            <a:r>
              <a:rPr lang="en-US" sz="1000" b="1">
                <a:solidFill>
                  <a:srgbClr val="1B90FF"/>
                </a:solidFill>
                <a:latin typeface="+mn-lt"/>
                <a:cs typeface="72" panose="020B0503030000000003" pitchFamily="34" charset="0"/>
              </a:rPr>
              <a:t>architecture</a:t>
            </a:r>
          </a:p>
        </p:txBody>
      </p:sp>
    </p:spTree>
    <p:extLst>
      <p:ext uri="{BB962C8B-B14F-4D97-AF65-F5344CB8AC3E}">
        <p14:creationId xmlns:p14="http://schemas.microsoft.com/office/powerpoint/2010/main" val="25731227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fade">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fade">
                                      <p:cBhvr>
                                        <p:cTn id="1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p:bldP spid="79" grpId="0"/>
      <p:bldP spid="8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3">
            <a:extLst>
              <a:ext uri="{FF2B5EF4-FFF2-40B4-BE49-F238E27FC236}">
                <a16:creationId xmlns:a16="http://schemas.microsoft.com/office/drawing/2014/main" id="{8BE34707-2442-8223-D852-1EB4DA7561FB}"/>
              </a:ext>
            </a:extLst>
          </p:cNvPr>
          <p:cNvSpPr txBox="1">
            <a:spLocks/>
          </p:cNvSpPr>
          <p:nvPr/>
        </p:nvSpPr>
        <p:spPr>
          <a:xfrm>
            <a:off x="498475" y="1579892"/>
            <a:ext cx="4695317" cy="3855708"/>
          </a:xfrm>
          <a:prstGeom prst="rect">
            <a:avLst/>
          </a:prstGeom>
        </p:spPr>
        <p:txBody>
          <a:bodyPr/>
          <a:lst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a:lstStyle>
          <a:p>
            <a:r>
              <a:rPr lang="en-US" dirty="0">
                <a:solidFill>
                  <a:srgbClr val="002A86"/>
                </a:solidFill>
              </a:rPr>
              <a:t>👉 </a:t>
            </a:r>
            <a:r>
              <a:rPr lang="en-US" noProof="0" dirty="0">
                <a:solidFill>
                  <a:srgbClr val="002A86"/>
                </a:solidFill>
              </a:rPr>
              <a:t>Deep Dive Session:</a:t>
            </a:r>
          </a:p>
          <a:p>
            <a:endParaRPr lang="en-US" noProof="0" dirty="0">
              <a:solidFill>
                <a:srgbClr val="002A86"/>
              </a:solidFill>
            </a:endParaRPr>
          </a:p>
          <a:p>
            <a:r>
              <a:rPr lang="en-US" noProof="0" dirty="0">
                <a:solidFill>
                  <a:srgbClr val="002A86"/>
                </a:solidFill>
              </a:rPr>
              <a:t>XP100 | Accelerate adoption of SAP Business Technology Platform with confidence</a:t>
            </a:r>
          </a:p>
          <a:p>
            <a:endParaRPr lang="en-US" b="1" noProof="0" dirty="0">
              <a:solidFill>
                <a:srgbClr val="002A86"/>
              </a:solidFill>
            </a:endParaRPr>
          </a:p>
          <a:p>
            <a:r>
              <a:rPr lang="en-US" sz="2000" noProof="0" dirty="0">
                <a:solidFill>
                  <a:srgbClr val="002A86"/>
                </a:solidFill>
              </a:rPr>
              <a:t>Thursday, Nov 6</a:t>
            </a:r>
          </a:p>
          <a:p>
            <a:r>
              <a:rPr lang="en-US" sz="2000" noProof="0" dirty="0">
                <a:solidFill>
                  <a:srgbClr val="002A86"/>
                </a:solidFill>
              </a:rPr>
              <a:t>1:00 PM – 1:45 PM CET</a:t>
            </a:r>
          </a:p>
          <a:p>
            <a:endParaRPr lang="en-US" sz="1800" noProof="0" dirty="0">
              <a:solidFill>
                <a:srgbClr val="002A86"/>
              </a:solidFill>
            </a:endParaRPr>
          </a:p>
          <a:p>
            <a:r>
              <a:rPr lang="en-US" sz="1200" noProof="0" dirty="0">
                <a:solidFill>
                  <a:srgbClr val="002A86"/>
                </a:solidFill>
              </a:rPr>
              <a:t>Katrin von Ahsen</a:t>
            </a:r>
          </a:p>
          <a:p>
            <a:r>
              <a:rPr lang="en-US" sz="1200" noProof="0" dirty="0">
                <a:solidFill>
                  <a:srgbClr val="002A86"/>
                </a:solidFill>
              </a:rPr>
              <a:t>Kay </a:t>
            </a:r>
            <a:r>
              <a:rPr lang="en-US" sz="1200" noProof="0" dirty="0" err="1">
                <a:solidFill>
                  <a:srgbClr val="002A86"/>
                </a:solidFill>
              </a:rPr>
              <a:t>Schmitteckert</a:t>
            </a:r>
            <a:endParaRPr lang="en-US" sz="1200" noProof="0" dirty="0">
              <a:solidFill>
                <a:srgbClr val="002A86"/>
              </a:solidFill>
            </a:endParaRPr>
          </a:p>
        </p:txBody>
      </p:sp>
    </p:spTree>
    <p:extLst>
      <p:ext uri="{BB962C8B-B14F-4D97-AF65-F5344CB8AC3E}">
        <p14:creationId xmlns:p14="http://schemas.microsoft.com/office/powerpoint/2010/main" val="3225434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D1CBD1B6-37E1-C8FC-4EAB-EA32B2A09703}"/>
              </a:ext>
            </a:extLst>
          </p:cNvPr>
          <p:cNvSpPr>
            <a:spLocks noGrp="1"/>
          </p:cNvSpPr>
          <p:nvPr>
            <p:ph type="body" sz="quarter" idx="10"/>
          </p:nvPr>
        </p:nvSpPr>
        <p:spPr/>
        <p:txBody>
          <a:bodyPr/>
          <a:lstStyle/>
          <a:p>
            <a:pPr fontAlgn="base">
              <a:spcBef>
                <a:spcPct val="50000"/>
              </a:spcBef>
              <a:spcAft>
                <a:spcPct val="0"/>
              </a:spcAft>
              <a:buClr>
                <a:srgbClr val="F0AB00"/>
              </a:buClr>
            </a:pPr>
            <a:r>
              <a:rPr lang="en-US" sz="2000" b="1" kern="0" dirty="0">
                <a:latin typeface="72" panose="020B0503030000000003" pitchFamily="34" charset="0"/>
                <a:ea typeface="Arial Unicode MS" pitchFamily="34" charset="-128"/>
                <a:cs typeface="72" panose="020B0503030000000003" pitchFamily="34" charset="0"/>
              </a:rPr>
              <a:t>Marco Matha</a:t>
            </a:r>
            <a:br>
              <a:rPr lang="en-US" sz="2000" kern="0" dirty="0">
                <a:latin typeface="72" panose="020B0503030000000003" pitchFamily="34" charset="0"/>
                <a:ea typeface="Arial Unicode MS" pitchFamily="34" charset="-128"/>
                <a:cs typeface="72" panose="020B0503030000000003" pitchFamily="34" charset="0"/>
              </a:rPr>
            </a:br>
            <a:r>
              <a:rPr lang="en-US" kern="0" dirty="0">
                <a:latin typeface="72" panose="020B0503030000000003" pitchFamily="34" charset="0"/>
                <a:ea typeface="Arial Unicode MS" pitchFamily="34" charset="-128"/>
                <a:cs typeface="72" panose="020B0503030000000003" pitchFamily="34" charset="0"/>
              </a:rPr>
              <a:t>BTP Product Management</a:t>
            </a:r>
            <a:br>
              <a:rPr lang="en-US" kern="0" dirty="0">
                <a:latin typeface="72" panose="020B0503030000000003" pitchFamily="34" charset="0"/>
                <a:ea typeface="Arial Unicode MS" pitchFamily="34" charset="-128"/>
                <a:cs typeface="72" panose="020B0503030000000003" pitchFamily="34" charset="0"/>
              </a:rPr>
            </a:br>
            <a:r>
              <a:rPr lang="en-DE" sz="1200" kern="0">
                <a:latin typeface="72" panose="020B0503030000000003" pitchFamily="34" charset="0"/>
                <a:ea typeface="Arial Unicode MS" pitchFamily="34" charset="-128"/>
                <a:cs typeface="72" panose="020B0503030000000003" pitchFamily="34" charset="0"/>
              </a:rPr>
              <a:t>Join me online: </a:t>
            </a:r>
            <a:r>
              <a:rPr lang="en-DE" sz="1200" kern="0">
                <a:latin typeface="72" panose="020B0503030000000003" pitchFamily="34" charset="0"/>
                <a:ea typeface="Arial Unicode MS" pitchFamily="34" charset="-128"/>
                <a:cs typeface="72" panose="020B0503030000000003" pitchFamily="34" charset="0"/>
                <a:hlinkClick r:id="rId2">
                  <a:extLst>
                    <a:ext uri="{A12FA001-AC4F-418D-AE19-62706E023703}">
                      <ahyp:hlinkClr xmlns:ahyp="http://schemas.microsoft.com/office/drawing/2018/hyperlinkcolor" val="tx"/>
                    </a:ext>
                  </a:extLst>
                </a:hlinkClick>
              </a:rPr>
              <a:t>https://www.linkedin.com/in/marcomatha/</a:t>
            </a:r>
            <a:r>
              <a:rPr lang="en-DE" sz="1200" kern="0">
                <a:latin typeface="72" panose="020B0503030000000003" pitchFamily="34" charset="0"/>
                <a:ea typeface="Arial Unicode MS" pitchFamily="34" charset="-128"/>
                <a:cs typeface="72" panose="020B0503030000000003" pitchFamily="34" charset="0"/>
              </a:rPr>
              <a:t> </a:t>
            </a:r>
          </a:p>
          <a:p>
            <a:endParaRPr lang="de-DE" dirty="0"/>
          </a:p>
        </p:txBody>
      </p:sp>
      <p:sp>
        <p:nvSpPr>
          <p:cNvPr id="4" name="Textplatzhalter 3">
            <a:extLst>
              <a:ext uri="{FF2B5EF4-FFF2-40B4-BE49-F238E27FC236}">
                <a16:creationId xmlns:a16="http://schemas.microsoft.com/office/drawing/2014/main" id="{8BFC4A41-7339-6E38-FCE6-F769578CC538}"/>
              </a:ext>
            </a:extLst>
          </p:cNvPr>
          <p:cNvSpPr>
            <a:spLocks noGrp="1"/>
          </p:cNvSpPr>
          <p:nvPr>
            <p:ph type="body" sz="quarter" idx="11"/>
          </p:nvPr>
        </p:nvSpPr>
        <p:spPr/>
        <p:txBody>
          <a:bodyPr/>
          <a:lstStyle/>
          <a:p>
            <a:r>
              <a:rPr lang="en-US" noProof="0"/>
              <a:t>Contact information:</a:t>
            </a:r>
          </a:p>
        </p:txBody>
      </p:sp>
    </p:spTree>
    <p:extLst>
      <p:ext uri="{BB962C8B-B14F-4D97-AF65-F5344CB8AC3E}">
        <p14:creationId xmlns:p14="http://schemas.microsoft.com/office/powerpoint/2010/main" val="704066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DB0D4-6A1D-B0E2-E79D-D34AAFF375D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768C56B-C37B-56E3-30A7-0EDBC98F5A15}"/>
              </a:ext>
            </a:extLst>
          </p:cNvPr>
          <p:cNvSpPr>
            <a:spLocks noGrp="1"/>
          </p:cNvSpPr>
          <p:nvPr>
            <p:ph type="ctrTitle"/>
          </p:nvPr>
        </p:nvSpPr>
        <p:spPr/>
        <p:txBody>
          <a:bodyPr/>
          <a:lstStyle/>
          <a:p>
            <a:r>
              <a:rPr lang="en-US" b="1" noProof="0" dirty="0"/>
              <a:t>Exercise 1</a:t>
            </a:r>
            <a:br>
              <a:rPr lang="en-US" b="1" noProof="0" dirty="0"/>
            </a:br>
            <a:r>
              <a:rPr lang="en-US" b="1" noProof="0" dirty="0"/>
              <a:t> </a:t>
            </a:r>
            <a:br>
              <a:rPr lang="en-US" b="1" noProof="0" dirty="0"/>
            </a:br>
            <a:r>
              <a:rPr lang="en-US" sz="3200" noProof="0" dirty="0"/>
              <a:t>SAP Application Extension Methodology</a:t>
            </a:r>
            <a:endParaRPr lang="en-US" noProof="0" dirty="0"/>
          </a:p>
        </p:txBody>
      </p:sp>
    </p:spTree>
    <p:extLst>
      <p:ext uri="{BB962C8B-B14F-4D97-AF65-F5344CB8AC3E}">
        <p14:creationId xmlns:p14="http://schemas.microsoft.com/office/powerpoint/2010/main" val="3844069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260FE-7301-72CB-BBC2-01F89B4C526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48B40082-5D25-8C07-32E9-88405D42E897}"/>
              </a:ext>
            </a:extLst>
          </p:cNvPr>
          <p:cNvSpPr>
            <a:spLocks noGrp="1"/>
          </p:cNvSpPr>
          <p:nvPr>
            <p:ph type="ctrTitle"/>
          </p:nvPr>
        </p:nvSpPr>
        <p:spPr/>
        <p:txBody>
          <a:bodyPr/>
          <a:lstStyle/>
          <a:p>
            <a:r>
              <a:rPr lang="en-US" b="1" noProof="0" dirty="0"/>
              <a:t>Exercise 1.1: </a:t>
            </a:r>
            <a:br>
              <a:rPr lang="en-US" b="1" noProof="0" dirty="0"/>
            </a:br>
            <a:br>
              <a:rPr lang="en-US" b="1" noProof="0" dirty="0"/>
            </a:br>
            <a:r>
              <a:rPr lang="en-US" sz="3200" noProof="0" dirty="0"/>
              <a:t>Use case example: </a:t>
            </a:r>
            <a:br>
              <a:rPr lang="en-US" sz="3200" noProof="0" dirty="0"/>
            </a:br>
            <a:r>
              <a:rPr lang="en-US" sz="3200" noProof="0" dirty="0"/>
              <a:t>Sales order process extension</a:t>
            </a:r>
            <a:endParaRPr lang="en-US" noProof="0" dirty="0"/>
          </a:p>
        </p:txBody>
      </p:sp>
    </p:spTree>
    <p:extLst>
      <p:ext uri="{BB962C8B-B14F-4D97-AF65-F5344CB8AC3E}">
        <p14:creationId xmlns:p14="http://schemas.microsoft.com/office/powerpoint/2010/main" val="28611692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C6553-F4B7-BF5B-757F-CAECE92A13C2}"/>
            </a:ext>
          </a:extLst>
        </p:cNvPr>
        <p:cNvGrpSpPr/>
        <p:nvPr/>
      </p:nvGrpSpPr>
      <p:grpSpPr>
        <a:xfrm>
          <a:off x="0" y="0"/>
          <a:ext cx="0" cy="0"/>
          <a:chOff x="0" y="0"/>
          <a:chExt cx="0" cy="0"/>
        </a:xfrm>
      </p:grpSpPr>
      <p:sp>
        <p:nvSpPr>
          <p:cNvPr id="6" name="Textplatzhalter 5">
            <a:extLst>
              <a:ext uri="{FF2B5EF4-FFF2-40B4-BE49-F238E27FC236}">
                <a16:creationId xmlns:a16="http://schemas.microsoft.com/office/drawing/2014/main" id="{6BF9D804-8BFE-92D5-4FB4-EF5E0119A14D}"/>
              </a:ext>
            </a:extLst>
          </p:cNvPr>
          <p:cNvSpPr>
            <a:spLocks noGrp="1"/>
          </p:cNvSpPr>
          <p:nvPr>
            <p:ph type="body" sz="quarter" idx="10"/>
          </p:nvPr>
        </p:nvSpPr>
        <p:spPr>
          <a:xfrm>
            <a:off x="503999" y="1241208"/>
            <a:ext cx="10947771" cy="5616792"/>
          </a:xfrm>
        </p:spPr>
        <p:txBody>
          <a:bodyPr vert="horz" lIns="0" tIns="0" rIns="0" bIns="0" rtlCol="0" anchor="t">
            <a:noAutofit/>
          </a:bodyPr>
          <a:lstStyle/>
          <a:p>
            <a:pPr>
              <a:spcBef>
                <a:spcPts val="300"/>
              </a:spcBef>
              <a:spcAft>
                <a:spcPts val="300"/>
              </a:spcAft>
            </a:pPr>
            <a:r>
              <a:rPr lang="en-US" sz="1600" b="1" dirty="0">
                <a:solidFill>
                  <a:srgbClr val="12171C"/>
                </a:solidFill>
                <a:latin typeface="72 Brand" panose="020B0504030603020204" pitchFamily="34" charset="0"/>
                <a:cs typeface="Times New Roman"/>
              </a:rPr>
              <a:t>Business Case:</a:t>
            </a:r>
          </a:p>
          <a:p>
            <a:pPr>
              <a:spcBef>
                <a:spcPts val="300"/>
              </a:spcBef>
              <a:spcAft>
                <a:spcPts val="300"/>
              </a:spcAft>
              <a:buNone/>
            </a:pPr>
            <a:r>
              <a:rPr lang="en-US" sz="1200" noProof="0" dirty="0">
                <a:solidFill>
                  <a:srgbClr val="12171C"/>
                </a:solidFill>
                <a:latin typeface="72 Brand" panose="020B0504030603020204" pitchFamily="34" charset="0"/>
                <a:cs typeface="Times New Roman"/>
              </a:rPr>
              <a:t>The sales department at ACME Corporation has specific requirements for its end-to-end lead-to-cash sales order process - specifically for sales order data entry and the approval workflow. The Cloud ERP will remain the system of record for sales orders. A fit-to-standard workshop concluded these requirements cannot be met with SAP standard applications. Because the custom process offers a competitive advantage, ACME’s leadership approved its development on the condition that it follows the Clean Core strategy.</a:t>
            </a:r>
          </a:p>
          <a:p>
            <a:pPr>
              <a:spcBef>
                <a:spcPts val="300"/>
              </a:spcBef>
              <a:spcAft>
                <a:spcPts val="300"/>
              </a:spcAft>
              <a:buNone/>
            </a:pPr>
            <a:r>
              <a:rPr lang="en-US" sz="1200" noProof="0" dirty="0">
                <a:solidFill>
                  <a:srgbClr val="12171C"/>
                </a:solidFill>
                <a:latin typeface="72 Brand" panose="020B0504030603020204" pitchFamily="34" charset="0"/>
                <a:cs typeface="Times New Roman"/>
              </a:rPr>
              <a:t>A custom sales order entry app on SAP BTP validates input and posts orders to the Cloud ERP using standard APIs. The UI displays customer, product, quantity, and delivery date. Product data is retrieved from the Cloud ERP. An internal sales representative enters the order details and triggers the automated approval workflow.</a:t>
            </a:r>
          </a:p>
          <a:p>
            <a:pPr>
              <a:spcBef>
                <a:spcPts val="300"/>
              </a:spcBef>
              <a:spcAft>
                <a:spcPts val="300"/>
              </a:spcAft>
              <a:buNone/>
            </a:pPr>
            <a:r>
              <a:rPr lang="en-US" sz="1200" noProof="0" dirty="0">
                <a:solidFill>
                  <a:srgbClr val="12171C"/>
                </a:solidFill>
                <a:latin typeface="72 Brand" panose="020B0504030603020204" pitchFamily="34" charset="0"/>
                <a:cs typeface="Times New Roman"/>
              </a:rPr>
              <a:t>ACME’s sales order entry requires additional validations and approvals. The automated approval workflow is triggered when the quantity exceeds defined thresholds (e.g., &gt;10). All these scenarios require approval from the Sales Manager. The solution must include two forms — "Sales Order Approval" and "Sales Order Rejected" — each displaying product, quantity, customer </a:t>
            </a:r>
            <a:r>
              <a:rPr lang="en-US" sz="1200" dirty="0">
                <a:solidFill>
                  <a:srgbClr val="12171C"/>
                </a:solidFill>
                <a:latin typeface="72 Brand" panose="020B0504030603020204" pitchFamily="34" charset="0"/>
                <a:cs typeface="Times New Roman"/>
              </a:rPr>
              <a:t>n</a:t>
            </a:r>
            <a:r>
              <a:rPr lang="en-US" sz="1200" noProof="0" dirty="0" err="1">
                <a:solidFill>
                  <a:srgbClr val="12171C"/>
                </a:solidFill>
                <a:latin typeface="72 Brand" panose="020B0504030603020204" pitchFamily="34" charset="0"/>
                <a:cs typeface="Times New Roman"/>
              </a:rPr>
              <a:t>ame</a:t>
            </a:r>
            <a:r>
              <a:rPr lang="en-US" sz="1200" noProof="0" dirty="0">
                <a:solidFill>
                  <a:srgbClr val="12171C"/>
                </a:solidFill>
                <a:latin typeface="72 Brand" panose="020B0504030603020204" pitchFamily="34" charset="0"/>
                <a:cs typeface="Times New Roman"/>
              </a:rPr>
              <a:t>, expected </a:t>
            </a:r>
            <a:r>
              <a:rPr lang="en-US" sz="1200" dirty="0">
                <a:solidFill>
                  <a:srgbClr val="12171C"/>
                </a:solidFill>
                <a:latin typeface="72 Brand" panose="020B0504030603020204" pitchFamily="34" charset="0"/>
                <a:cs typeface="Times New Roman"/>
              </a:rPr>
              <a:t>d</a:t>
            </a:r>
            <a:r>
              <a:rPr lang="en-US" sz="1200" noProof="0" dirty="0" err="1">
                <a:solidFill>
                  <a:srgbClr val="12171C"/>
                </a:solidFill>
                <a:latin typeface="72 Brand" panose="020B0504030603020204" pitchFamily="34" charset="0"/>
                <a:cs typeface="Times New Roman"/>
              </a:rPr>
              <a:t>elivery</a:t>
            </a:r>
            <a:r>
              <a:rPr lang="en-US" sz="1200" noProof="0" dirty="0">
                <a:solidFill>
                  <a:srgbClr val="12171C"/>
                </a:solidFill>
                <a:latin typeface="72 Brand" panose="020B0504030603020204" pitchFamily="34" charset="0"/>
                <a:cs typeface="Times New Roman"/>
              </a:rPr>
              <a:t> date, and a free-text message field for the buyer.</a:t>
            </a:r>
          </a:p>
          <a:p>
            <a:pPr>
              <a:spcBef>
                <a:spcPts val="300"/>
              </a:spcBef>
              <a:spcAft>
                <a:spcPts val="300"/>
              </a:spcAft>
            </a:pPr>
            <a:br>
              <a:rPr lang="en-US" sz="1600" b="1" dirty="0">
                <a:solidFill>
                  <a:srgbClr val="12171C"/>
                </a:solidFill>
                <a:latin typeface="72 Brand" panose="020B0504030603020204" pitchFamily="34" charset="0"/>
                <a:cs typeface="Times New Roman"/>
              </a:rPr>
            </a:br>
            <a:r>
              <a:rPr lang="en-US" sz="1600" b="1" dirty="0">
                <a:solidFill>
                  <a:srgbClr val="12171C"/>
                </a:solidFill>
                <a:latin typeface="72 Brand" panose="020B0504030603020204" pitchFamily="34" charset="0"/>
                <a:cs typeface="Times New Roman"/>
              </a:rPr>
              <a:t>Architecture Principals and Business Context:</a:t>
            </a:r>
          </a:p>
          <a:p>
            <a:pPr marL="342900" indent="-342900">
              <a:spcBef>
                <a:spcPts val="900"/>
              </a:spcBef>
              <a:spcAft>
                <a:spcPts val="300"/>
              </a:spcAft>
              <a:buClr>
                <a:srgbClr val="348B26"/>
              </a:buClr>
              <a:buSzPct val="100000"/>
              <a:buFont typeface="Wingdings" pitchFamily="2" charset="2"/>
              <a:buChar char="§"/>
            </a:pPr>
            <a:r>
              <a:rPr lang="en-US" sz="1200" dirty="0">
                <a:solidFill>
                  <a:srgbClr val="12171C"/>
                </a:solidFill>
                <a:latin typeface="72 Brand" panose="020B0504030603020204" pitchFamily="34" charset="0"/>
                <a:cs typeface="Times New Roman"/>
              </a:rPr>
              <a:t>Extensions needs to be upgrade stable and follow Clean Core Level A</a:t>
            </a:r>
          </a:p>
          <a:p>
            <a:pPr marL="342900" indent="-342900">
              <a:spcBef>
                <a:spcPts val="300"/>
              </a:spcBef>
              <a:spcAft>
                <a:spcPts val="300"/>
              </a:spcAft>
              <a:buClr>
                <a:srgbClr val="348B26"/>
              </a:buClr>
              <a:buSzPct val="100000"/>
              <a:buFont typeface="Wingdings" pitchFamily="2" charset="2"/>
              <a:buChar char="§"/>
            </a:pPr>
            <a:r>
              <a:rPr lang="en-US" sz="1200" dirty="0">
                <a:solidFill>
                  <a:srgbClr val="12171C"/>
                </a:solidFill>
                <a:latin typeface="72 Brand" panose="020B0504030603020204" pitchFamily="34" charset="0"/>
                <a:cs typeface="Times New Roman"/>
              </a:rPr>
              <a:t>SAP Build Low-code/No-code tools are preferred for development</a:t>
            </a:r>
          </a:p>
          <a:p>
            <a:pPr marL="342900" indent="-342900">
              <a:spcBef>
                <a:spcPts val="300"/>
              </a:spcBef>
              <a:spcAft>
                <a:spcPts val="300"/>
              </a:spcAft>
              <a:buClr>
                <a:srgbClr val="348B26"/>
              </a:buClr>
              <a:buSzPct val="100000"/>
              <a:buFont typeface="Wingdings" pitchFamily="2" charset="2"/>
              <a:buChar char="§"/>
            </a:pPr>
            <a:r>
              <a:rPr lang="en-US" sz="1200" dirty="0">
                <a:solidFill>
                  <a:srgbClr val="12171C"/>
                </a:solidFill>
                <a:latin typeface="72 Brand" panose="020B0504030603020204" pitchFamily="34" charset="0"/>
                <a:cs typeface="Times New Roman"/>
              </a:rPr>
              <a:t>Side-by-Side options are preferred for workflow implementation and UIs</a:t>
            </a:r>
          </a:p>
          <a:p>
            <a:pPr marL="342900" indent="-342900">
              <a:spcBef>
                <a:spcPts val="300"/>
              </a:spcBef>
              <a:spcAft>
                <a:spcPts val="300"/>
              </a:spcAft>
              <a:buClr>
                <a:srgbClr val="348B26"/>
              </a:buClr>
              <a:buSzPct val="100000"/>
              <a:buFont typeface="Wingdings" pitchFamily="2" charset="2"/>
              <a:buChar char="§"/>
            </a:pPr>
            <a:r>
              <a:rPr lang="en-US" sz="1200" dirty="0">
                <a:solidFill>
                  <a:srgbClr val="12171C"/>
                </a:solidFill>
                <a:latin typeface="72 Brand" panose="020B0504030603020204" pitchFamily="34" charset="0"/>
                <a:cs typeface="Times New Roman"/>
              </a:rPr>
              <a:t>ACME employees are used to access SAP application through SAP Build Work Zone</a:t>
            </a:r>
          </a:p>
          <a:p>
            <a:pPr>
              <a:spcBef>
                <a:spcPts val="300"/>
              </a:spcBef>
              <a:spcAft>
                <a:spcPts val="300"/>
              </a:spcAft>
              <a:buClr>
                <a:srgbClr val="348B26"/>
              </a:buClr>
              <a:buSzPct val="100000"/>
              <a:buNone/>
            </a:pPr>
            <a:endParaRPr lang="en-US" sz="1200" dirty="0">
              <a:solidFill>
                <a:srgbClr val="12171C"/>
              </a:solidFill>
              <a:latin typeface="72 Brand" panose="020B0504030603020204" pitchFamily="34" charset="0"/>
              <a:cs typeface="Times New Roman"/>
            </a:endParaRPr>
          </a:p>
          <a:p>
            <a:pPr>
              <a:spcBef>
                <a:spcPts val="300"/>
              </a:spcBef>
              <a:spcAft>
                <a:spcPts val="300"/>
              </a:spcAft>
              <a:buClr>
                <a:srgbClr val="348B26"/>
              </a:buClr>
              <a:buSzPct val="100000"/>
              <a:buNone/>
            </a:pPr>
            <a:r>
              <a:rPr lang="en-US" sz="1600" b="1" noProof="0" dirty="0">
                <a:solidFill>
                  <a:srgbClr val="12171C"/>
                </a:solidFill>
                <a:latin typeface="72 Brand" panose="020B0504030603020204" pitchFamily="34" charset="0"/>
                <a:cs typeface="Times New Roman"/>
              </a:rPr>
              <a:t>Your Role and Task:</a:t>
            </a:r>
          </a:p>
          <a:p>
            <a:pPr>
              <a:lnSpc>
                <a:spcPts val="1600"/>
              </a:lnSpc>
              <a:spcBef>
                <a:spcPts val="300"/>
              </a:spcBef>
              <a:spcAft>
                <a:spcPts val="300"/>
              </a:spcAft>
              <a:buNone/>
            </a:pPr>
            <a:r>
              <a:rPr lang="en-US" sz="1200" dirty="0">
                <a:solidFill>
                  <a:srgbClr val="12171C"/>
                </a:solidFill>
                <a:latin typeface="72 Brand" panose="020B0504030603020204" pitchFamily="34" charset="0"/>
                <a:cs typeface="Times New Roman"/>
              </a:rPr>
              <a:t>You’re a member of ACME Corporation’s Enterprise Architecture team, tasked with creating a target solution diagram to prepare for the implementation of this extension use case. Having recently learned about the SAP Application Extension Methodology, you plan to apply it to guide the architecture of this project.</a:t>
            </a:r>
          </a:p>
          <a:p>
            <a:pPr marL="342900" indent="-342900">
              <a:spcBef>
                <a:spcPts val="300"/>
              </a:spcBef>
              <a:spcAft>
                <a:spcPts val="300"/>
              </a:spcAft>
              <a:buClr>
                <a:srgbClr val="348B26"/>
              </a:buClr>
              <a:buSzPct val="100000"/>
              <a:buFont typeface="Wingdings" pitchFamily="2" charset="2"/>
              <a:buChar char="§"/>
            </a:pPr>
            <a:endParaRPr lang="en-US" sz="1100" dirty="0">
              <a:solidFill>
                <a:srgbClr val="12171C"/>
              </a:solidFill>
              <a:latin typeface="72 Brand" panose="020B0504030603020204" pitchFamily="34" charset="0"/>
              <a:cs typeface="Times New Roman"/>
            </a:endParaRPr>
          </a:p>
          <a:p>
            <a:pPr>
              <a:spcBef>
                <a:spcPts val="300"/>
              </a:spcBef>
              <a:spcAft>
                <a:spcPts val="300"/>
              </a:spcAft>
              <a:buNone/>
            </a:pPr>
            <a:endParaRPr lang="en-US" sz="1200" dirty="0">
              <a:solidFill>
                <a:srgbClr val="12171C"/>
              </a:solidFill>
              <a:latin typeface="72 Brand" panose="020B0504030603020204" pitchFamily="34" charset="0"/>
              <a:cs typeface="Times New Roman"/>
            </a:endParaRPr>
          </a:p>
        </p:txBody>
      </p:sp>
      <p:sp>
        <p:nvSpPr>
          <p:cNvPr id="5" name="Titel 4">
            <a:extLst>
              <a:ext uri="{FF2B5EF4-FFF2-40B4-BE49-F238E27FC236}">
                <a16:creationId xmlns:a16="http://schemas.microsoft.com/office/drawing/2014/main" id="{41EF85B4-C452-BC93-E4B8-2812FAA9CBE1}"/>
              </a:ext>
            </a:extLst>
          </p:cNvPr>
          <p:cNvSpPr>
            <a:spLocks noGrp="1"/>
          </p:cNvSpPr>
          <p:nvPr>
            <p:ph type="title"/>
          </p:nvPr>
        </p:nvSpPr>
        <p:spPr>
          <a:xfrm>
            <a:off x="504001" y="504000"/>
            <a:ext cx="11186476" cy="307777"/>
          </a:xfrm>
        </p:spPr>
        <p:txBody>
          <a:bodyPr/>
          <a:lstStyle/>
          <a:p>
            <a:r>
              <a:rPr lang="en-US" sz="2000" b="0" dirty="0">
                <a:solidFill>
                  <a:srgbClr val="12171C"/>
                </a:solidFill>
                <a:latin typeface="72 Brand Medium" panose="020B0504030603020204" pitchFamily="34" charset="0"/>
              </a:rPr>
              <a:t>Use </a:t>
            </a:r>
            <a:r>
              <a:rPr lang="en-US" sz="2000" dirty="0">
                <a:solidFill>
                  <a:srgbClr val="12171C"/>
                </a:solidFill>
              </a:rPr>
              <a:t>c</a:t>
            </a:r>
            <a:r>
              <a:rPr lang="en-US" sz="2000" b="0" dirty="0">
                <a:solidFill>
                  <a:srgbClr val="12171C"/>
                </a:solidFill>
                <a:latin typeface="72 Brand Medium" panose="020B0504030603020204" pitchFamily="34" charset="0"/>
              </a:rPr>
              <a:t>ase example: Sales order process extension</a:t>
            </a:r>
          </a:p>
        </p:txBody>
      </p:sp>
      <p:grpSp>
        <p:nvGrpSpPr>
          <p:cNvPr id="2" name="Group 48">
            <a:extLst>
              <a:ext uri="{FF2B5EF4-FFF2-40B4-BE49-F238E27FC236}">
                <a16:creationId xmlns:a16="http://schemas.microsoft.com/office/drawing/2014/main" id="{56A2D782-D461-CA13-23A8-9AEF3C5CA601}"/>
              </a:ext>
            </a:extLst>
          </p:cNvPr>
          <p:cNvGrpSpPr/>
          <p:nvPr/>
        </p:nvGrpSpPr>
        <p:grpSpPr>
          <a:xfrm>
            <a:off x="6445071" y="-2890"/>
            <a:ext cx="5231695" cy="329981"/>
            <a:chOff x="6445071" y="-2890"/>
            <a:chExt cx="5231695" cy="329981"/>
          </a:xfrm>
        </p:grpSpPr>
        <p:sp>
          <p:nvSpPr>
            <p:cNvPr id="8" name="Freeform 49">
              <a:extLst>
                <a:ext uri="{FF2B5EF4-FFF2-40B4-BE49-F238E27FC236}">
                  <a16:creationId xmlns:a16="http://schemas.microsoft.com/office/drawing/2014/main" id="{DE8ED827-A378-F437-002E-B7CA336C1D35}"/>
                </a:ext>
              </a:extLst>
            </p:cNvPr>
            <p:cNvSpPr/>
            <p:nvPr/>
          </p:nvSpPr>
          <p:spPr bwMode="gray">
            <a:xfrm>
              <a:off x="9983214" y="2972"/>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algn="ctr" defTabSz="914400" fontAlgn="base">
                <a:spcBef>
                  <a:spcPct val="50000"/>
                </a:spcBef>
                <a:spcAft>
                  <a:spcPct val="0"/>
                </a:spcAft>
                <a:buClr>
                  <a:srgbClr val="F0AB00"/>
                </a:buClr>
                <a:buSzPct val="80000"/>
              </a:pPr>
              <a:r>
                <a:rPr lang="de-DE" sz="800" kern="0" dirty="0">
                  <a:solidFill>
                    <a:schemeClr val="bg1">
                      <a:lumMod val="85000"/>
                    </a:schemeClr>
                  </a:solidFill>
                  <a:latin typeface="72 Brand" panose="020B0504030603020204" pitchFamily="34" charset="0"/>
                  <a:ea typeface="Arial Unicode MS" pitchFamily="34" charset="-128"/>
                  <a:cs typeface="Arial Unicode MS" pitchFamily="34" charset="-128"/>
                </a:rPr>
                <a:t>Application Extension </a:t>
              </a:r>
              <a:br>
                <a:rPr lang="de-DE" sz="800" kern="0" dirty="0">
                  <a:solidFill>
                    <a:schemeClr val="bg1">
                      <a:lumMod val="85000"/>
                    </a:schemeClr>
                  </a:solidFill>
                  <a:latin typeface="72 Brand" panose="020B0504030603020204" pitchFamily="34" charset="0"/>
                  <a:ea typeface="Arial Unicode MS" pitchFamily="34" charset="-128"/>
                  <a:cs typeface="Arial Unicode MS" pitchFamily="34" charset="-128"/>
                </a:rPr>
              </a:br>
              <a:r>
                <a:rPr lang="de-DE" sz="800" kern="0" dirty="0">
                  <a:solidFill>
                    <a:schemeClr val="bg1">
                      <a:lumMod val="85000"/>
                    </a:schemeClr>
                  </a:solidFill>
                  <a:latin typeface="72 Brand" panose="020B0504030603020204" pitchFamily="34" charset="0"/>
                  <a:ea typeface="Arial Unicode MS" pitchFamily="34" charset="-128"/>
                  <a:cs typeface="Arial Unicode MS" pitchFamily="34" charset="-128"/>
                </a:rPr>
                <a:t>Use Case</a:t>
              </a:r>
            </a:p>
          </p:txBody>
        </p:sp>
        <p:sp>
          <p:nvSpPr>
            <p:cNvPr id="9" name="Freeform 75">
              <a:extLst>
                <a:ext uri="{FF2B5EF4-FFF2-40B4-BE49-F238E27FC236}">
                  <a16:creationId xmlns:a16="http://schemas.microsoft.com/office/drawing/2014/main" id="{244208FA-E134-4CE5-9837-0F1988792A62}"/>
                </a:ext>
              </a:extLst>
            </p:cNvPr>
            <p:cNvSpPr/>
            <p:nvPr/>
          </p:nvSpPr>
          <p:spPr bwMode="gray">
            <a:xfrm>
              <a:off x="8188021" y="-2890"/>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algn="ctr" defTabSz="914400" fontAlgn="base">
                <a:spcBef>
                  <a:spcPct val="50000"/>
                </a:spcBef>
                <a:spcAft>
                  <a:spcPct val="0"/>
                </a:spcAft>
                <a:buClr>
                  <a:srgbClr val="F0AB00"/>
                </a:buClr>
                <a:buSzPct val="80000"/>
              </a:pPr>
              <a:r>
                <a:rPr lang="en-US" sz="800" kern="0" dirty="0">
                  <a:solidFill>
                    <a:schemeClr val="bg1">
                      <a:lumMod val="85000"/>
                    </a:schemeClr>
                  </a:solidFill>
                  <a:latin typeface="72 Brand" panose="020B0504030603020204" pitchFamily="34" charset="0"/>
                  <a:ea typeface="Arial Unicode MS" pitchFamily="34" charset="-128"/>
                  <a:cs typeface="Arial Unicode MS" pitchFamily="34" charset="-128"/>
                </a:rPr>
                <a:t>Business &amp; Context </a:t>
              </a:r>
              <a:br>
                <a:rPr lang="en-US" sz="800" kern="0" dirty="0">
                  <a:solidFill>
                    <a:schemeClr val="bg1">
                      <a:lumMod val="85000"/>
                    </a:schemeClr>
                  </a:solidFill>
                  <a:latin typeface="72 Brand" panose="020B0504030603020204" pitchFamily="34" charset="0"/>
                  <a:ea typeface="Arial Unicode MS" pitchFamily="34" charset="-128"/>
                  <a:cs typeface="Arial Unicode MS" pitchFamily="34" charset="-128"/>
                </a:rPr>
              </a:br>
              <a:r>
                <a:rPr lang="en-US" sz="800" kern="0" dirty="0">
                  <a:solidFill>
                    <a:schemeClr val="bg1">
                      <a:lumMod val="85000"/>
                    </a:schemeClr>
                  </a:solidFill>
                  <a:latin typeface="72 Brand" panose="020B0504030603020204" pitchFamily="34" charset="0"/>
                  <a:ea typeface="Arial Unicode MS" pitchFamily="34" charset="-128"/>
                  <a:cs typeface="Arial Unicode MS" pitchFamily="34" charset="-128"/>
                </a:rPr>
                <a:t>Requirement</a:t>
              </a:r>
            </a:p>
          </p:txBody>
        </p:sp>
        <p:sp>
          <p:nvSpPr>
            <p:cNvPr id="10" name="Freeform 79">
              <a:extLst>
                <a:ext uri="{FF2B5EF4-FFF2-40B4-BE49-F238E27FC236}">
                  <a16:creationId xmlns:a16="http://schemas.microsoft.com/office/drawing/2014/main" id="{A98D43A9-C993-F0FE-E7DE-464BA1953BE2}"/>
                </a:ext>
              </a:extLst>
            </p:cNvPr>
            <p:cNvSpPr/>
            <p:nvPr/>
          </p:nvSpPr>
          <p:spPr bwMode="gray">
            <a:xfrm>
              <a:off x="6445071" y="-2890"/>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800" i="0" u="none" strike="noStrike" kern="0" cap="none" spc="0" normalizeH="0" baseline="0" noProof="0">
                  <a:ln>
                    <a:noFill/>
                  </a:ln>
                  <a:solidFill>
                    <a:schemeClr val="bg1">
                      <a:lumMod val="85000"/>
                    </a:schemeClr>
                  </a:solidFill>
                  <a:effectLst/>
                  <a:uLnTx/>
                  <a:uFillTx/>
                  <a:latin typeface="72 Brand" panose="020B0504030603020204" pitchFamily="34" charset="0"/>
                  <a:ea typeface="Arial Unicode MS" pitchFamily="34" charset="-128"/>
                  <a:cs typeface="Arial Unicode MS" pitchFamily="34" charset="-128"/>
                </a:rPr>
                <a:t>System Context</a:t>
              </a:r>
            </a:p>
          </p:txBody>
        </p:sp>
      </p:grpSp>
    </p:spTree>
    <p:extLst>
      <p:ext uri="{BB962C8B-B14F-4D97-AF65-F5344CB8AC3E}">
        <p14:creationId xmlns:p14="http://schemas.microsoft.com/office/powerpoint/2010/main" val="23270237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50D95-6D64-A5A3-D50E-666E1AAA1DB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B97B29E-8081-18E2-F19F-366A6A6D76BE}"/>
              </a:ext>
            </a:extLst>
          </p:cNvPr>
          <p:cNvSpPr>
            <a:spLocks noGrp="1"/>
          </p:cNvSpPr>
          <p:nvPr>
            <p:ph type="ctrTitle"/>
          </p:nvPr>
        </p:nvSpPr>
        <p:spPr/>
        <p:txBody>
          <a:bodyPr/>
          <a:lstStyle/>
          <a:p>
            <a:r>
              <a:rPr lang="en-US" b="1" noProof="0" dirty="0"/>
              <a:t>Exercise 1.2: </a:t>
            </a:r>
            <a:br>
              <a:rPr lang="en-US" b="1" noProof="0" dirty="0"/>
            </a:br>
            <a:br>
              <a:rPr lang="en-US" b="1" noProof="0"/>
            </a:br>
            <a:r>
              <a:rPr lang="en-US" sz="3200" dirty="0"/>
              <a:t>Assess Extension </a:t>
            </a:r>
            <a:br>
              <a:rPr lang="en-US" sz="3200" dirty="0"/>
            </a:br>
            <a:r>
              <a:rPr lang="en-US" sz="3200" dirty="0"/>
              <a:t>Use Case</a:t>
            </a:r>
            <a:endParaRPr lang="en-US" noProof="0" dirty="0"/>
          </a:p>
        </p:txBody>
      </p:sp>
    </p:spTree>
    <p:extLst>
      <p:ext uri="{BB962C8B-B14F-4D97-AF65-F5344CB8AC3E}">
        <p14:creationId xmlns:p14="http://schemas.microsoft.com/office/powerpoint/2010/main" val="15031523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3">
            <a:extLst>
              <a:ext uri="{FF2B5EF4-FFF2-40B4-BE49-F238E27FC236}">
                <a16:creationId xmlns:a16="http://schemas.microsoft.com/office/drawing/2014/main" id="{0F446D51-D76A-4CEB-B783-4B42C297DD18}"/>
              </a:ext>
            </a:extLst>
          </p:cNvPr>
          <p:cNvSpPr txBox="1">
            <a:spLocks/>
          </p:cNvSpPr>
          <p:nvPr/>
        </p:nvSpPr>
        <p:spPr bwMode="black">
          <a:xfrm>
            <a:off x="513050" y="503185"/>
            <a:ext cx="11168379" cy="307777"/>
          </a:xfrm>
          <a:prstGeom prst="rect">
            <a:avLst/>
          </a:prstGeom>
        </p:spPr>
        <p:txBody>
          <a:bodyPr vert="horz" wrap="square" lIns="0" tIns="0" rIns="0" bIns="0" rtlCol="0" anchor="t" anchorCtr="0">
            <a:spAutoFit/>
          </a:bodyPr>
          <a:lstStyle>
            <a:lvl1pPr algn="l" defTabSz="1088558" rtl="0" eaLnBrk="1" latinLnBrk="0" hangingPunct="1">
              <a:spcBef>
                <a:spcPct val="0"/>
              </a:spcBef>
              <a:buNone/>
              <a:defRPr sz="2400" b="1" kern="1200" baseline="0">
                <a:solidFill>
                  <a:schemeClr val="tx1"/>
                </a:solidFill>
                <a:latin typeface="+mj-lt"/>
                <a:ea typeface="+mj-ea"/>
                <a:cs typeface="+mj-cs"/>
              </a:defRPr>
            </a:lvl1pPr>
          </a:lstStyle>
          <a:p>
            <a:pPr defTabSz="1086816">
              <a:defRPr/>
            </a:pPr>
            <a:r>
              <a:rPr lang="en-US" sz="2000" b="0">
                <a:latin typeface="72 Brand Medium" panose="020B0504030603020204" pitchFamily="34" charset="0"/>
              </a:rPr>
              <a:t>I. System Context  – Template</a:t>
            </a:r>
            <a:endParaRPr lang="de-DE" sz="2000" b="0">
              <a:latin typeface="72 Brand Medium" panose="020B0504030603020204" pitchFamily="34" charset="0"/>
            </a:endParaRPr>
          </a:p>
        </p:txBody>
      </p:sp>
      <p:graphicFrame>
        <p:nvGraphicFramePr>
          <p:cNvPr id="25" name="Tabelle 13">
            <a:extLst>
              <a:ext uri="{FF2B5EF4-FFF2-40B4-BE49-F238E27FC236}">
                <a16:creationId xmlns:a16="http://schemas.microsoft.com/office/drawing/2014/main" id="{E2049266-0F06-3846-902F-9E3B1CEA51FD}"/>
              </a:ext>
            </a:extLst>
          </p:cNvPr>
          <p:cNvGraphicFramePr>
            <a:graphicFrameLocks noGrp="1"/>
          </p:cNvGraphicFramePr>
          <p:nvPr>
            <p:extLst>
              <p:ext uri="{D42A27DB-BD31-4B8C-83A1-F6EECF244321}">
                <p14:modId xmlns:p14="http://schemas.microsoft.com/office/powerpoint/2010/main" val="2354519436"/>
              </p:ext>
            </p:extLst>
          </p:nvPr>
        </p:nvGraphicFramePr>
        <p:xfrm>
          <a:off x="526202" y="1338775"/>
          <a:ext cx="11155226" cy="4331357"/>
        </p:xfrm>
        <a:graphic>
          <a:graphicData uri="http://schemas.openxmlformats.org/drawingml/2006/table">
            <a:tbl>
              <a:tblPr firstRow="1" bandRow="1">
                <a:effectLst/>
              </a:tblPr>
              <a:tblGrid>
                <a:gridCol w="446071">
                  <a:extLst>
                    <a:ext uri="{9D8B030D-6E8A-4147-A177-3AD203B41FA5}">
                      <a16:colId xmlns:a16="http://schemas.microsoft.com/office/drawing/2014/main" val="3443618332"/>
                    </a:ext>
                  </a:extLst>
                </a:gridCol>
                <a:gridCol w="1847888">
                  <a:extLst>
                    <a:ext uri="{9D8B030D-6E8A-4147-A177-3AD203B41FA5}">
                      <a16:colId xmlns:a16="http://schemas.microsoft.com/office/drawing/2014/main" val="20001"/>
                    </a:ext>
                  </a:extLst>
                </a:gridCol>
                <a:gridCol w="1169379">
                  <a:extLst>
                    <a:ext uri="{9D8B030D-6E8A-4147-A177-3AD203B41FA5}">
                      <a16:colId xmlns:a16="http://schemas.microsoft.com/office/drawing/2014/main" val="1012404865"/>
                    </a:ext>
                  </a:extLst>
                </a:gridCol>
                <a:gridCol w="1052186">
                  <a:extLst>
                    <a:ext uri="{9D8B030D-6E8A-4147-A177-3AD203B41FA5}">
                      <a16:colId xmlns:a16="http://schemas.microsoft.com/office/drawing/2014/main" val="20002"/>
                    </a:ext>
                  </a:extLst>
                </a:gridCol>
                <a:gridCol w="1305660">
                  <a:extLst>
                    <a:ext uri="{9D8B030D-6E8A-4147-A177-3AD203B41FA5}">
                      <a16:colId xmlns:a16="http://schemas.microsoft.com/office/drawing/2014/main" val="20003"/>
                    </a:ext>
                  </a:extLst>
                </a:gridCol>
                <a:gridCol w="2012646">
                  <a:extLst>
                    <a:ext uri="{9D8B030D-6E8A-4147-A177-3AD203B41FA5}">
                      <a16:colId xmlns:a16="http://schemas.microsoft.com/office/drawing/2014/main" val="1462975398"/>
                    </a:ext>
                  </a:extLst>
                </a:gridCol>
                <a:gridCol w="1660698">
                  <a:extLst>
                    <a:ext uri="{9D8B030D-6E8A-4147-A177-3AD203B41FA5}">
                      <a16:colId xmlns:a16="http://schemas.microsoft.com/office/drawing/2014/main" val="1088050172"/>
                    </a:ext>
                  </a:extLst>
                </a:gridCol>
                <a:gridCol w="1660698">
                  <a:extLst>
                    <a:ext uri="{9D8B030D-6E8A-4147-A177-3AD203B41FA5}">
                      <a16:colId xmlns:a16="http://schemas.microsoft.com/office/drawing/2014/main" val="1101974937"/>
                    </a:ext>
                  </a:extLst>
                </a:gridCol>
              </a:tblGrid>
              <a:tr h="445055">
                <a:tc gridSpan="8">
                  <a:txBody>
                    <a:bodyPr/>
                    <a:lstStyle/>
                    <a:p>
                      <a:pPr algn="ctr"/>
                      <a:r>
                        <a:rPr lang="en-US" sz="1400" b="1">
                          <a:solidFill>
                            <a:schemeClr val="bg1"/>
                          </a:solidFill>
                          <a:latin typeface="72 Brand" panose="020B0504030603020204" pitchFamily="34" charset="0"/>
                          <a:cs typeface="Arial" panose="020B0604020202020204" pitchFamily="34" charset="0"/>
                        </a:rPr>
                        <a:t>List of Solutions</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0070F2"/>
                    </a:solidFill>
                  </a:tcPr>
                </a:tc>
                <a:tc hMerge="1">
                  <a:txBody>
                    <a:bodyPr/>
                    <a:lstStyle/>
                    <a:p>
                      <a:pPr algn="ctr"/>
                      <a:r>
                        <a:rPr lang="en-US" sz="1400" b="1">
                          <a:solidFill>
                            <a:schemeClr val="bg1"/>
                          </a:solidFill>
                          <a:latin typeface="Arial" panose="020B0604020202020204" pitchFamily="34" charset="0"/>
                          <a:cs typeface="Arial" panose="020B0604020202020204" pitchFamily="34" charset="0"/>
                        </a:rPr>
                        <a:t>List of Solutions</a:t>
                      </a:r>
                    </a:p>
                  </a:txBody>
                  <a:tcPr marL="35942" marR="35942" marT="35942" marB="35942" anchor="ctr">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hMerge="1">
                  <a:txBody>
                    <a:bodyPr/>
                    <a:lstStyle/>
                    <a:p>
                      <a:endParaRPr lang="en-DE"/>
                    </a:p>
                  </a:txBody>
                  <a:tcPr/>
                </a:tc>
                <a:tc hMerge="1">
                  <a:txBody>
                    <a:bodyPr/>
                    <a:lstStyle/>
                    <a:p>
                      <a:pPr algn="ctr"/>
                      <a:endParaRPr lang="en-US" sz="1800" b="1">
                        <a:solidFill>
                          <a:schemeClr val="tx1"/>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800" b="1">
                        <a:solidFill>
                          <a:schemeClr val="tx1"/>
                        </a:solidFill>
                        <a:latin typeface="Arial" panose="020B0604020202020204" pitchFamily="34" charset="0"/>
                        <a:cs typeface="Arial" panose="020B0604020202020204" pitchFamily="34" charset="0"/>
                      </a:endParaRP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lgn="ctr"/>
                      <a:endParaRPr lang="en-US" sz="1400" b="0">
                        <a:solidFill>
                          <a:schemeClr val="bg1"/>
                        </a:solidFill>
                        <a:latin typeface="Arial" panose="020B0604020202020204" pitchFamily="34" charset="0"/>
                        <a:cs typeface="Arial" panose="020B0604020202020204" pitchFamily="34" charset="0"/>
                      </a:endParaRP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hMerge="1">
                  <a:txBody>
                    <a:bodyPr/>
                    <a:lstStyle/>
                    <a:p>
                      <a:pPr algn="ctr"/>
                      <a:endParaRPr lang="en-US" sz="1400" b="0">
                        <a:solidFill>
                          <a:schemeClr val="bg1"/>
                        </a:solidFill>
                        <a:latin typeface="Arial" panose="020B0604020202020204" pitchFamily="34" charset="0"/>
                        <a:cs typeface="Arial" panose="020B0604020202020204" pitchFamily="34" charset="0"/>
                      </a:endParaRP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tc hMerge="1">
                  <a:txBody>
                    <a:bodyPr/>
                    <a:lstStyle/>
                    <a:p>
                      <a:pPr algn="ctr"/>
                      <a:endParaRPr lang="en-US" sz="1400" b="0">
                        <a:solidFill>
                          <a:schemeClr val="bg1"/>
                        </a:solidFill>
                        <a:latin typeface="Arial" panose="020B0604020202020204" pitchFamily="34" charset="0"/>
                        <a:cs typeface="Arial" panose="020B0604020202020204" pitchFamily="34" charset="0"/>
                      </a:endParaRP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10000"/>
                  </a:ext>
                </a:extLst>
              </a:tr>
              <a:tr h="276167">
                <a:tc rowSpan="2">
                  <a:txBody>
                    <a:bodyPr/>
                    <a:lstStyle/>
                    <a:p>
                      <a:pPr algn="ctr"/>
                      <a:r>
                        <a:rPr lang="en-US" sz="1200" b="0">
                          <a:solidFill>
                            <a:schemeClr val="tx1"/>
                          </a:solidFill>
                          <a:latin typeface="72 Brand" panose="020B0504030603020204" pitchFamily="34" charset="0"/>
                          <a:cs typeface="Arial" panose="020B0604020202020204" pitchFamily="34" charset="0"/>
                        </a:rPr>
                        <a:t>ID</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p>
                      <a:pPr algn="ctr"/>
                      <a:r>
                        <a:rPr lang="en-US" sz="1200" b="0">
                          <a:solidFill>
                            <a:schemeClr val="tx1"/>
                          </a:solidFill>
                          <a:latin typeface="72 Brand" panose="020B0504030603020204" pitchFamily="34" charset="0"/>
                          <a:cs typeface="Arial" panose="020B0604020202020204" pitchFamily="34" charset="0"/>
                        </a:rPr>
                        <a:t>Solution</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US" sz="1200" b="0">
                          <a:solidFill>
                            <a:schemeClr val="tx1"/>
                          </a:solidFill>
                          <a:latin typeface="72 Brand" panose="020B0504030603020204" pitchFamily="34" charset="0"/>
                          <a:cs typeface="Arial" panose="020B0604020202020204" pitchFamily="34" charset="0"/>
                        </a:rPr>
                        <a:t>Version</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US" sz="1200" b="0">
                          <a:solidFill>
                            <a:schemeClr val="tx1"/>
                          </a:solidFill>
                          <a:latin typeface="72 Brand" panose="020B0504030603020204" pitchFamily="34" charset="0"/>
                          <a:cs typeface="Arial" panose="020B0604020202020204" pitchFamily="34" charset="0"/>
                        </a:rPr>
                        <a:t>SID (host)</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US" sz="1200" b="0">
                          <a:solidFill>
                            <a:schemeClr val="tx1"/>
                          </a:solidFill>
                          <a:latin typeface="72 Brand" panose="020B0504030603020204" pitchFamily="34" charset="0"/>
                          <a:cs typeface="Arial" panose="020B0604020202020204" pitchFamily="34" charset="0"/>
                        </a:rPr>
                        <a:t>Owner</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rowSpan="2">
                  <a:txBody>
                    <a:bodyPr/>
                    <a:lstStyle/>
                    <a:p>
                      <a:pPr algn="ctr"/>
                      <a:r>
                        <a:rPr lang="en-US" sz="1200" b="0">
                          <a:solidFill>
                            <a:schemeClr val="tx1"/>
                          </a:solidFill>
                          <a:latin typeface="72 Brand" panose="020B0504030603020204" pitchFamily="34" charset="0"/>
                          <a:cs typeface="Arial" panose="020B0604020202020204" pitchFamily="34" charset="0"/>
                        </a:rPr>
                        <a:t>Solution Lifecycle</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algn="ctr"/>
                      <a:r>
                        <a:rPr lang="en-US" sz="1200" b="0">
                          <a:solidFill>
                            <a:schemeClr val="tx1"/>
                          </a:solidFill>
                          <a:latin typeface="72 Brand" panose="020B0504030603020204" pitchFamily="34" charset="0"/>
                          <a:cs typeface="Arial" panose="020B0604020202020204" pitchFamily="34" charset="0"/>
                        </a:rPr>
                        <a:t>Deployment</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a:r>
                        <a:rPr lang="en-US" sz="1200" b="0">
                          <a:solidFill>
                            <a:schemeClr val="tx1"/>
                          </a:solidFill>
                          <a:latin typeface="Arial" panose="020B0604020202020204" pitchFamily="34" charset="0"/>
                          <a:cs typeface="Arial" panose="020B0604020202020204" pitchFamily="34" charset="0"/>
                        </a:rPr>
                        <a:t>Deployment To-Be</a:t>
                      </a: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21244">
                <a:tc vMerge="1">
                  <a:txBody>
                    <a:bodyPr/>
                    <a:lstStyle/>
                    <a:p>
                      <a:endParaRPr lang="en-DE"/>
                    </a:p>
                  </a:txBody>
                  <a:tcPr/>
                </a:tc>
                <a:tc vMerge="1">
                  <a:txBody>
                    <a:bodyPr/>
                    <a:lstStyle/>
                    <a:p>
                      <a:pPr algn="l"/>
                      <a:endParaRPr lang="en-US" sz="1400" b="0">
                        <a:solidFill>
                          <a:schemeClr val="tx1"/>
                        </a:solidFill>
                        <a:latin typeface="Arial" panose="020B0604020202020204" pitchFamily="34" charset="0"/>
                        <a:cs typeface="Arial" panose="020B0604020202020204" pitchFamily="34" charset="0"/>
                      </a:endParaRP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65098"/>
                      </a:schemeClr>
                    </a:solidFill>
                  </a:tcPr>
                </a:tc>
                <a:tc vMerge="1">
                  <a:txBody>
                    <a:bodyPr/>
                    <a:lstStyle/>
                    <a:p>
                      <a:endParaRPr lang="en-DE"/>
                    </a:p>
                  </a:txBody>
                  <a:tcPr/>
                </a:tc>
                <a:tc vMerge="1">
                  <a:txBody>
                    <a:bodyPr/>
                    <a:lstStyle/>
                    <a:p>
                      <a:pPr algn="l"/>
                      <a:endParaRPr lang="en-US" sz="1400" b="0">
                        <a:solidFill>
                          <a:schemeClr val="tx1"/>
                        </a:solidFill>
                        <a:latin typeface="Arial" panose="020B0604020202020204" pitchFamily="34" charset="0"/>
                        <a:cs typeface="Arial" panose="020B0604020202020204" pitchFamily="34" charset="0"/>
                      </a:endParaRP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65098"/>
                      </a:schemeClr>
                    </a:solidFill>
                  </a:tcPr>
                </a:tc>
                <a:tc vMerge="1">
                  <a:txBody>
                    <a:bodyPr/>
                    <a:lstStyle/>
                    <a:p>
                      <a:pPr algn="l"/>
                      <a:endParaRPr lang="en-US" sz="1400" b="0">
                        <a:solidFill>
                          <a:schemeClr val="tx1"/>
                        </a:solidFill>
                        <a:latin typeface="Arial" panose="020B0604020202020204" pitchFamily="34" charset="0"/>
                        <a:cs typeface="Arial" panose="020B0604020202020204" pitchFamily="34" charset="0"/>
                      </a:endParaRP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65098"/>
                      </a:schemeClr>
                    </a:solidFill>
                  </a:tcPr>
                </a:tc>
                <a:tc vMerge="1">
                  <a:txBody>
                    <a:bodyPr/>
                    <a:lstStyle/>
                    <a:p>
                      <a:pPr algn="l"/>
                      <a:endParaRPr lang="en-US" sz="1400" b="0">
                        <a:solidFill>
                          <a:schemeClr val="tx1"/>
                        </a:solidFill>
                        <a:latin typeface="Arial" panose="020B0604020202020204" pitchFamily="34" charset="0"/>
                        <a:cs typeface="Arial" panose="020B0604020202020204" pitchFamily="34" charset="0"/>
                      </a:endParaRP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65098"/>
                      </a:schemeClr>
                    </a:solidFill>
                  </a:tcPr>
                </a:tc>
                <a:tc>
                  <a:txBody>
                    <a:bodyPr/>
                    <a:lstStyle/>
                    <a:p>
                      <a:pPr algn="ctr"/>
                      <a:r>
                        <a:rPr lang="en-US" sz="1200" b="0">
                          <a:solidFill>
                            <a:schemeClr val="tx1"/>
                          </a:solidFill>
                          <a:latin typeface="72 Brand" panose="020B0504030603020204" pitchFamily="34" charset="0"/>
                          <a:cs typeface="Arial" panose="020B0604020202020204" pitchFamily="34" charset="0"/>
                        </a:rPr>
                        <a:t>As-is</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b="0">
                          <a:solidFill>
                            <a:schemeClr val="tx1"/>
                          </a:solidFill>
                          <a:latin typeface="72 Brand" panose="020B0504030603020204" pitchFamily="34" charset="0"/>
                          <a:cs typeface="Arial" panose="020B0604020202020204" pitchFamily="34" charset="0"/>
                        </a:rPr>
                        <a:t>To-Be</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53509">
                <a:tc>
                  <a:txBody>
                    <a:bodyPr/>
                    <a:lstStyle/>
                    <a:p>
                      <a:pPr algn="l"/>
                      <a:r>
                        <a:rPr lang="en-US" sz="1100" b="0" i="1" dirty="0">
                          <a:solidFill>
                            <a:schemeClr val="tx1"/>
                          </a:solidFill>
                          <a:latin typeface="72 Brand" panose="020B0504030603020204" pitchFamily="34" charset="0"/>
                          <a:cs typeface="Arial" panose="020B0604020202020204" pitchFamily="34" charset="0"/>
                        </a:rPr>
                        <a:t>01</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r>
                        <a:rPr lang="en-US" sz="1100" b="0" i="1" dirty="0">
                          <a:solidFill>
                            <a:schemeClr val="tx1"/>
                          </a:solidFill>
                          <a:latin typeface="72 Brand" panose="020B0504030603020204" pitchFamily="34" charset="0"/>
                          <a:cs typeface="Arial" panose="020B0604020202020204" pitchFamily="34" charset="0"/>
                        </a:rPr>
                        <a:t>SAP S/4HANA Cloud Public Edition</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r>
                        <a:rPr lang="en-US" sz="1100" b="0" i="1" dirty="0">
                          <a:solidFill>
                            <a:schemeClr val="tx1"/>
                          </a:solidFill>
                          <a:latin typeface="72 Brand" panose="020B0504030603020204" pitchFamily="34" charset="0"/>
                          <a:cs typeface="Arial" panose="020B0604020202020204" pitchFamily="34" charset="0"/>
                        </a:rPr>
                        <a:t>Latest</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100" b="0" i="1" dirty="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100" b="0" i="1" dirty="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100" b="0" i="1" dirty="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100" b="0" i="1" dirty="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100" b="0" i="1" dirty="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003"/>
                  </a:ext>
                </a:extLst>
              </a:tr>
              <a:tr h="353509">
                <a:tc>
                  <a:txBody>
                    <a:bodyPr/>
                    <a:lstStyle/>
                    <a:p>
                      <a:pPr algn="l"/>
                      <a:r>
                        <a:rPr lang="en-US" sz="1100" b="0" i="1" kern="1200" dirty="0">
                          <a:solidFill>
                            <a:schemeClr val="tx1"/>
                          </a:solidFill>
                          <a:latin typeface="72 Brand" panose="020B0504030603020204" pitchFamily="34" charset="0"/>
                          <a:ea typeface="+mn-ea"/>
                          <a:cs typeface="Arial" panose="020B0604020202020204" pitchFamily="34" charset="0"/>
                        </a:rPr>
                        <a:t>02</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r>
                        <a:rPr lang="en-US" sz="1100" b="0" i="1" kern="1200" dirty="0">
                          <a:solidFill>
                            <a:schemeClr val="tx1"/>
                          </a:solidFill>
                          <a:latin typeface="72 Brand" panose="020B0504030603020204" pitchFamily="34" charset="0"/>
                          <a:ea typeface="+mn-ea"/>
                          <a:cs typeface="Arial" panose="020B0604020202020204" pitchFamily="34" charset="0"/>
                        </a:rPr>
                        <a:t>SAP Business Technology Platform</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r>
                        <a:rPr lang="en-US" sz="1100" b="0" i="1" kern="1200" dirty="0">
                          <a:solidFill>
                            <a:schemeClr val="tx1"/>
                          </a:solidFill>
                          <a:latin typeface="72 Brand" panose="020B0504030603020204" pitchFamily="34" charset="0"/>
                          <a:ea typeface="+mn-ea"/>
                          <a:cs typeface="Arial" panose="020B0604020202020204" pitchFamily="34" charset="0"/>
                        </a:rPr>
                        <a:t>Latest</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dirty="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004"/>
                  </a:ext>
                </a:extLst>
              </a:tr>
              <a:tr h="353509">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006"/>
                  </a:ext>
                </a:extLst>
              </a:tr>
              <a:tr h="353509">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007"/>
                  </a:ext>
                </a:extLst>
              </a:tr>
              <a:tr h="353509">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39168345"/>
                  </a:ext>
                </a:extLst>
              </a:tr>
              <a:tr h="353509">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41343492"/>
                  </a:ext>
                </a:extLst>
              </a:tr>
              <a:tr h="353509">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954911507"/>
                  </a:ext>
                </a:extLst>
              </a:tr>
              <a:tr h="353509">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3597947883"/>
                  </a:ext>
                </a:extLst>
              </a:tr>
              <a:tr h="353509">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tc>
                  <a:txBody>
                    <a:bodyPr/>
                    <a:lstStyle/>
                    <a:p>
                      <a:pPr algn="l"/>
                      <a:endParaRPr lang="en-US" sz="1400" b="0" dirty="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2474856974"/>
                  </a:ext>
                </a:extLst>
              </a:tr>
            </a:tbl>
          </a:graphicData>
        </a:graphic>
      </p:graphicFrame>
      <p:grpSp>
        <p:nvGrpSpPr>
          <p:cNvPr id="7" name="Group 6">
            <a:extLst>
              <a:ext uri="{FF2B5EF4-FFF2-40B4-BE49-F238E27FC236}">
                <a16:creationId xmlns:a16="http://schemas.microsoft.com/office/drawing/2014/main" id="{BA9C4E61-511A-6E68-68E7-BA143C878955}"/>
              </a:ext>
            </a:extLst>
          </p:cNvPr>
          <p:cNvGrpSpPr/>
          <p:nvPr/>
        </p:nvGrpSpPr>
        <p:grpSpPr>
          <a:xfrm>
            <a:off x="6445071" y="-2890"/>
            <a:ext cx="5231695" cy="329981"/>
            <a:chOff x="6445071" y="-2890"/>
            <a:chExt cx="5231695" cy="329981"/>
          </a:xfrm>
        </p:grpSpPr>
        <p:sp>
          <p:nvSpPr>
            <p:cNvPr id="8" name="Freeform 7">
              <a:extLst>
                <a:ext uri="{FF2B5EF4-FFF2-40B4-BE49-F238E27FC236}">
                  <a16:creationId xmlns:a16="http://schemas.microsoft.com/office/drawing/2014/main" id="{F672268D-383C-C733-E26B-B2C36F9AA0D8}"/>
                </a:ext>
              </a:extLst>
            </p:cNvPr>
            <p:cNvSpPr/>
            <p:nvPr/>
          </p:nvSpPr>
          <p:spPr bwMode="gray">
            <a:xfrm>
              <a:off x="9983214" y="2972"/>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algn="ctr" defTabSz="914400" fontAlgn="base">
                <a:spcBef>
                  <a:spcPct val="50000"/>
                </a:spcBef>
                <a:spcAft>
                  <a:spcPct val="0"/>
                </a:spcAft>
                <a:buClr>
                  <a:srgbClr val="F0AB00"/>
                </a:buClr>
                <a:buSzPct val="80000"/>
              </a:pPr>
              <a:r>
                <a:rPr lang="de-DE" sz="800" kern="0">
                  <a:solidFill>
                    <a:schemeClr val="bg1">
                      <a:lumMod val="85000"/>
                    </a:schemeClr>
                  </a:solidFill>
                  <a:latin typeface="72 Brand" panose="020B0504030603020204" pitchFamily="34" charset="0"/>
                  <a:ea typeface="Arial Unicode MS" pitchFamily="34" charset="-128"/>
                  <a:cs typeface="Arial Unicode MS" pitchFamily="34" charset="-128"/>
                </a:rPr>
                <a:t>Application Extension </a:t>
              </a:r>
              <a:br>
                <a:rPr lang="de-DE" sz="800" kern="0">
                  <a:solidFill>
                    <a:schemeClr val="bg1">
                      <a:lumMod val="85000"/>
                    </a:schemeClr>
                  </a:solidFill>
                  <a:latin typeface="72 Brand" panose="020B0504030603020204" pitchFamily="34" charset="0"/>
                  <a:ea typeface="Arial Unicode MS" pitchFamily="34" charset="-128"/>
                  <a:cs typeface="Arial Unicode MS" pitchFamily="34" charset="-128"/>
                </a:rPr>
              </a:br>
              <a:r>
                <a:rPr lang="de-DE" sz="800" kern="0">
                  <a:solidFill>
                    <a:schemeClr val="bg1">
                      <a:lumMod val="85000"/>
                    </a:schemeClr>
                  </a:solidFill>
                  <a:latin typeface="72 Brand" panose="020B0504030603020204" pitchFamily="34" charset="0"/>
                  <a:ea typeface="Arial Unicode MS" pitchFamily="34" charset="-128"/>
                  <a:cs typeface="Arial Unicode MS" pitchFamily="34" charset="-128"/>
                </a:rPr>
                <a:t>Use Case</a:t>
              </a:r>
            </a:p>
          </p:txBody>
        </p:sp>
        <p:sp>
          <p:nvSpPr>
            <p:cNvPr id="9" name="Freeform 8">
              <a:extLst>
                <a:ext uri="{FF2B5EF4-FFF2-40B4-BE49-F238E27FC236}">
                  <a16:creationId xmlns:a16="http://schemas.microsoft.com/office/drawing/2014/main" id="{F9DCE776-FCE5-70CA-1458-15EF4886A91A}"/>
                </a:ext>
              </a:extLst>
            </p:cNvPr>
            <p:cNvSpPr/>
            <p:nvPr/>
          </p:nvSpPr>
          <p:spPr bwMode="gray">
            <a:xfrm>
              <a:off x="8188021" y="-2890"/>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algn="ctr" defTabSz="914400" fontAlgn="base">
                <a:spcBef>
                  <a:spcPct val="50000"/>
                </a:spcBef>
                <a:spcAft>
                  <a:spcPct val="0"/>
                </a:spcAft>
                <a:buClr>
                  <a:srgbClr val="F0AB00"/>
                </a:buClr>
                <a:buSzPct val="80000"/>
              </a:pPr>
              <a:r>
                <a:rPr lang="en-US" sz="800" kern="0">
                  <a:solidFill>
                    <a:schemeClr val="bg1">
                      <a:lumMod val="85000"/>
                    </a:schemeClr>
                  </a:solidFill>
                  <a:latin typeface="72 Brand" panose="020B0504030603020204" pitchFamily="34" charset="0"/>
                  <a:ea typeface="Arial Unicode MS" pitchFamily="34" charset="-128"/>
                  <a:cs typeface="Arial Unicode MS" pitchFamily="34" charset="-128"/>
                </a:rPr>
                <a:t>Business &amp; Context </a:t>
              </a:r>
              <a:br>
                <a:rPr lang="en-US" sz="800" kern="0">
                  <a:solidFill>
                    <a:schemeClr val="bg1">
                      <a:lumMod val="85000"/>
                    </a:schemeClr>
                  </a:solidFill>
                  <a:latin typeface="72 Brand" panose="020B0504030603020204" pitchFamily="34" charset="0"/>
                  <a:ea typeface="Arial Unicode MS" pitchFamily="34" charset="-128"/>
                  <a:cs typeface="Arial Unicode MS" pitchFamily="34" charset="-128"/>
                </a:rPr>
              </a:br>
              <a:r>
                <a:rPr lang="en-US" sz="800" kern="0">
                  <a:solidFill>
                    <a:schemeClr val="bg1">
                      <a:lumMod val="85000"/>
                    </a:schemeClr>
                  </a:solidFill>
                  <a:latin typeface="72 Brand" panose="020B0504030603020204" pitchFamily="34" charset="0"/>
                  <a:ea typeface="Arial Unicode MS" pitchFamily="34" charset="-128"/>
                  <a:cs typeface="Arial Unicode MS" pitchFamily="34" charset="-128"/>
                </a:rPr>
                <a:t>Requirement</a:t>
              </a:r>
            </a:p>
          </p:txBody>
        </p:sp>
        <p:sp>
          <p:nvSpPr>
            <p:cNvPr id="11" name="Freeform 10">
              <a:extLst>
                <a:ext uri="{FF2B5EF4-FFF2-40B4-BE49-F238E27FC236}">
                  <a16:creationId xmlns:a16="http://schemas.microsoft.com/office/drawing/2014/main" id="{06EFEE86-E3E6-4794-88AA-BAF21C3BD4A0}"/>
                </a:ext>
              </a:extLst>
            </p:cNvPr>
            <p:cNvSpPr/>
            <p:nvPr/>
          </p:nvSpPr>
          <p:spPr bwMode="gray">
            <a:xfrm>
              <a:off x="6445071" y="-2890"/>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solidFill>
              <a:srgbClr val="EBF5CB"/>
            </a:solidFill>
            <a:ln w="25400" algn="ctr">
              <a:noFill/>
              <a:miter lim="800000"/>
              <a:headEnd/>
              <a:tailEnd/>
            </a:ln>
            <a:effectLst/>
          </p:spPr>
          <p:txBody>
            <a:bodyPr wrap="square" lIns="0" tIns="72000" rIns="0" bIns="72000" rtlCol="0" anchor="ctr">
              <a:noAutofit/>
            </a:bodyP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800"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rPr>
                <a:t>System Context</a:t>
              </a:r>
            </a:p>
          </p:txBody>
        </p:sp>
      </p:grpSp>
      <p:sp>
        <p:nvSpPr>
          <p:cNvPr id="2" name="Rounded Rectangle 2">
            <a:extLst>
              <a:ext uri="{FF2B5EF4-FFF2-40B4-BE49-F238E27FC236}">
                <a16:creationId xmlns:a16="http://schemas.microsoft.com/office/drawing/2014/main" id="{BCC8994A-59EC-91C2-28CD-34A01061E304}"/>
              </a:ext>
            </a:extLst>
          </p:cNvPr>
          <p:cNvSpPr/>
          <p:nvPr/>
        </p:nvSpPr>
        <p:spPr bwMode="gray">
          <a:xfrm>
            <a:off x="513050" y="810962"/>
            <a:ext cx="1054885" cy="233316"/>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a:solidFill>
                  <a:schemeClr val="bg1"/>
                </a:solidFill>
                <a:latin typeface="72 Brand" panose="020B0504030603020204" pitchFamily="34" charset="0"/>
                <a:ea typeface="Arial Unicode MS" pitchFamily="34" charset="-128"/>
                <a:cs typeface="Arial Unicode MS" pitchFamily="34" charset="-128"/>
                <a:sym typeface="Arial"/>
              </a:rPr>
              <a:t>Example</a:t>
            </a:r>
          </a:p>
        </p:txBody>
      </p:sp>
    </p:spTree>
    <p:extLst>
      <p:ext uri="{BB962C8B-B14F-4D97-AF65-F5344CB8AC3E}">
        <p14:creationId xmlns:p14="http://schemas.microsoft.com/office/powerpoint/2010/main" val="10554121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1272FD9F-7141-144C-99B2-B29079FD485C}"/>
              </a:ext>
            </a:extLst>
          </p:cNvPr>
          <p:cNvSpPr>
            <a:spLocks noGrp="1"/>
          </p:cNvSpPr>
          <p:nvPr>
            <p:ph type="title"/>
          </p:nvPr>
        </p:nvSpPr>
        <p:spPr/>
        <p:txBody>
          <a:bodyPr/>
          <a:lstStyle/>
          <a:p>
            <a:r>
              <a:rPr lang="en-US" sz="2000" noProof="0" dirty="0"/>
              <a:t>II. Business Context &amp; Requirement – </a:t>
            </a:r>
            <a:r>
              <a:rPr lang="en-US" sz="2000" dirty="0"/>
              <a:t>Template</a:t>
            </a:r>
            <a:endParaRPr lang="en-US" sz="2000" b="0" noProof="0" dirty="0"/>
          </a:p>
        </p:txBody>
      </p:sp>
      <p:graphicFrame>
        <p:nvGraphicFramePr>
          <p:cNvPr id="6" name="Tabelle 13">
            <a:extLst>
              <a:ext uri="{FF2B5EF4-FFF2-40B4-BE49-F238E27FC236}">
                <a16:creationId xmlns:a16="http://schemas.microsoft.com/office/drawing/2014/main" id="{6DBE822F-986B-414E-AA61-F468B3A1872D}"/>
              </a:ext>
            </a:extLst>
          </p:cNvPr>
          <p:cNvGraphicFramePr>
            <a:graphicFrameLocks noGrp="1"/>
          </p:cNvGraphicFramePr>
          <p:nvPr>
            <p:extLst>
              <p:ext uri="{D42A27DB-BD31-4B8C-83A1-F6EECF244321}">
                <p14:modId xmlns:p14="http://schemas.microsoft.com/office/powerpoint/2010/main" val="724574107"/>
              </p:ext>
            </p:extLst>
          </p:nvPr>
        </p:nvGraphicFramePr>
        <p:xfrm>
          <a:off x="504001" y="1524000"/>
          <a:ext cx="11186476" cy="3159242"/>
        </p:xfrm>
        <a:graphic>
          <a:graphicData uri="http://schemas.openxmlformats.org/drawingml/2006/table">
            <a:tbl>
              <a:tblPr firstRow="1" bandRow="1">
                <a:effectLst/>
              </a:tblPr>
              <a:tblGrid>
                <a:gridCol w="3018584">
                  <a:extLst>
                    <a:ext uri="{9D8B030D-6E8A-4147-A177-3AD203B41FA5}">
                      <a16:colId xmlns:a16="http://schemas.microsoft.com/office/drawing/2014/main" val="3443618332"/>
                    </a:ext>
                  </a:extLst>
                </a:gridCol>
                <a:gridCol w="8167892">
                  <a:extLst>
                    <a:ext uri="{9D8B030D-6E8A-4147-A177-3AD203B41FA5}">
                      <a16:colId xmlns:a16="http://schemas.microsoft.com/office/drawing/2014/main" val="20001"/>
                    </a:ext>
                  </a:extLst>
                </a:gridCol>
              </a:tblGrid>
              <a:tr h="439711">
                <a:tc gridSpan="2">
                  <a:txBody>
                    <a:bodyPr/>
                    <a:lstStyle/>
                    <a:p>
                      <a:pPr algn="ctr"/>
                      <a:r>
                        <a:rPr lang="en-US" sz="1400" b="1" dirty="0">
                          <a:solidFill>
                            <a:schemeClr val="bg1"/>
                          </a:solidFill>
                          <a:latin typeface="72 Brand" panose="020B0504030603020204" pitchFamily="34" charset="0"/>
                          <a:cs typeface="Arial" panose="020B0604020202020204" pitchFamily="34" charset="0"/>
                        </a:rPr>
                        <a:t>Business Context &amp; Requirement for each Use-Case</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hMerge="1">
                  <a:txBody>
                    <a:bodyPr/>
                    <a:lstStyle/>
                    <a:p>
                      <a:pPr algn="ctr"/>
                      <a:r>
                        <a:rPr lang="en-US" sz="1400" b="0">
                          <a:solidFill>
                            <a:schemeClr val="bg1"/>
                          </a:solidFill>
                          <a:latin typeface="Arial" panose="020B0604020202020204" pitchFamily="34" charset="0"/>
                          <a:cs typeface="Arial" panose="020B0604020202020204" pitchFamily="34" charset="0"/>
                        </a:rPr>
                        <a:t>List of Core Solutions</a:t>
                      </a:r>
                    </a:p>
                  </a:txBody>
                  <a:tcPr marL="35942" marR="35942" marT="35942" marB="3594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1">
                        <a:lumMod val="95000"/>
                        <a:lumOff val="5000"/>
                      </a:schemeClr>
                    </a:solidFill>
                  </a:tcPr>
                </a:tc>
                <a:extLst>
                  <a:ext uri="{0D108BD9-81ED-4DB2-BD59-A6C34878D82A}">
                    <a16:rowId xmlns:a16="http://schemas.microsoft.com/office/drawing/2014/main" val="10000"/>
                  </a:ext>
                </a:extLst>
              </a:tr>
              <a:tr h="474615">
                <a:tc>
                  <a:txBody>
                    <a:bodyPr/>
                    <a:lstStyle/>
                    <a:p>
                      <a:pPr marL="0" marR="0" indent="0" algn="l" defTabSz="1088558"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72 Brand Medium" panose="020B0504030603020204" pitchFamily="34" charset="0"/>
                          <a:ea typeface="+mn-ea"/>
                          <a:cs typeface="+mn-cs"/>
                        </a:rPr>
                        <a:t>Title/ID</a:t>
                      </a:r>
                    </a:p>
                  </a:txBody>
                  <a:tcPr marL="72000"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endParaRPr lang="en-US" sz="1100" b="0" i="1">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003"/>
                  </a:ext>
                </a:extLst>
              </a:tr>
              <a:tr h="903094">
                <a:tc>
                  <a:txBody>
                    <a:bodyPr/>
                    <a:lstStyle/>
                    <a:p>
                      <a:pPr marL="0" marR="0" indent="0" algn="l" defTabSz="1088558" rtl="0" eaLnBrk="1" fontAlgn="auto" latinLnBrk="0" hangingPunct="1">
                        <a:lnSpc>
                          <a:spcPct val="100000"/>
                        </a:lnSpc>
                        <a:spcBef>
                          <a:spcPts val="0"/>
                        </a:spcBef>
                        <a:spcAft>
                          <a:spcPts val="0"/>
                        </a:spcAft>
                        <a:buClrTx/>
                        <a:buSzTx/>
                        <a:buFontTx/>
                        <a:buNone/>
                        <a:tabLst/>
                        <a:defRPr/>
                      </a:pPr>
                      <a:r>
                        <a:rPr lang="en-US" sz="1200" b="0" i="0" dirty="0">
                          <a:solidFill>
                            <a:schemeClr val="tx1"/>
                          </a:solidFill>
                          <a:latin typeface="72 Brand Medium" panose="020B0504030603020204" pitchFamily="34" charset="0"/>
                        </a:rPr>
                        <a:t>Business Context</a:t>
                      </a:r>
                    </a:p>
                    <a:p>
                      <a:pPr marL="0" marR="0" indent="0" algn="l" defTabSz="1088558" rtl="0" eaLnBrk="1" fontAlgn="auto" latinLnBrk="0" hangingPunct="1">
                        <a:lnSpc>
                          <a:spcPct val="100000"/>
                        </a:lnSpc>
                        <a:spcBef>
                          <a:spcPts val="0"/>
                        </a:spcBef>
                        <a:spcAft>
                          <a:spcPts val="0"/>
                        </a:spcAft>
                        <a:buClrTx/>
                        <a:buSzTx/>
                        <a:buFontTx/>
                        <a:buNone/>
                        <a:tabLst/>
                        <a:defRPr/>
                      </a:pPr>
                      <a:r>
                        <a:rPr lang="en-US" sz="1200" b="0" i="0" dirty="0">
                          <a:solidFill>
                            <a:schemeClr val="tx1"/>
                          </a:solidFill>
                          <a:latin typeface="72 Brand" panose="020B0504030603020204" pitchFamily="34" charset="0"/>
                        </a:rPr>
                        <a:t>Brief description of business </a:t>
                      </a:r>
                      <a:br>
                        <a:rPr lang="en-US" sz="1200" b="0" i="0" dirty="0">
                          <a:solidFill>
                            <a:schemeClr val="tx1"/>
                          </a:solidFill>
                          <a:latin typeface="72 Brand" panose="020B0504030603020204" pitchFamily="34" charset="0"/>
                        </a:rPr>
                      </a:br>
                      <a:r>
                        <a:rPr lang="en-US" sz="1200" b="0" i="0" dirty="0">
                          <a:solidFill>
                            <a:schemeClr val="tx1"/>
                          </a:solidFill>
                          <a:latin typeface="72 Brand" panose="020B0504030603020204" pitchFamily="34" charset="0"/>
                        </a:rPr>
                        <a:t>requirement and its scope</a:t>
                      </a:r>
                      <a:endParaRPr lang="en-US" sz="1200" b="0" i="0" dirty="0">
                        <a:solidFill>
                          <a:schemeClr val="tx1"/>
                        </a:solidFill>
                        <a:latin typeface="72 Brand" panose="020B0504030603020204" pitchFamily="34" charset="0"/>
                        <a:cs typeface="Arial" panose="020B0604020202020204" pitchFamily="34" charset="0"/>
                      </a:endParaRPr>
                    </a:p>
                  </a:txBody>
                  <a:tcPr marL="72000"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42900" indent="-342900">
                        <a:spcBef>
                          <a:spcPts val="900"/>
                        </a:spcBef>
                        <a:spcAft>
                          <a:spcPts val="300"/>
                        </a:spcAft>
                        <a:buClr>
                          <a:srgbClr val="348B26"/>
                        </a:buClr>
                        <a:buSzPct val="100000"/>
                        <a:buFont typeface="Wingdings" pitchFamily="2" charset="2"/>
                        <a:buChar char="§"/>
                      </a:pPr>
                      <a:r>
                        <a:rPr lang="en-US" sz="1100" dirty="0">
                          <a:solidFill>
                            <a:srgbClr val="12171C"/>
                          </a:solidFill>
                          <a:latin typeface="72 Brand" panose="020B0504030603020204" pitchFamily="34" charset="0"/>
                          <a:cs typeface="Times New Roman"/>
                        </a:rPr>
                        <a:t>Extensions needs to be upgrade stable and follow Clean Core Level A</a:t>
                      </a:r>
                    </a:p>
                    <a:p>
                      <a:pPr marL="342900" indent="-342900">
                        <a:spcBef>
                          <a:spcPts val="300"/>
                        </a:spcBef>
                        <a:spcAft>
                          <a:spcPts val="300"/>
                        </a:spcAft>
                        <a:buClr>
                          <a:srgbClr val="348B26"/>
                        </a:buClr>
                        <a:buSzPct val="100000"/>
                        <a:buFont typeface="Wingdings" pitchFamily="2" charset="2"/>
                        <a:buChar char="§"/>
                      </a:pPr>
                      <a:r>
                        <a:rPr lang="en-US" sz="1100" dirty="0">
                          <a:solidFill>
                            <a:srgbClr val="12171C"/>
                          </a:solidFill>
                          <a:latin typeface="72 Brand" panose="020B0504030603020204" pitchFamily="34" charset="0"/>
                          <a:cs typeface="Times New Roman"/>
                        </a:rPr>
                        <a:t>SAP Build Low-code/No-code tools are preferred for development</a:t>
                      </a:r>
                    </a:p>
                    <a:p>
                      <a:pPr marL="342900" indent="-342900">
                        <a:spcBef>
                          <a:spcPts val="300"/>
                        </a:spcBef>
                        <a:spcAft>
                          <a:spcPts val="300"/>
                        </a:spcAft>
                        <a:buClr>
                          <a:srgbClr val="348B26"/>
                        </a:buClr>
                        <a:buSzPct val="100000"/>
                        <a:buFont typeface="Wingdings" pitchFamily="2" charset="2"/>
                        <a:buChar char="§"/>
                      </a:pPr>
                      <a:r>
                        <a:rPr lang="en-US" sz="1100" dirty="0">
                          <a:solidFill>
                            <a:srgbClr val="12171C"/>
                          </a:solidFill>
                          <a:latin typeface="72 Brand" panose="020B0504030603020204" pitchFamily="34" charset="0"/>
                          <a:cs typeface="Times New Roman"/>
                        </a:rPr>
                        <a:t>Side-by-Side options are preferred for workflow implementation and UIs</a:t>
                      </a:r>
                    </a:p>
                    <a:p>
                      <a:pPr marL="342900" indent="-342900">
                        <a:spcBef>
                          <a:spcPts val="300"/>
                        </a:spcBef>
                        <a:spcAft>
                          <a:spcPts val="300"/>
                        </a:spcAft>
                        <a:buClr>
                          <a:srgbClr val="348B26"/>
                        </a:buClr>
                        <a:buSzPct val="100000"/>
                        <a:buFont typeface="Wingdings" pitchFamily="2" charset="2"/>
                        <a:buChar char="§"/>
                      </a:pPr>
                      <a:r>
                        <a:rPr lang="en-US" sz="1100" dirty="0">
                          <a:solidFill>
                            <a:srgbClr val="12171C"/>
                          </a:solidFill>
                          <a:latin typeface="72 Brand" panose="020B0504030603020204" pitchFamily="34" charset="0"/>
                          <a:cs typeface="Times New Roman"/>
                        </a:rPr>
                        <a:t>ACME employees are used to access SAP application through SAP Build Work Zone</a:t>
                      </a: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004"/>
                  </a:ext>
                </a:extLst>
              </a:tr>
              <a:tr h="636936">
                <a:tc>
                  <a:txBody>
                    <a:bodyPr/>
                    <a:lstStyle/>
                    <a:p>
                      <a:pPr marL="0" marR="0" indent="0" algn="l" defTabSz="1088558"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72 Brand Medium" panose="020B0504030603020204" pitchFamily="34" charset="0"/>
                          <a:ea typeface="+mn-ea"/>
                          <a:cs typeface="+mn-cs"/>
                        </a:rPr>
                        <a:t>Roles and responsibilities</a:t>
                      </a:r>
                    </a:p>
                    <a:p>
                      <a:pPr algn="l"/>
                      <a:r>
                        <a:rPr lang="en-US" sz="1200" b="0" i="0">
                          <a:solidFill>
                            <a:schemeClr val="tx1"/>
                          </a:solidFill>
                          <a:latin typeface="72 Brand" panose="020B0504030603020204" pitchFamily="34" charset="0"/>
                          <a:cs typeface="Arial" panose="020B0604020202020204" pitchFamily="34" charset="0"/>
                        </a:rPr>
                        <a:t>List all the roles and their responsibilities</a:t>
                      </a:r>
                    </a:p>
                  </a:txBody>
                  <a:tcPr marL="72000"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100" b="0" i="1">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006"/>
                  </a:ext>
                </a:extLst>
              </a:tr>
              <a:tr h="636936">
                <a:tc>
                  <a:txBody>
                    <a:bodyPr/>
                    <a:lstStyle/>
                    <a:p>
                      <a:pPr marL="0" marR="0" indent="0" algn="l" defTabSz="1088558" rtl="0" eaLnBrk="1" fontAlgn="auto" latinLnBrk="0" hangingPunct="1">
                        <a:lnSpc>
                          <a:spcPct val="100000"/>
                        </a:lnSpc>
                        <a:spcBef>
                          <a:spcPts val="0"/>
                        </a:spcBef>
                        <a:spcAft>
                          <a:spcPts val="0"/>
                        </a:spcAft>
                        <a:buClrTx/>
                        <a:buSzTx/>
                        <a:buFontTx/>
                        <a:buNone/>
                        <a:tabLst/>
                        <a:defRPr/>
                      </a:pPr>
                      <a:r>
                        <a:rPr lang="en-US" sz="1200" b="0" i="0" kern="1200">
                          <a:solidFill>
                            <a:schemeClr val="tx1"/>
                          </a:solidFill>
                          <a:latin typeface="72 Brand Medium" panose="020B0504030603020204" pitchFamily="34" charset="0"/>
                          <a:ea typeface="+mn-ea"/>
                          <a:cs typeface="+mn-cs"/>
                        </a:rPr>
                        <a:t>Acceptance criteria</a:t>
                      </a:r>
                    </a:p>
                    <a:p>
                      <a:pPr algn="l"/>
                      <a:r>
                        <a:rPr lang="en-US" sz="1200" b="0" i="0">
                          <a:solidFill>
                            <a:schemeClr val="tx1"/>
                          </a:solidFill>
                          <a:latin typeface="72 Brand" panose="020B0504030603020204" pitchFamily="34" charset="0"/>
                          <a:cs typeface="Arial" panose="020B0604020202020204" pitchFamily="34" charset="0"/>
                        </a:rPr>
                        <a:t>Describe the acceptance criteria</a:t>
                      </a:r>
                    </a:p>
                  </a:txBody>
                  <a:tcPr marL="72000"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endParaRPr lang="en-US" sz="1100" b="0" i="1" dirty="0">
                        <a:solidFill>
                          <a:schemeClr val="tx1"/>
                        </a:solidFill>
                        <a:latin typeface="72 Brand" panose="020B0504030603020204" pitchFamily="34" charset="0"/>
                        <a:cs typeface="Arial" panose="020B0604020202020204" pitchFamily="34" charset="0"/>
                      </a:endParaRPr>
                    </a:p>
                  </a:txBody>
                  <a:tcPr marL="35942" marR="35942" marT="35942" marB="35942"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EAECEE">
                        <a:alpha val="65098"/>
                      </a:srgbClr>
                    </a:solidFill>
                  </a:tcPr>
                </a:tc>
                <a:extLst>
                  <a:ext uri="{0D108BD9-81ED-4DB2-BD59-A6C34878D82A}">
                    <a16:rowId xmlns:a16="http://schemas.microsoft.com/office/drawing/2014/main" val="10007"/>
                  </a:ext>
                </a:extLst>
              </a:tr>
            </a:tbl>
          </a:graphicData>
        </a:graphic>
      </p:graphicFrame>
      <p:sp>
        <p:nvSpPr>
          <p:cNvPr id="2" name="TextBox 1">
            <a:extLst>
              <a:ext uri="{FF2B5EF4-FFF2-40B4-BE49-F238E27FC236}">
                <a16:creationId xmlns:a16="http://schemas.microsoft.com/office/drawing/2014/main" id="{FB37DBC9-7AA2-693E-5A55-C2A64C7A0649}"/>
              </a:ext>
            </a:extLst>
          </p:cNvPr>
          <p:cNvSpPr txBox="1"/>
          <p:nvPr/>
        </p:nvSpPr>
        <p:spPr>
          <a:xfrm>
            <a:off x="504001" y="5652725"/>
            <a:ext cx="8515308" cy="618145"/>
          </a:xfrm>
          <a:prstGeom prst="rect">
            <a:avLst/>
          </a:prstGeom>
          <a:noFill/>
        </p:spPr>
        <p:txBody>
          <a:bodyPr wrap="square" lIns="71884" tIns="35942" rIns="71884" bIns="35942" rtlCol="0" anchor="ctr">
            <a:noAutofit/>
          </a:bodyPr>
          <a:lstStyle/>
          <a:p>
            <a:pPr defTabSz="660929" eaLnBrk="0" fontAlgn="base" hangingPunct="0">
              <a:spcBef>
                <a:spcPts val="599"/>
              </a:spcBef>
              <a:spcAft>
                <a:spcPct val="0"/>
              </a:spcAft>
              <a:defRPr/>
            </a:pPr>
            <a:r>
              <a:rPr lang="en-US" sz="1300" kern="0">
                <a:solidFill>
                  <a:srgbClr val="12171C"/>
                </a:solidFill>
                <a:latin typeface="72 Brand" panose="020B0504030603020204" pitchFamily="34" charset="0"/>
              </a:rPr>
              <a:t>The Business Context &amp; Requirement description for each Use-Case can potentially lead to important insights. </a:t>
            </a:r>
            <a:br>
              <a:rPr lang="en-US" sz="1300" kern="0">
                <a:solidFill>
                  <a:srgbClr val="12171C"/>
                </a:solidFill>
                <a:latin typeface="72 Brand" panose="020B0504030603020204" pitchFamily="34" charset="0"/>
              </a:rPr>
            </a:br>
            <a:r>
              <a:rPr lang="en-US" sz="1300" b="1" kern="0">
                <a:solidFill>
                  <a:srgbClr val="12171C"/>
                </a:solidFill>
                <a:latin typeface="72 Brand" panose="020B0504030603020204" pitchFamily="34" charset="0"/>
              </a:rPr>
              <a:t>For example: </a:t>
            </a:r>
            <a:r>
              <a:rPr lang="en-US" sz="1300" kern="0">
                <a:solidFill>
                  <a:srgbClr val="12171C"/>
                </a:solidFill>
                <a:latin typeface="72 Brand" panose="020B0504030603020204" pitchFamily="34" charset="0"/>
              </a:rPr>
              <a:t>Think about a logistic use-case where employees have only access to mobile devices.</a:t>
            </a:r>
          </a:p>
        </p:txBody>
      </p:sp>
      <p:grpSp>
        <p:nvGrpSpPr>
          <p:cNvPr id="7" name="Group 6">
            <a:extLst>
              <a:ext uri="{FF2B5EF4-FFF2-40B4-BE49-F238E27FC236}">
                <a16:creationId xmlns:a16="http://schemas.microsoft.com/office/drawing/2014/main" id="{B72ABE2D-25AC-DD18-B4A1-E6E5D746F467}"/>
              </a:ext>
            </a:extLst>
          </p:cNvPr>
          <p:cNvGrpSpPr/>
          <p:nvPr/>
        </p:nvGrpSpPr>
        <p:grpSpPr>
          <a:xfrm>
            <a:off x="476291" y="5136365"/>
            <a:ext cx="1925615" cy="486000"/>
            <a:chOff x="504001" y="4511152"/>
            <a:chExt cx="1925615" cy="486000"/>
          </a:xfrm>
        </p:grpSpPr>
        <p:pic>
          <p:nvPicPr>
            <p:cNvPr id="4" name="Picture 3">
              <a:extLst>
                <a:ext uri="{FF2B5EF4-FFF2-40B4-BE49-F238E27FC236}">
                  <a16:creationId xmlns:a16="http://schemas.microsoft.com/office/drawing/2014/main" id="{4AC9E7B3-CAD2-6929-ADE5-0E3D3E2F8119}"/>
                </a:ext>
              </a:extLst>
            </p:cNvPr>
            <p:cNvPicPr>
              <a:picLocks noChangeAspect="1"/>
            </p:cNvPicPr>
            <p:nvPr/>
          </p:nvPicPr>
          <p:blipFill>
            <a:blip r:embed="rId3"/>
            <a:stretch>
              <a:fillRect/>
            </a:stretch>
          </p:blipFill>
          <p:spPr>
            <a:xfrm>
              <a:off x="504001" y="4511152"/>
              <a:ext cx="486000" cy="486000"/>
            </a:xfrm>
            <a:prstGeom prst="rect">
              <a:avLst/>
            </a:prstGeom>
          </p:spPr>
        </p:pic>
        <p:sp>
          <p:nvSpPr>
            <p:cNvPr id="5" name="TextBox 4">
              <a:extLst>
                <a:ext uri="{FF2B5EF4-FFF2-40B4-BE49-F238E27FC236}">
                  <a16:creationId xmlns:a16="http://schemas.microsoft.com/office/drawing/2014/main" id="{A5823AAC-C5ED-06F7-5B83-1AC0F51B2155}"/>
                </a:ext>
              </a:extLst>
            </p:cNvPr>
            <p:cNvSpPr txBox="1"/>
            <p:nvPr/>
          </p:nvSpPr>
          <p:spPr>
            <a:xfrm>
              <a:off x="971843" y="4659328"/>
              <a:ext cx="1457773" cy="189649"/>
            </a:xfrm>
            <a:prstGeom prst="rect">
              <a:avLst/>
            </a:prstGeom>
            <a:noFill/>
          </p:spPr>
          <p:txBody>
            <a:bodyPr wrap="square" lIns="0" tIns="0" rIns="0" bIns="0" rtlCol="0" anchor="t">
              <a:noAutofit/>
            </a:bodyPr>
            <a:lstStyle/>
            <a:p>
              <a:pPr defTabSz="660929" eaLnBrk="0" fontAlgn="base" hangingPunct="0">
                <a:spcBef>
                  <a:spcPts val="599"/>
                </a:spcBef>
                <a:spcAft>
                  <a:spcPct val="0"/>
                </a:spcAft>
                <a:defRPr/>
              </a:pPr>
              <a:r>
                <a:rPr lang="en-US" sz="1800" b="1" kern="0">
                  <a:solidFill>
                    <a:srgbClr val="12171C"/>
                  </a:solidFill>
                  <a:latin typeface="72 Brand" panose="020B0504030603020204" pitchFamily="34" charset="0"/>
                </a:rPr>
                <a:t>How to use</a:t>
              </a:r>
            </a:p>
          </p:txBody>
        </p:sp>
      </p:grpSp>
      <p:grpSp>
        <p:nvGrpSpPr>
          <p:cNvPr id="16" name="Group 15">
            <a:extLst>
              <a:ext uri="{FF2B5EF4-FFF2-40B4-BE49-F238E27FC236}">
                <a16:creationId xmlns:a16="http://schemas.microsoft.com/office/drawing/2014/main" id="{F547086C-554C-8DED-0158-75113EA56F43}"/>
              </a:ext>
            </a:extLst>
          </p:cNvPr>
          <p:cNvGrpSpPr/>
          <p:nvPr/>
        </p:nvGrpSpPr>
        <p:grpSpPr>
          <a:xfrm>
            <a:off x="6445071" y="-2890"/>
            <a:ext cx="5231695" cy="329981"/>
            <a:chOff x="6445071" y="-2890"/>
            <a:chExt cx="5231695" cy="329981"/>
          </a:xfrm>
        </p:grpSpPr>
        <p:sp>
          <p:nvSpPr>
            <p:cNvPr id="17" name="Freeform 16">
              <a:extLst>
                <a:ext uri="{FF2B5EF4-FFF2-40B4-BE49-F238E27FC236}">
                  <a16:creationId xmlns:a16="http://schemas.microsoft.com/office/drawing/2014/main" id="{3E8E9A36-4C9E-86AB-4F5E-5BB411B6350D}"/>
                </a:ext>
              </a:extLst>
            </p:cNvPr>
            <p:cNvSpPr/>
            <p:nvPr/>
          </p:nvSpPr>
          <p:spPr bwMode="gray">
            <a:xfrm>
              <a:off x="9983214" y="2972"/>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algn="ctr" defTabSz="914400" fontAlgn="base">
                <a:spcBef>
                  <a:spcPct val="50000"/>
                </a:spcBef>
                <a:spcAft>
                  <a:spcPct val="0"/>
                </a:spcAft>
                <a:buClr>
                  <a:srgbClr val="F0AB00"/>
                </a:buClr>
                <a:buSzPct val="80000"/>
              </a:pPr>
              <a:r>
                <a:rPr lang="de-DE" sz="800" kern="0">
                  <a:solidFill>
                    <a:schemeClr val="bg1">
                      <a:lumMod val="85000"/>
                    </a:schemeClr>
                  </a:solidFill>
                  <a:latin typeface="72 Brand" panose="020B0504030603020204" pitchFamily="34" charset="0"/>
                  <a:ea typeface="Arial Unicode MS" pitchFamily="34" charset="-128"/>
                  <a:cs typeface="Arial Unicode MS" pitchFamily="34" charset="-128"/>
                </a:rPr>
                <a:t>Application Extension </a:t>
              </a:r>
              <a:br>
                <a:rPr lang="de-DE" sz="800" kern="0">
                  <a:solidFill>
                    <a:schemeClr val="bg1">
                      <a:lumMod val="85000"/>
                    </a:schemeClr>
                  </a:solidFill>
                  <a:latin typeface="72 Brand" panose="020B0504030603020204" pitchFamily="34" charset="0"/>
                  <a:ea typeface="Arial Unicode MS" pitchFamily="34" charset="-128"/>
                  <a:cs typeface="Arial Unicode MS" pitchFamily="34" charset="-128"/>
                </a:rPr>
              </a:br>
              <a:r>
                <a:rPr lang="de-DE" sz="800" kern="0">
                  <a:solidFill>
                    <a:schemeClr val="bg1">
                      <a:lumMod val="85000"/>
                    </a:schemeClr>
                  </a:solidFill>
                  <a:latin typeface="72 Brand" panose="020B0504030603020204" pitchFamily="34" charset="0"/>
                  <a:ea typeface="Arial Unicode MS" pitchFamily="34" charset="-128"/>
                  <a:cs typeface="Arial Unicode MS" pitchFamily="34" charset="-128"/>
                </a:rPr>
                <a:t>Use Case</a:t>
              </a:r>
            </a:p>
          </p:txBody>
        </p:sp>
        <p:sp>
          <p:nvSpPr>
            <p:cNvPr id="18" name="Freeform 17">
              <a:extLst>
                <a:ext uri="{FF2B5EF4-FFF2-40B4-BE49-F238E27FC236}">
                  <a16:creationId xmlns:a16="http://schemas.microsoft.com/office/drawing/2014/main" id="{446C123F-2FD0-C184-A1C8-F553BE6B43D6}"/>
                </a:ext>
              </a:extLst>
            </p:cNvPr>
            <p:cNvSpPr/>
            <p:nvPr/>
          </p:nvSpPr>
          <p:spPr bwMode="gray">
            <a:xfrm>
              <a:off x="8188021" y="-2890"/>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solidFill>
              <a:srgbClr val="EBF5CB"/>
            </a:solidFill>
            <a:ln w="25400" algn="ctr">
              <a:noFill/>
              <a:miter lim="800000"/>
              <a:headEnd/>
              <a:tailEnd/>
            </a:ln>
            <a:effectLst/>
          </p:spPr>
          <p:txBody>
            <a:bodyPr wrap="square" lIns="0" tIns="72000" rIns="0" bIns="72000" rtlCol="0" anchor="ctr">
              <a:noAutofit/>
            </a:bodyPr>
            <a:lstStyle/>
            <a:p>
              <a:pPr algn="ctr" defTabSz="914400" fontAlgn="base">
                <a:spcBef>
                  <a:spcPct val="50000"/>
                </a:spcBef>
                <a:spcAft>
                  <a:spcPct val="0"/>
                </a:spcAft>
                <a:buClr>
                  <a:srgbClr val="F0AB00"/>
                </a:buClr>
                <a:buSzPct val="80000"/>
              </a:pPr>
              <a:r>
                <a:rPr lang="en-US" sz="800" kern="0">
                  <a:latin typeface="72 Brand" panose="020B0504030603020204" pitchFamily="34" charset="0"/>
                  <a:ea typeface="Arial Unicode MS" pitchFamily="34" charset="-128"/>
                  <a:cs typeface="Arial Unicode MS" pitchFamily="34" charset="-128"/>
                </a:rPr>
                <a:t>Business &amp; Context </a:t>
              </a:r>
              <a:br>
                <a:rPr lang="en-US" sz="800" kern="0">
                  <a:latin typeface="72 Brand" panose="020B0504030603020204" pitchFamily="34" charset="0"/>
                  <a:ea typeface="Arial Unicode MS" pitchFamily="34" charset="-128"/>
                  <a:cs typeface="Arial Unicode MS" pitchFamily="34" charset="-128"/>
                </a:rPr>
              </a:br>
              <a:r>
                <a:rPr lang="en-US" sz="800" kern="0">
                  <a:latin typeface="72 Brand" panose="020B0504030603020204" pitchFamily="34" charset="0"/>
                  <a:ea typeface="Arial Unicode MS" pitchFamily="34" charset="-128"/>
                  <a:cs typeface="Arial Unicode MS" pitchFamily="34" charset="-128"/>
                </a:rPr>
                <a:t>Requirement</a:t>
              </a:r>
            </a:p>
          </p:txBody>
        </p:sp>
        <p:sp>
          <p:nvSpPr>
            <p:cNvPr id="19" name="Freeform 18">
              <a:extLst>
                <a:ext uri="{FF2B5EF4-FFF2-40B4-BE49-F238E27FC236}">
                  <a16:creationId xmlns:a16="http://schemas.microsoft.com/office/drawing/2014/main" id="{DE67DBE7-6CF1-5E37-FE25-2672797B37FC}"/>
                </a:ext>
              </a:extLst>
            </p:cNvPr>
            <p:cNvSpPr/>
            <p:nvPr/>
          </p:nvSpPr>
          <p:spPr bwMode="gray">
            <a:xfrm>
              <a:off x="6445071" y="-2890"/>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800" i="0" u="none" strike="noStrike" kern="0" cap="none" spc="0" normalizeH="0" baseline="0" noProof="0">
                  <a:ln>
                    <a:noFill/>
                  </a:ln>
                  <a:solidFill>
                    <a:schemeClr val="bg1">
                      <a:lumMod val="85000"/>
                    </a:schemeClr>
                  </a:solidFill>
                  <a:effectLst/>
                  <a:uLnTx/>
                  <a:uFillTx/>
                  <a:latin typeface="72 Brand" panose="020B0504030603020204" pitchFamily="34" charset="0"/>
                  <a:ea typeface="Arial Unicode MS" pitchFamily="34" charset="-128"/>
                  <a:cs typeface="Arial Unicode MS" pitchFamily="34" charset="-128"/>
                </a:rPr>
                <a:t>System Context</a:t>
              </a:r>
            </a:p>
          </p:txBody>
        </p:sp>
      </p:grpSp>
      <p:sp>
        <p:nvSpPr>
          <p:cNvPr id="8" name="Rounded Rectangle 2">
            <a:extLst>
              <a:ext uri="{FF2B5EF4-FFF2-40B4-BE49-F238E27FC236}">
                <a16:creationId xmlns:a16="http://schemas.microsoft.com/office/drawing/2014/main" id="{3756518A-43A7-F399-9022-FE36C634F10B}"/>
              </a:ext>
            </a:extLst>
          </p:cNvPr>
          <p:cNvSpPr/>
          <p:nvPr/>
        </p:nvSpPr>
        <p:spPr bwMode="gray">
          <a:xfrm>
            <a:off x="513050" y="810962"/>
            <a:ext cx="1054885" cy="233316"/>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a:solidFill>
                  <a:schemeClr val="bg1"/>
                </a:solidFill>
                <a:latin typeface="72 Brand" panose="020B0504030603020204" pitchFamily="34" charset="0"/>
                <a:ea typeface="Arial Unicode MS" pitchFamily="34" charset="-128"/>
                <a:cs typeface="Arial Unicode MS" pitchFamily="34" charset="-128"/>
                <a:sym typeface="Arial"/>
              </a:rPr>
              <a:t>Example</a:t>
            </a:r>
          </a:p>
        </p:txBody>
      </p:sp>
    </p:spTree>
    <p:extLst>
      <p:ext uri="{BB962C8B-B14F-4D97-AF65-F5344CB8AC3E}">
        <p14:creationId xmlns:p14="http://schemas.microsoft.com/office/powerpoint/2010/main" val="26847303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Gefaltete Ecke 7">
            <a:extLst>
              <a:ext uri="{FF2B5EF4-FFF2-40B4-BE49-F238E27FC236}">
                <a16:creationId xmlns:a16="http://schemas.microsoft.com/office/drawing/2014/main" id="{00C938A2-F689-5B66-B13C-BDA3855E78C5}"/>
              </a:ext>
            </a:extLst>
          </p:cNvPr>
          <p:cNvSpPr/>
          <p:nvPr/>
        </p:nvSpPr>
        <p:spPr bwMode="gray">
          <a:xfrm>
            <a:off x="504001" y="5196681"/>
            <a:ext cx="609400" cy="1074213"/>
          </a:xfrm>
          <a:prstGeom prst="rect">
            <a:avLst/>
          </a:prstGeom>
          <a:solidFill>
            <a:srgbClr val="EAECEE"/>
          </a:solidFill>
          <a:ln w="25400" algn="ctr">
            <a:noFill/>
            <a:miter lim="800000"/>
            <a:headEnd/>
            <a:tailEnd/>
          </a:ln>
        </p:spPr>
        <p:txBody>
          <a:bodyPr lIns="108000" tIns="144000" rIns="36000" bIns="36000" rtlCol="0" anchor="t" anchorCtr="0"/>
          <a:lstStyle/>
          <a:p>
            <a:pPr defTabSz="914400" fontAlgn="base">
              <a:spcBef>
                <a:spcPct val="50000"/>
              </a:spcBef>
              <a:spcAft>
                <a:spcPct val="0"/>
              </a:spcAft>
              <a:buClr>
                <a:srgbClr val="F0AB00"/>
              </a:buClr>
              <a:buSzPct val="80000"/>
            </a:pPr>
            <a:r>
              <a:rPr lang="en-US" sz="650" b="1" kern="0">
                <a:latin typeface="72 Brand" panose="020B0504030603020204" pitchFamily="34" charset="0"/>
                <a:ea typeface="Arial Unicode MS" pitchFamily="34" charset="-128"/>
                <a:cs typeface="Arial Unicode MS" pitchFamily="34" charset="-128"/>
              </a:rPr>
              <a:t>Required Data</a:t>
            </a:r>
            <a:endParaRPr kumimoji="0" lang="en-US" sz="650" b="1"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endParaRPr>
          </a:p>
        </p:txBody>
      </p:sp>
      <p:sp>
        <p:nvSpPr>
          <p:cNvPr id="210" name="Gefaltete Ecke 6">
            <a:extLst>
              <a:ext uri="{FF2B5EF4-FFF2-40B4-BE49-F238E27FC236}">
                <a16:creationId xmlns:a16="http://schemas.microsoft.com/office/drawing/2014/main" id="{A5227389-BD2B-6252-1712-571E29397015}"/>
              </a:ext>
            </a:extLst>
          </p:cNvPr>
          <p:cNvSpPr/>
          <p:nvPr/>
        </p:nvSpPr>
        <p:spPr bwMode="gray">
          <a:xfrm>
            <a:off x="1211304" y="5197295"/>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 (draft)</a:t>
            </a:r>
          </a:p>
        </p:txBody>
      </p:sp>
      <p:sp>
        <p:nvSpPr>
          <p:cNvPr id="208" name="Gefaltete Ecke 6">
            <a:extLst>
              <a:ext uri="{FF2B5EF4-FFF2-40B4-BE49-F238E27FC236}">
                <a16:creationId xmlns:a16="http://schemas.microsoft.com/office/drawing/2014/main" id="{C24A3CD1-BF74-0420-BD9D-239E02ABEA14}"/>
              </a:ext>
            </a:extLst>
          </p:cNvPr>
          <p:cNvSpPr/>
          <p:nvPr/>
        </p:nvSpPr>
        <p:spPr bwMode="gray">
          <a:xfrm>
            <a:off x="2488049" y="5197295"/>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Product master</a:t>
            </a:r>
          </a:p>
        </p:txBody>
      </p:sp>
      <p:sp>
        <p:nvSpPr>
          <p:cNvPr id="194" name="Gefaltete Ecke 6">
            <a:extLst>
              <a:ext uri="{FF2B5EF4-FFF2-40B4-BE49-F238E27FC236}">
                <a16:creationId xmlns:a16="http://schemas.microsoft.com/office/drawing/2014/main" id="{B059A884-58F4-53DC-0EB2-909EC25F8F47}"/>
              </a:ext>
            </a:extLst>
          </p:cNvPr>
          <p:cNvSpPr/>
          <p:nvPr/>
        </p:nvSpPr>
        <p:spPr bwMode="gray">
          <a:xfrm>
            <a:off x="3864432" y="5197295"/>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 (draft)</a:t>
            </a:r>
          </a:p>
        </p:txBody>
      </p:sp>
      <p:sp>
        <p:nvSpPr>
          <p:cNvPr id="192" name="Gefaltete Ecke 6">
            <a:extLst>
              <a:ext uri="{FF2B5EF4-FFF2-40B4-BE49-F238E27FC236}">
                <a16:creationId xmlns:a16="http://schemas.microsoft.com/office/drawing/2014/main" id="{AC009E6B-46AF-5E4D-0AE0-3A167F76544E}"/>
              </a:ext>
            </a:extLst>
          </p:cNvPr>
          <p:cNvSpPr/>
          <p:nvPr/>
        </p:nvSpPr>
        <p:spPr bwMode="gray">
          <a:xfrm>
            <a:off x="5141177" y="5197295"/>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Business partner</a:t>
            </a:r>
          </a:p>
        </p:txBody>
      </p:sp>
      <p:sp>
        <p:nvSpPr>
          <p:cNvPr id="178" name="Gefaltete Ecke 6">
            <a:extLst>
              <a:ext uri="{FF2B5EF4-FFF2-40B4-BE49-F238E27FC236}">
                <a16:creationId xmlns:a16="http://schemas.microsoft.com/office/drawing/2014/main" id="{71978B41-4BBF-EF38-60C7-A0D43139B959}"/>
              </a:ext>
            </a:extLst>
          </p:cNvPr>
          <p:cNvSpPr/>
          <p:nvPr/>
        </p:nvSpPr>
        <p:spPr bwMode="gray">
          <a:xfrm>
            <a:off x="6563901" y="5197295"/>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76" name="Gefaltete Ecke 6">
            <a:extLst>
              <a:ext uri="{FF2B5EF4-FFF2-40B4-BE49-F238E27FC236}">
                <a16:creationId xmlns:a16="http://schemas.microsoft.com/office/drawing/2014/main" id="{2989DC18-5ADE-63C4-C6F6-871BD7A218DD}"/>
              </a:ext>
            </a:extLst>
          </p:cNvPr>
          <p:cNvSpPr/>
          <p:nvPr/>
        </p:nvSpPr>
        <p:spPr bwMode="gray">
          <a:xfrm>
            <a:off x="7840646" y="5197295"/>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 (draft)</a:t>
            </a:r>
          </a:p>
        </p:txBody>
      </p:sp>
      <p:sp>
        <p:nvSpPr>
          <p:cNvPr id="162" name="Gefaltete Ecke 6">
            <a:extLst>
              <a:ext uri="{FF2B5EF4-FFF2-40B4-BE49-F238E27FC236}">
                <a16:creationId xmlns:a16="http://schemas.microsoft.com/office/drawing/2014/main" id="{316F7D8E-FE09-B98E-1EFB-AB415F9A5CBD}"/>
              </a:ext>
            </a:extLst>
          </p:cNvPr>
          <p:cNvSpPr/>
          <p:nvPr/>
        </p:nvSpPr>
        <p:spPr bwMode="gray">
          <a:xfrm>
            <a:off x="9228614" y="5197295"/>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a:t>
            </a:r>
          </a:p>
        </p:txBody>
      </p:sp>
      <p:sp>
        <p:nvSpPr>
          <p:cNvPr id="160" name="Gefaltete Ecke 6">
            <a:extLst>
              <a:ext uri="{FF2B5EF4-FFF2-40B4-BE49-F238E27FC236}">
                <a16:creationId xmlns:a16="http://schemas.microsoft.com/office/drawing/2014/main" id="{D58F577A-7629-60A8-6A50-889799E0A115}"/>
              </a:ext>
            </a:extLst>
          </p:cNvPr>
          <p:cNvSpPr/>
          <p:nvPr/>
        </p:nvSpPr>
        <p:spPr bwMode="gray">
          <a:xfrm>
            <a:off x="10505359" y="5197295"/>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14" name="Gefaltete Ecke 6">
            <a:extLst>
              <a:ext uri="{FF2B5EF4-FFF2-40B4-BE49-F238E27FC236}">
                <a16:creationId xmlns:a16="http://schemas.microsoft.com/office/drawing/2014/main" id="{801E7D3A-C9DF-24C6-E039-F854516FECEB}"/>
              </a:ext>
            </a:extLst>
          </p:cNvPr>
          <p:cNvSpPr/>
          <p:nvPr/>
        </p:nvSpPr>
        <p:spPr bwMode="gray">
          <a:xfrm>
            <a:off x="1211304" y="4024320"/>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212" name="Gefaltete Ecke 6">
            <a:extLst>
              <a:ext uri="{FF2B5EF4-FFF2-40B4-BE49-F238E27FC236}">
                <a16:creationId xmlns:a16="http://schemas.microsoft.com/office/drawing/2014/main" id="{61424671-2CA6-66B6-02FB-564D34733FC1}"/>
              </a:ext>
            </a:extLst>
          </p:cNvPr>
          <p:cNvSpPr/>
          <p:nvPr/>
        </p:nvSpPr>
        <p:spPr bwMode="gray">
          <a:xfrm>
            <a:off x="2488049" y="4024320"/>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S/4HANA Cloud Public Edition</a:t>
            </a:r>
          </a:p>
        </p:txBody>
      </p:sp>
      <p:sp>
        <p:nvSpPr>
          <p:cNvPr id="198" name="Gefaltete Ecke 6">
            <a:extLst>
              <a:ext uri="{FF2B5EF4-FFF2-40B4-BE49-F238E27FC236}">
                <a16:creationId xmlns:a16="http://schemas.microsoft.com/office/drawing/2014/main" id="{528FB2F7-89FD-B32D-AAFB-A9C17BB52DBC}"/>
              </a:ext>
            </a:extLst>
          </p:cNvPr>
          <p:cNvSpPr/>
          <p:nvPr/>
        </p:nvSpPr>
        <p:spPr bwMode="gray">
          <a:xfrm>
            <a:off x="3864432" y="4024320"/>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96" name="Gefaltete Ecke 6">
            <a:extLst>
              <a:ext uri="{FF2B5EF4-FFF2-40B4-BE49-F238E27FC236}">
                <a16:creationId xmlns:a16="http://schemas.microsoft.com/office/drawing/2014/main" id="{BEA58927-B446-6A0E-5F2F-728CD65124F8}"/>
              </a:ext>
            </a:extLst>
          </p:cNvPr>
          <p:cNvSpPr/>
          <p:nvPr/>
        </p:nvSpPr>
        <p:spPr bwMode="gray">
          <a:xfrm>
            <a:off x="5141177" y="4024320"/>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defRPr/>
            </a:pPr>
            <a:r>
              <a:rPr lang="en-US" sz="1050" dirty="0">
                <a:latin typeface="72 Brand" panose="020B0504030603020204" pitchFamily="34" charset="0"/>
                <a:cs typeface="Arial" panose="020B0604020202020204" pitchFamily="34" charset="0"/>
              </a:rPr>
              <a:t>SAP S/4HANA Cloud Public Edition</a:t>
            </a:r>
          </a:p>
          <a:p>
            <a:pPr lvl="0" algn="ctr" defTabSz="1088558">
              <a:defRPr/>
            </a:pPr>
            <a:endParaRPr lang="en-US" sz="1050" dirty="0">
              <a:latin typeface="72 Brand" panose="020B0504030603020204" pitchFamily="34" charset="0"/>
              <a:cs typeface="Arial" panose="020B0604020202020204" pitchFamily="34" charset="0"/>
            </a:endParaRPr>
          </a:p>
        </p:txBody>
      </p:sp>
      <p:sp>
        <p:nvSpPr>
          <p:cNvPr id="182" name="Gefaltete Ecke 6">
            <a:extLst>
              <a:ext uri="{FF2B5EF4-FFF2-40B4-BE49-F238E27FC236}">
                <a16:creationId xmlns:a16="http://schemas.microsoft.com/office/drawing/2014/main" id="{3201E1E4-C336-AE8E-2BB2-3F9C55CA6209}"/>
              </a:ext>
            </a:extLst>
          </p:cNvPr>
          <p:cNvSpPr/>
          <p:nvPr/>
        </p:nvSpPr>
        <p:spPr bwMode="gray">
          <a:xfrm>
            <a:off x="6563901" y="4024320"/>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0" name="Gefaltete Ecke 6">
            <a:extLst>
              <a:ext uri="{FF2B5EF4-FFF2-40B4-BE49-F238E27FC236}">
                <a16:creationId xmlns:a16="http://schemas.microsoft.com/office/drawing/2014/main" id="{AC9DCD63-F954-06E2-FC56-5497F5F88367}"/>
              </a:ext>
            </a:extLst>
          </p:cNvPr>
          <p:cNvSpPr/>
          <p:nvPr/>
        </p:nvSpPr>
        <p:spPr bwMode="gray">
          <a:xfrm>
            <a:off x="7840646" y="4024320"/>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66" name="Gefaltete Ecke 6">
            <a:extLst>
              <a:ext uri="{FF2B5EF4-FFF2-40B4-BE49-F238E27FC236}">
                <a16:creationId xmlns:a16="http://schemas.microsoft.com/office/drawing/2014/main" id="{1F2BC434-5DB0-8FB7-2918-1585809817DD}"/>
              </a:ext>
            </a:extLst>
          </p:cNvPr>
          <p:cNvSpPr/>
          <p:nvPr/>
        </p:nvSpPr>
        <p:spPr bwMode="gray">
          <a:xfrm>
            <a:off x="9228614" y="4024320"/>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S/4HANA Cloud Public Edition</a:t>
            </a:r>
          </a:p>
        </p:txBody>
      </p:sp>
      <p:sp>
        <p:nvSpPr>
          <p:cNvPr id="164" name="Gefaltete Ecke 6">
            <a:extLst>
              <a:ext uri="{FF2B5EF4-FFF2-40B4-BE49-F238E27FC236}">
                <a16:creationId xmlns:a16="http://schemas.microsoft.com/office/drawing/2014/main" id="{68390661-B382-1F43-89AD-0F426E694EDF}"/>
              </a:ext>
            </a:extLst>
          </p:cNvPr>
          <p:cNvSpPr/>
          <p:nvPr/>
        </p:nvSpPr>
        <p:spPr bwMode="gray">
          <a:xfrm>
            <a:off x="10505359" y="4024320"/>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9" name="Gefaltete Ecke 7">
            <a:extLst>
              <a:ext uri="{FF2B5EF4-FFF2-40B4-BE49-F238E27FC236}">
                <a16:creationId xmlns:a16="http://schemas.microsoft.com/office/drawing/2014/main" id="{8B602AE7-CE95-583B-E700-8CFE87C70505}"/>
              </a:ext>
            </a:extLst>
          </p:cNvPr>
          <p:cNvSpPr/>
          <p:nvPr/>
        </p:nvSpPr>
        <p:spPr bwMode="gray">
          <a:xfrm>
            <a:off x="504001" y="4023705"/>
            <a:ext cx="609400" cy="1074214"/>
          </a:xfrm>
          <a:prstGeom prst="rect">
            <a:avLst/>
          </a:prstGeom>
          <a:solidFill>
            <a:srgbClr val="EAECEE"/>
          </a:solidFill>
          <a:ln w="25400" algn="ctr">
            <a:noFill/>
            <a:miter lim="800000"/>
            <a:headEnd/>
            <a:tailEnd/>
          </a:ln>
        </p:spPr>
        <p:txBody>
          <a:bodyPr lIns="108000" tIns="144000" rIns="36000" bIns="36000" rtlCol="0" anchor="t" anchorCtr="0"/>
          <a:lstStyle/>
          <a:p>
            <a:pPr defTabSz="914400" fontAlgn="base">
              <a:spcBef>
                <a:spcPct val="50000"/>
              </a:spcBef>
              <a:spcAft>
                <a:spcPct val="0"/>
              </a:spcAft>
              <a:buClr>
                <a:srgbClr val="F0AB00"/>
              </a:buClr>
              <a:buSzPct val="80000"/>
            </a:pPr>
            <a:r>
              <a:rPr lang="en-US" sz="650" b="1" kern="0">
                <a:latin typeface="72 Brand" panose="020B0504030603020204" pitchFamily="34" charset="0"/>
                <a:ea typeface="Arial Unicode MS" pitchFamily="34" charset="-128"/>
                <a:cs typeface="Arial Unicode MS" pitchFamily="34" charset="-128"/>
              </a:rPr>
              <a:t>System</a:t>
            </a:r>
            <a:endParaRPr kumimoji="0" lang="en-US" sz="650" b="1"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endParaRPr>
          </a:p>
        </p:txBody>
      </p:sp>
      <p:sp>
        <p:nvSpPr>
          <p:cNvPr id="218" name="Gefaltete Ecke 6">
            <a:extLst>
              <a:ext uri="{FF2B5EF4-FFF2-40B4-BE49-F238E27FC236}">
                <a16:creationId xmlns:a16="http://schemas.microsoft.com/office/drawing/2014/main" id="{3E2EF56E-276D-13A2-BE91-D2E9A5547679}"/>
              </a:ext>
            </a:extLst>
          </p:cNvPr>
          <p:cNvSpPr/>
          <p:nvPr/>
        </p:nvSpPr>
        <p:spPr bwMode="gray">
          <a:xfrm>
            <a:off x="1211304" y="2860987"/>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dirty="0">
              <a:latin typeface="72 Brand" panose="020B0504030603020204" pitchFamily="34" charset="0"/>
              <a:cs typeface="Arial" panose="020B0604020202020204" pitchFamily="34" charset="0"/>
            </a:endParaRPr>
          </a:p>
        </p:txBody>
      </p:sp>
      <p:sp>
        <p:nvSpPr>
          <p:cNvPr id="216" name="Gefaltete Ecke 6">
            <a:extLst>
              <a:ext uri="{FF2B5EF4-FFF2-40B4-BE49-F238E27FC236}">
                <a16:creationId xmlns:a16="http://schemas.microsoft.com/office/drawing/2014/main" id="{1E38CAD8-E26F-229C-595D-D77217AEBCEA}"/>
              </a:ext>
            </a:extLst>
          </p:cNvPr>
          <p:cNvSpPr/>
          <p:nvPr/>
        </p:nvSpPr>
        <p:spPr bwMode="gray">
          <a:xfrm>
            <a:off x="2488049" y="2860987"/>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Read product data</a:t>
            </a:r>
          </a:p>
        </p:txBody>
      </p:sp>
      <p:sp>
        <p:nvSpPr>
          <p:cNvPr id="202" name="Gefaltete Ecke 6">
            <a:extLst>
              <a:ext uri="{FF2B5EF4-FFF2-40B4-BE49-F238E27FC236}">
                <a16:creationId xmlns:a16="http://schemas.microsoft.com/office/drawing/2014/main" id="{6C4B5948-43BC-A555-DCD3-BAF01E6C4440}"/>
              </a:ext>
            </a:extLst>
          </p:cNvPr>
          <p:cNvSpPr/>
          <p:nvPr/>
        </p:nvSpPr>
        <p:spPr bwMode="gray">
          <a:xfrm>
            <a:off x="3864432" y="2860987"/>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Quantity &gt; 10</a:t>
            </a:r>
          </a:p>
        </p:txBody>
      </p:sp>
      <p:sp>
        <p:nvSpPr>
          <p:cNvPr id="200" name="Gefaltete Ecke 6">
            <a:extLst>
              <a:ext uri="{FF2B5EF4-FFF2-40B4-BE49-F238E27FC236}">
                <a16:creationId xmlns:a16="http://schemas.microsoft.com/office/drawing/2014/main" id="{E90A698C-EBE6-AB74-DB7E-30B3B782AA2E}"/>
              </a:ext>
            </a:extLst>
          </p:cNvPr>
          <p:cNvSpPr/>
          <p:nvPr/>
        </p:nvSpPr>
        <p:spPr bwMode="gray">
          <a:xfrm>
            <a:off x="5141177" y="2860987"/>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Get responsible sales manager </a:t>
            </a:r>
            <a:br>
              <a:rPr lang="en-US" sz="1050" dirty="0">
                <a:latin typeface="72 Brand" panose="020B0504030603020204" pitchFamily="34" charset="0"/>
                <a:cs typeface="Arial" panose="020B0604020202020204" pitchFamily="34" charset="0"/>
              </a:rPr>
            </a:br>
            <a:r>
              <a:rPr lang="en-US" sz="1050" dirty="0">
                <a:latin typeface="72 Brand" panose="020B0504030603020204" pitchFamily="34" charset="0"/>
                <a:cs typeface="Arial" panose="020B0604020202020204" pitchFamily="34" charset="0"/>
              </a:rPr>
              <a:t>name for approval</a:t>
            </a:r>
          </a:p>
        </p:txBody>
      </p:sp>
      <p:sp>
        <p:nvSpPr>
          <p:cNvPr id="186" name="Gefaltete Ecke 6">
            <a:extLst>
              <a:ext uri="{FF2B5EF4-FFF2-40B4-BE49-F238E27FC236}">
                <a16:creationId xmlns:a16="http://schemas.microsoft.com/office/drawing/2014/main" id="{79F3B85E-8A51-9432-378B-37E021A2F8B8}"/>
              </a:ext>
            </a:extLst>
          </p:cNvPr>
          <p:cNvSpPr/>
          <p:nvPr/>
        </p:nvSpPr>
        <p:spPr bwMode="gray">
          <a:xfrm>
            <a:off x="6563901" y="2860987"/>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84" name="Gefaltete Ecke 6">
            <a:extLst>
              <a:ext uri="{FF2B5EF4-FFF2-40B4-BE49-F238E27FC236}">
                <a16:creationId xmlns:a16="http://schemas.microsoft.com/office/drawing/2014/main" id="{780971B6-D582-A61E-4615-0D30F7067723}"/>
              </a:ext>
            </a:extLst>
          </p:cNvPr>
          <p:cNvSpPr/>
          <p:nvPr/>
        </p:nvSpPr>
        <p:spPr bwMode="gray">
          <a:xfrm>
            <a:off x="7840646" y="2860987"/>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defRPr/>
            </a:pPr>
            <a:r>
              <a:rPr lang="en-US" sz="1050" dirty="0">
                <a:latin typeface="72 Brand" panose="020B0504030603020204" pitchFamily="34" charset="0"/>
                <a:cs typeface="Arial" panose="020B0604020202020204" pitchFamily="34" charset="0"/>
              </a:rPr>
              <a:t>Sales order approve or reject form</a:t>
            </a:r>
          </a:p>
        </p:txBody>
      </p:sp>
      <p:sp>
        <p:nvSpPr>
          <p:cNvPr id="170" name="Gefaltete Ecke 6">
            <a:extLst>
              <a:ext uri="{FF2B5EF4-FFF2-40B4-BE49-F238E27FC236}">
                <a16:creationId xmlns:a16="http://schemas.microsoft.com/office/drawing/2014/main" id="{50F3BD7F-3766-8EA2-9E99-FEF3B352AAB5}"/>
              </a:ext>
            </a:extLst>
          </p:cNvPr>
          <p:cNvSpPr/>
          <p:nvPr/>
        </p:nvSpPr>
        <p:spPr bwMode="gray">
          <a:xfrm>
            <a:off x="9228614" y="2860987"/>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Post sales order</a:t>
            </a:r>
          </a:p>
        </p:txBody>
      </p:sp>
      <p:sp>
        <p:nvSpPr>
          <p:cNvPr id="168" name="Gefaltete Ecke 6">
            <a:extLst>
              <a:ext uri="{FF2B5EF4-FFF2-40B4-BE49-F238E27FC236}">
                <a16:creationId xmlns:a16="http://schemas.microsoft.com/office/drawing/2014/main" id="{67F4E330-D4DA-BB70-9E21-3C791A19A5C1}"/>
              </a:ext>
            </a:extLst>
          </p:cNvPr>
          <p:cNvSpPr/>
          <p:nvPr/>
        </p:nvSpPr>
        <p:spPr bwMode="gray">
          <a:xfrm>
            <a:off x="10505359" y="2860987"/>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6" name="Gefaltete Ecke 7">
            <a:extLst>
              <a:ext uri="{FF2B5EF4-FFF2-40B4-BE49-F238E27FC236}">
                <a16:creationId xmlns:a16="http://schemas.microsoft.com/office/drawing/2014/main" id="{88424FC2-3AB9-9288-8F15-EA9D1C9AA346}"/>
              </a:ext>
            </a:extLst>
          </p:cNvPr>
          <p:cNvSpPr/>
          <p:nvPr/>
        </p:nvSpPr>
        <p:spPr bwMode="gray">
          <a:xfrm>
            <a:off x="504001" y="2859759"/>
            <a:ext cx="609400" cy="1074827"/>
          </a:xfrm>
          <a:prstGeom prst="rect">
            <a:avLst/>
          </a:prstGeom>
          <a:solidFill>
            <a:srgbClr val="EAECEE"/>
          </a:solidFill>
          <a:ln w="25400" algn="ctr">
            <a:noFill/>
            <a:miter lim="800000"/>
            <a:headEnd/>
            <a:tailEnd/>
          </a:ln>
        </p:spPr>
        <p:txBody>
          <a:bodyPr lIns="108000" tIns="144000" rIns="36000" bIns="36000" rtlCol="0" anchor="t" anchorCtr="0"/>
          <a:lstStyle/>
          <a:p>
            <a:pPr defTabSz="914400" fontAlgn="base">
              <a:spcBef>
                <a:spcPct val="50000"/>
              </a:spcBef>
              <a:spcAft>
                <a:spcPct val="0"/>
              </a:spcAft>
              <a:buClr>
                <a:srgbClr val="F0AB00"/>
              </a:buClr>
              <a:buSzPct val="80000"/>
            </a:pPr>
            <a:r>
              <a:rPr lang="en-US" sz="650" b="1" kern="0">
                <a:latin typeface="72 Brand" panose="020B0504030603020204" pitchFamily="34" charset="0"/>
                <a:ea typeface="Arial Unicode MS" pitchFamily="34" charset="-128"/>
                <a:cs typeface="Arial Unicode MS" pitchFamily="34" charset="-128"/>
              </a:rPr>
              <a:t>Application Logic</a:t>
            </a:r>
            <a:endParaRPr kumimoji="0" lang="en-US" sz="650" b="1"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endParaRPr>
          </a:p>
        </p:txBody>
      </p:sp>
      <p:sp>
        <p:nvSpPr>
          <p:cNvPr id="220" name="Gefaltete Ecke 6">
            <a:extLst>
              <a:ext uri="{FF2B5EF4-FFF2-40B4-BE49-F238E27FC236}">
                <a16:creationId xmlns:a16="http://schemas.microsoft.com/office/drawing/2014/main" id="{86DB46A0-7822-837D-624B-91C9C98FAC06}"/>
              </a:ext>
            </a:extLst>
          </p:cNvPr>
          <p:cNvSpPr/>
          <p:nvPr/>
        </p:nvSpPr>
        <p:spPr bwMode="gray">
          <a:xfrm>
            <a:off x="2488049" y="1702119"/>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Display product data on UI</a:t>
            </a:r>
          </a:p>
        </p:txBody>
      </p:sp>
      <p:sp>
        <p:nvSpPr>
          <p:cNvPr id="222" name="Gefaltete Ecke 6">
            <a:extLst>
              <a:ext uri="{FF2B5EF4-FFF2-40B4-BE49-F238E27FC236}">
                <a16:creationId xmlns:a16="http://schemas.microsoft.com/office/drawing/2014/main" id="{E406BD1F-E637-1BCD-B77B-D9E41EFE1C12}"/>
              </a:ext>
            </a:extLst>
          </p:cNvPr>
          <p:cNvSpPr/>
          <p:nvPr/>
        </p:nvSpPr>
        <p:spPr bwMode="gray">
          <a:xfrm>
            <a:off x="1211304" y="1702119"/>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solidFill>
                  <a:srgbClr val="12171C"/>
                </a:solidFill>
                <a:latin typeface="72 Brand" panose="020B0504030603020204" pitchFamily="34" charset="0"/>
                <a:cs typeface="Times New Roman"/>
              </a:rPr>
              <a:t>Internal sales rep enters sales order data</a:t>
            </a:r>
            <a:endParaRPr lang="en-US" sz="1050" dirty="0">
              <a:latin typeface="72 Brand" panose="020B0504030603020204" pitchFamily="34" charset="0"/>
              <a:cs typeface="Arial" panose="020B0604020202020204" pitchFamily="34" charset="0"/>
            </a:endParaRPr>
          </a:p>
        </p:txBody>
      </p:sp>
      <p:sp>
        <p:nvSpPr>
          <p:cNvPr id="206" name="Gefaltete Ecke 6">
            <a:extLst>
              <a:ext uri="{FF2B5EF4-FFF2-40B4-BE49-F238E27FC236}">
                <a16:creationId xmlns:a16="http://schemas.microsoft.com/office/drawing/2014/main" id="{CA015311-1335-EC25-7B6F-85CDD2278127}"/>
              </a:ext>
            </a:extLst>
          </p:cNvPr>
          <p:cNvSpPr/>
          <p:nvPr/>
        </p:nvSpPr>
        <p:spPr bwMode="gray">
          <a:xfrm>
            <a:off x="3864432" y="1702119"/>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Internal sales rep triggers approval process</a:t>
            </a:r>
          </a:p>
        </p:txBody>
      </p:sp>
      <p:sp>
        <p:nvSpPr>
          <p:cNvPr id="12" name="Titel 11">
            <a:extLst>
              <a:ext uri="{FF2B5EF4-FFF2-40B4-BE49-F238E27FC236}">
                <a16:creationId xmlns:a16="http://schemas.microsoft.com/office/drawing/2014/main" id="{E14C9C34-2B28-A735-A308-2B7CAE2FE2DF}"/>
              </a:ext>
            </a:extLst>
          </p:cNvPr>
          <p:cNvSpPr>
            <a:spLocks noGrp="1"/>
          </p:cNvSpPr>
          <p:nvPr>
            <p:ph type="title"/>
          </p:nvPr>
        </p:nvSpPr>
        <p:spPr>
          <a:xfrm>
            <a:off x="504001" y="504000"/>
            <a:ext cx="11186476" cy="307777"/>
          </a:xfrm>
        </p:spPr>
        <p:txBody>
          <a:bodyPr/>
          <a:lstStyle/>
          <a:p>
            <a:r>
              <a:rPr lang="en-US" sz="2000" dirty="0">
                <a:solidFill>
                  <a:srgbClr val="000000"/>
                </a:solidFill>
                <a:latin typeface="+mj-lt"/>
              </a:rPr>
              <a:t>III. Application Extension Use Case Scene - </a:t>
            </a:r>
            <a:r>
              <a:rPr lang="en-US" sz="2000" dirty="0">
                <a:solidFill>
                  <a:srgbClr val="12171C"/>
                </a:solidFill>
              </a:rPr>
              <a:t>Sales order process extension</a:t>
            </a:r>
            <a:endParaRPr lang="en-US" sz="2000" dirty="0">
              <a:solidFill>
                <a:srgbClr val="3A8A15"/>
              </a:solidFill>
              <a:latin typeface="+mj-lt"/>
            </a:endParaRPr>
          </a:p>
        </p:txBody>
      </p:sp>
      <p:sp>
        <p:nvSpPr>
          <p:cNvPr id="217" name="Gefaltete Ecke 6">
            <a:extLst>
              <a:ext uri="{FF2B5EF4-FFF2-40B4-BE49-F238E27FC236}">
                <a16:creationId xmlns:a16="http://schemas.microsoft.com/office/drawing/2014/main" id="{B2BE6874-298E-B1B4-8737-AF8552410A2E}"/>
              </a:ext>
            </a:extLst>
          </p:cNvPr>
          <p:cNvSpPr/>
          <p:nvPr/>
        </p:nvSpPr>
        <p:spPr bwMode="gray">
          <a:xfrm>
            <a:off x="1172022" y="2859759"/>
            <a:ext cx="44025" cy="1074213"/>
          </a:xfrm>
          <a:prstGeom prst="rect">
            <a:avLst/>
          </a:prstGeom>
          <a:solidFill>
            <a:srgbClr val="FFC933"/>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15" name="Gefaltete Ecke 6">
            <a:extLst>
              <a:ext uri="{FF2B5EF4-FFF2-40B4-BE49-F238E27FC236}">
                <a16:creationId xmlns:a16="http://schemas.microsoft.com/office/drawing/2014/main" id="{03D99F44-78FD-E0DF-20F0-A05D196FAA92}"/>
              </a:ext>
            </a:extLst>
          </p:cNvPr>
          <p:cNvSpPr/>
          <p:nvPr/>
        </p:nvSpPr>
        <p:spPr bwMode="gray">
          <a:xfrm>
            <a:off x="2448767" y="2859759"/>
            <a:ext cx="44025" cy="1074213"/>
          </a:xfrm>
          <a:prstGeom prst="rect">
            <a:avLst/>
          </a:prstGeom>
          <a:solidFill>
            <a:srgbClr val="FFC933"/>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13" name="Gefaltete Ecke 6">
            <a:extLst>
              <a:ext uri="{FF2B5EF4-FFF2-40B4-BE49-F238E27FC236}">
                <a16:creationId xmlns:a16="http://schemas.microsoft.com/office/drawing/2014/main" id="{7CE5265F-4413-8F1C-0F3D-F91CDE02BDB4}"/>
              </a:ext>
            </a:extLst>
          </p:cNvPr>
          <p:cNvSpPr/>
          <p:nvPr/>
        </p:nvSpPr>
        <p:spPr bwMode="gray">
          <a:xfrm>
            <a:off x="1172022" y="4023092"/>
            <a:ext cx="44025" cy="1074213"/>
          </a:xfrm>
          <a:prstGeom prst="rect">
            <a:avLst/>
          </a:prstGeom>
          <a:solidFill>
            <a:srgbClr val="1B90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11" name="Gefaltete Ecke 6">
            <a:extLst>
              <a:ext uri="{FF2B5EF4-FFF2-40B4-BE49-F238E27FC236}">
                <a16:creationId xmlns:a16="http://schemas.microsoft.com/office/drawing/2014/main" id="{EF327C87-BC06-0190-A457-56A69F842026}"/>
              </a:ext>
            </a:extLst>
          </p:cNvPr>
          <p:cNvSpPr/>
          <p:nvPr/>
        </p:nvSpPr>
        <p:spPr bwMode="gray">
          <a:xfrm>
            <a:off x="2448767" y="4023092"/>
            <a:ext cx="44025" cy="1074213"/>
          </a:xfrm>
          <a:prstGeom prst="rect">
            <a:avLst/>
          </a:prstGeom>
          <a:solidFill>
            <a:srgbClr val="1B90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09" name="Gefaltete Ecke 6">
            <a:extLst>
              <a:ext uri="{FF2B5EF4-FFF2-40B4-BE49-F238E27FC236}">
                <a16:creationId xmlns:a16="http://schemas.microsoft.com/office/drawing/2014/main" id="{5E97016F-C8F6-FD94-A197-F9708E4018E4}"/>
              </a:ext>
            </a:extLst>
          </p:cNvPr>
          <p:cNvSpPr/>
          <p:nvPr/>
        </p:nvSpPr>
        <p:spPr bwMode="gray">
          <a:xfrm>
            <a:off x="1172022" y="5196067"/>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07" name="Gefaltete Ecke 6">
            <a:extLst>
              <a:ext uri="{FF2B5EF4-FFF2-40B4-BE49-F238E27FC236}">
                <a16:creationId xmlns:a16="http://schemas.microsoft.com/office/drawing/2014/main" id="{715FD3A1-40C6-D787-B03E-724C0A9F27C7}"/>
              </a:ext>
            </a:extLst>
          </p:cNvPr>
          <p:cNvSpPr/>
          <p:nvPr/>
        </p:nvSpPr>
        <p:spPr bwMode="gray">
          <a:xfrm>
            <a:off x="2448767" y="5196067"/>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01" name="Gefaltete Ecke 6">
            <a:extLst>
              <a:ext uri="{FF2B5EF4-FFF2-40B4-BE49-F238E27FC236}">
                <a16:creationId xmlns:a16="http://schemas.microsoft.com/office/drawing/2014/main" id="{C1E30064-227D-988B-3081-29A60F8D807B}"/>
              </a:ext>
            </a:extLst>
          </p:cNvPr>
          <p:cNvSpPr/>
          <p:nvPr/>
        </p:nvSpPr>
        <p:spPr bwMode="gray">
          <a:xfrm>
            <a:off x="3825150" y="2859759"/>
            <a:ext cx="44025" cy="1074213"/>
          </a:xfrm>
          <a:prstGeom prst="rect">
            <a:avLst/>
          </a:prstGeom>
          <a:solidFill>
            <a:srgbClr val="FFC933"/>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99" name="Gefaltete Ecke 6">
            <a:extLst>
              <a:ext uri="{FF2B5EF4-FFF2-40B4-BE49-F238E27FC236}">
                <a16:creationId xmlns:a16="http://schemas.microsoft.com/office/drawing/2014/main" id="{7095E922-2A6F-1358-655F-B72601FD7ABC}"/>
              </a:ext>
            </a:extLst>
          </p:cNvPr>
          <p:cNvSpPr/>
          <p:nvPr/>
        </p:nvSpPr>
        <p:spPr bwMode="gray">
          <a:xfrm>
            <a:off x="5101895" y="2859759"/>
            <a:ext cx="44025" cy="1074213"/>
          </a:xfrm>
          <a:prstGeom prst="rect">
            <a:avLst/>
          </a:prstGeom>
          <a:solidFill>
            <a:srgbClr val="FFC933"/>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97" name="Gefaltete Ecke 6">
            <a:extLst>
              <a:ext uri="{FF2B5EF4-FFF2-40B4-BE49-F238E27FC236}">
                <a16:creationId xmlns:a16="http://schemas.microsoft.com/office/drawing/2014/main" id="{C9C8E86A-4DED-D09A-1B08-762E82E06392}"/>
              </a:ext>
            </a:extLst>
          </p:cNvPr>
          <p:cNvSpPr/>
          <p:nvPr/>
        </p:nvSpPr>
        <p:spPr bwMode="gray">
          <a:xfrm>
            <a:off x="3825150" y="4023092"/>
            <a:ext cx="44025" cy="1074213"/>
          </a:xfrm>
          <a:prstGeom prst="rect">
            <a:avLst/>
          </a:prstGeom>
          <a:solidFill>
            <a:srgbClr val="1B90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95" name="Gefaltete Ecke 6">
            <a:extLst>
              <a:ext uri="{FF2B5EF4-FFF2-40B4-BE49-F238E27FC236}">
                <a16:creationId xmlns:a16="http://schemas.microsoft.com/office/drawing/2014/main" id="{D150C2DE-F222-6C3D-0E3C-83865F2C4C42}"/>
              </a:ext>
            </a:extLst>
          </p:cNvPr>
          <p:cNvSpPr/>
          <p:nvPr/>
        </p:nvSpPr>
        <p:spPr bwMode="gray">
          <a:xfrm>
            <a:off x="5101895" y="4023092"/>
            <a:ext cx="44025" cy="1074213"/>
          </a:xfrm>
          <a:prstGeom prst="rect">
            <a:avLst/>
          </a:prstGeom>
          <a:solidFill>
            <a:srgbClr val="1B90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93" name="Gefaltete Ecke 6">
            <a:extLst>
              <a:ext uri="{FF2B5EF4-FFF2-40B4-BE49-F238E27FC236}">
                <a16:creationId xmlns:a16="http://schemas.microsoft.com/office/drawing/2014/main" id="{04C71258-FC0B-0331-EAB1-D1ABB3AF6B9E}"/>
              </a:ext>
            </a:extLst>
          </p:cNvPr>
          <p:cNvSpPr/>
          <p:nvPr/>
        </p:nvSpPr>
        <p:spPr bwMode="gray">
          <a:xfrm>
            <a:off x="3825150" y="5196067"/>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91" name="Gefaltete Ecke 6">
            <a:extLst>
              <a:ext uri="{FF2B5EF4-FFF2-40B4-BE49-F238E27FC236}">
                <a16:creationId xmlns:a16="http://schemas.microsoft.com/office/drawing/2014/main" id="{1C90CB85-337F-9B6B-F458-DBECEEA6EA32}"/>
              </a:ext>
            </a:extLst>
          </p:cNvPr>
          <p:cNvSpPr/>
          <p:nvPr/>
        </p:nvSpPr>
        <p:spPr bwMode="gray">
          <a:xfrm>
            <a:off x="5101895" y="5196067"/>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90" name="Gefaltete Ecke 6">
            <a:extLst>
              <a:ext uri="{FF2B5EF4-FFF2-40B4-BE49-F238E27FC236}">
                <a16:creationId xmlns:a16="http://schemas.microsoft.com/office/drawing/2014/main" id="{A0B48594-82F8-CE19-7F24-1EE0C61867DD}"/>
              </a:ext>
            </a:extLst>
          </p:cNvPr>
          <p:cNvSpPr/>
          <p:nvPr/>
        </p:nvSpPr>
        <p:spPr bwMode="gray">
          <a:xfrm>
            <a:off x="6563901" y="1702119"/>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defRPr/>
            </a:pPr>
            <a:r>
              <a:rPr lang="en-US" sz="1050" dirty="0">
                <a:latin typeface="72 Brand" panose="020B0504030603020204" pitchFamily="34" charset="0"/>
                <a:cs typeface="Arial" panose="020B0604020202020204" pitchFamily="34" charset="0"/>
              </a:rPr>
              <a:t>Sales manager enters free-text message to buyer</a:t>
            </a:r>
          </a:p>
        </p:txBody>
      </p:sp>
      <p:sp>
        <p:nvSpPr>
          <p:cNvPr id="188" name="Gefaltete Ecke 6">
            <a:extLst>
              <a:ext uri="{FF2B5EF4-FFF2-40B4-BE49-F238E27FC236}">
                <a16:creationId xmlns:a16="http://schemas.microsoft.com/office/drawing/2014/main" id="{9321A2ED-696D-7D6D-6F58-035B051C2B3E}"/>
              </a:ext>
            </a:extLst>
          </p:cNvPr>
          <p:cNvSpPr/>
          <p:nvPr/>
        </p:nvSpPr>
        <p:spPr bwMode="gray">
          <a:xfrm>
            <a:off x="7840646" y="1702119"/>
            <a:ext cx="1185118" cy="1074213"/>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manager approves or rejects sales order</a:t>
            </a:r>
          </a:p>
        </p:txBody>
      </p:sp>
      <p:sp>
        <p:nvSpPr>
          <p:cNvPr id="185" name="Gefaltete Ecke 6">
            <a:extLst>
              <a:ext uri="{FF2B5EF4-FFF2-40B4-BE49-F238E27FC236}">
                <a16:creationId xmlns:a16="http://schemas.microsoft.com/office/drawing/2014/main" id="{AAC9F953-27A4-254E-2EDB-3AC9A4EB0CAB}"/>
              </a:ext>
            </a:extLst>
          </p:cNvPr>
          <p:cNvSpPr/>
          <p:nvPr/>
        </p:nvSpPr>
        <p:spPr bwMode="gray">
          <a:xfrm>
            <a:off x="6524619" y="2859759"/>
            <a:ext cx="44025" cy="1074213"/>
          </a:xfrm>
          <a:prstGeom prst="rect">
            <a:avLst/>
          </a:prstGeom>
          <a:solidFill>
            <a:srgbClr val="FFC933"/>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83" name="Gefaltete Ecke 6">
            <a:extLst>
              <a:ext uri="{FF2B5EF4-FFF2-40B4-BE49-F238E27FC236}">
                <a16:creationId xmlns:a16="http://schemas.microsoft.com/office/drawing/2014/main" id="{0836798A-EF13-E179-8007-CD02336B8A59}"/>
              </a:ext>
            </a:extLst>
          </p:cNvPr>
          <p:cNvSpPr/>
          <p:nvPr/>
        </p:nvSpPr>
        <p:spPr bwMode="gray">
          <a:xfrm>
            <a:off x="7801364" y="2859759"/>
            <a:ext cx="44025" cy="1074213"/>
          </a:xfrm>
          <a:prstGeom prst="rect">
            <a:avLst/>
          </a:prstGeom>
          <a:solidFill>
            <a:srgbClr val="FFC933"/>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81" name="Gefaltete Ecke 6">
            <a:extLst>
              <a:ext uri="{FF2B5EF4-FFF2-40B4-BE49-F238E27FC236}">
                <a16:creationId xmlns:a16="http://schemas.microsoft.com/office/drawing/2014/main" id="{BC832215-DBF4-C525-6A84-C28BBB5DB50F}"/>
              </a:ext>
            </a:extLst>
          </p:cNvPr>
          <p:cNvSpPr/>
          <p:nvPr/>
        </p:nvSpPr>
        <p:spPr bwMode="gray">
          <a:xfrm>
            <a:off x="6524619" y="4023092"/>
            <a:ext cx="44025" cy="1074213"/>
          </a:xfrm>
          <a:prstGeom prst="rect">
            <a:avLst/>
          </a:prstGeom>
          <a:solidFill>
            <a:srgbClr val="1B90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79" name="Gefaltete Ecke 6">
            <a:extLst>
              <a:ext uri="{FF2B5EF4-FFF2-40B4-BE49-F238E27FC236}">
                <a16:creationId xmlns:a16="http://schemas.microsoft.com/office/drawing/2014/main" id="{CF802BC3-964D-B8C4-F4A0-916E8242EE82}"/>
              </a:ext>
            </a:extLst>
          </p:cNvPr>
          <p:cNvSpPr/>
          <p:nvPr/>
        </p:nvSpPr>
        <p:spPr bwMode="gray">
          <a:xfrm>
            <a:off x="7801364" y="4023092"/>
            <a:ext cx="44025" cy="1074213"/>
          </a:xfrm>
          <a:prstGeom prst="rect">
            <a:avLst/>
          </a:prstGeom>
          <a:solidFill>
            <a:srgbClr val="1B90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77" name="Gefaltete Ecke 6">
            <a:extLst>
              <a:ext uri="{FF2B5EF4-FFF2-40B4-BE49-F238E27FC236}">
                <a16:creationId xmlns:a16="http://schemas.microsoft.com/office/drawing/2014/main" id="{360888DE-D535-ACAA-DB8D-E8F779AF1760}"/>
              </a:ext>
            </a:extLst>
          </p:cNvPr>
          <p:cNvSpPr/>
          <p:nvPr/>
        </p:nvSpPr>
        <p:spPr bwMode="gray">
          <a:xfrm>
            <a:off x="6524619" y="5196067"/>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75" name="Gefaltete Ecke 6">
            <a:extLst>
              <a:ext uri="{FF2B5EF4-FFF2-40B4-BE49-F238E27FC236}">
                <a16:creationId xmlns:a16="http://schemas.microsoft.com/office/drawing/2014/main" id="{D06F63F1-A064-F994-49B3-BEB2B85EF446}"/>
              </a:ext>
            </a:extLst>
          </p:cNvPr>
          <p:cNvSpPr/>
          <p:nvPr/>
        </p:nvSpPr>
        <p:spPr bwMode="gray">
          <a:xfrm>
            <a:off x="7801364" y="5196067"/>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69" name="Gefaltete Ecke 6">
            <a:extLst>
              <a:ext uri="{FF2B5EF4-FFF2-40B4-BE49-F238E27FC236}">
                <a16:creationId xmlns:a16="http://schemas.microsoft.com/office/drawing/2014/main" id="{71D4EE92-27B2-FF38-6EBB-CFE1451E2722}"/>
              </a:ext>
            </a:extLst>
          </p:cNvPr>
          <p:cNvSpPr/>
          <p:nvPr/>
        </p:nvSpPr>
        <p:spPr bwMode="gray">
          <a:xfrm>
            <a:off x="9189332" y="2859759"/>
            <a:ext cx="44025" cy="1074213"/>
          </a:xfrm>
          <a:prstGeom prst="rect">
            <a:avLst/>
          </a:prstGeom>
          <a:solidFill>
            <a:srgbClr val="FFC933"/>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67" name="Gefaltete Ecke 6">
            <a:extLst>
              <a:ext uri="{FF2B5EF4-FFF2-40B4-BE49-F238E27FC236}">
                <a16:creationId xmlns:a16="http://schemas.microsoft.com/office/drawing/2014/main" id="{266D2CFD-B167-6F30-914A-864DE02329D9}"/>
              </a:ext>
            </a:extLst>
          </p:cNvPr>
          <p:cNvSpPr/>
          <p:nvPr/>
        </p:nvSpPr>
        <p:spPr bwMode="gray">
          <a:xfrm>
            <a:off x="10466077" y="2859759"/>
            <a:ext cx="44025" cy="1074213"/>
          </a:xfrm>
          <a:prstGeom prst="rect">
            <a:avLst/>
          </a:prstGeom>
          <a:solidFill>
            <a:srgbClr val="FFC933"/>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65" name="Gefaltete Ecke 6">
            <a:extLst>
              <a:ext uri="{FF2B5EF4-FFF2-40B4-BE49-F238E27FC236}">
                <a16:creationId xmlns:a16="http://schemas.microsoft.com/office/drawing/2014/main" id="{619D89A1-E9C6-2839-E4E1-6D9B103A50D7}"/>
              </a:ext>
            </a:extLst>
          </p:cNvPr>
          <p:cNvSpPr/>
          <p:nvPr/>
        </p:nvSpPr>
        <p:spPr bwMode="gray">
          <a:xfrm>
            <a:off x="9189332" y="4023092"/>
            <a:ext cx="44025" cy="1074213"/>
          </a:xfrm>
          <a:prstGeom prst="rect">
            <a:avLst/>
          </a:prstGeom>
          <a:solidFill>
            <a:srgbClr val="1B90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63" name="Gefaltete Ecke 6">
            <a:extLst>
              <a:ext uri="{FF2B5EF4-FFF2-40B4-BE49-F238E27FC236}">
                <a16:creationId xmlns:a16="http://schemas.microsoft.com/office/drawing/2014/main" id="{BCB6CB12-FA98-F669-1063-61BEACDB5FCB}"/>
              </a:ext>
            </a:extLst>
          </p:cNvPr>
          <p:cNvSpPr/>
          <p:nvPr/>
        </p:nvSpPr>
        <p:spPr bwMode="gray">
          <a:xfrm>
            <a:off x="10466077" y="4023092"/>
            <a:ext cx="44025" cy="1074213"/>
          </a:xfrm>
          <a:prstGeom prst="rect">
            <a:avLst/>
          </a:prstGeom>
          <a:solidFill>
            <a:srgbClr val="1B90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61" name="Gefaltete Ecke 6">
            <a:extLst>
              <a:ext uri="{FF2B5EF4-FFF2-40B4-BE49-F238E27FC236}">
                <a16:creationId xmlns:a16="http://schemas.microsoft.com/office/drawing/2014/main" id="{35F80075-42D5-C9A6-0B6A-5BEDCFA3BD75}"/>
              </a:ext>
            </a:extLst>
          </p:cNvPr>
          <p:cNvSpPr/>
          <p:nvPr/>
        </p:nvSpPr>
        <p:spPr bwMode="gray">
          <a:xfrm>
            <a:off x="9189332" y="5196067"/>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59" name="Gefaltete Ecke 6">
            <a:extLst>
              <a:ext uri="{FF2B5EF4-FFF2-40B4-BE49-F238E27FC236}">
                <a16:creationId xmlns:a16="http://schemas.microsoft.com/office/drawing/2014/main" id="{01C85C68-CCED-6A25-B09B-588AFC52DEF7}"/>
              </a:ext>
            </a:extLst>
          </p:cNvPr>
          <p:cNvSpPr/>
          <p:nvPr/>
        </p:nvSpPr>
        <p:spPr bwMode="gray">
          <a:xfrm>
            <a:off x="10466077" y="5196067"/>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69" name="Gefaltete Ecke 13">
            <a:extLst>
              <a:ext uri="{FF2B5EF4-FFF2-40B4-BE49-F238E27FC236}">
                <a16:creationId xmlns:a16="http://schemas.microsoft.com/office/drawing/2014/main" id="{3CC2BE73-80AF-D49C-6D08-24194715A789}"/>
              </a:ext>
            </a:extLst>
          </p:cNvPr>
          <p:cNvSpPr/>
          <p:nvPr/>
        </p:nvSpPr>
        <p:spPr bwMode="gray">
          <a:xfrm>
            <a:off x="1167249" y="1165025"/>
            <a:ext cx="2514339" cy="474856"/>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1000" kern="0" dirty="0">
                <a:latin typeface="72 Brand" panose="020B0504030603020204" pitchFamily="34" charset="0"/>
                <a:ea typeface="Arial Unicode MS" pitchFamily="34" charset="-128"/>
                <a:cs typeface="Arial Unicode MS" pitchFamily="34" charset="-128"/>
              </a:rPr>
              <a:t>Scene 01:</a:t>
            </a:r>
          </a:p>
          <a:p>
            <a:pPr algn="ctr" defTabSz="914400" fontAlgn="base">
              <a:spcBef>
                <a:spcPct val="50000"/>
              </a:spcBef>
              <a:spcAft>
                <a:spcPct val="0"/>
              </a:spcAft>
              <a:buClr>
                <a:srgbClr val="F0AB00"/>
              </a:buClr>
              <a:buSzPct val="80000"/>
            </a:pPr>
            <a:r>
              <a:rPr lang="en-US" sz="1000" b="1" kern="0" dirty="0">
                <a:latin typeface="72 Brand" panose="020B0504030603020204" pitchFamily="34" charset="0"/>
                <a:ea typeface="Arial Unicode MS" pitchFamily="34" charset="-128"/>
                <a:cs typeface="Arial Unicode MS" pitchFamily="34" charset="-128"/>
              </a:rPr>
              <a:t>Sales Order data entry </a:t>
            </a:r>
          </a:p>
        </p:txBody>
      </p:sp>
      <p:sp>
        <p:nvSpPr>
          <p:cNvPr id="71" name="Gefaltete Ecke 32">
            <a:extLst>
              <a:ext uri="{FF2B5EF4-FFF2-40B4-BE49-F238E27FC236}">
                <a16:creationId xmlns:a16="http://schemas.microsoft.com/office/drawing/2014/main" id="{3FDC19B8-9868-4A66-DC8B-1A600A0CBBC2}"/>
              </a:ext>
            </a:extLst>
          </p:cNvPr>
          <p:cNvSpPr/>
          <p:nvPr/>
        </p:nvSpPr>
        <p:spPr bwMode="gray">
          <a:xfrm>
            <a:off x="3823201" y="1165025"/>
            <a:ext cx="2498539" cy="474856"/>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1000" kern="0" dirty="0">
                <a:latin typeface="72 Brand" panose="020B0504030603020204" pitchFamily="34" charset="0"/>
                <a:ea typeface="Arial Unicode MS" pitchFamily="34" charset="-128"/>
                <a:cs typeface="Arial Unicode MS" pitchFamily="34" charset="-128"/>
              </a:rPr>
              <a:t>Scene 02:</a:t>
            </a:r>
          </a:p>
          <a:p>
            <a:pPr algn="ctr" defTabSz="914400" fontAlgn="base">
              <a:spcBef>
                <a:spcPct val="50000"/>
              </a:spcBef>
              <a:spcAft>
                <a:spcPct val="0"/>
              </a:spcAft>
              <a:buClr>
                <a:srgbClr val="F0AB00"/>
              </a:buClr>
              <a:buSzPct val="80000"/>
            </a:pPr>
            <a:r>
              <a:rPr lang="en-US" sz="1000" b="1" kern="0" dirty="0">
                <a:latin typeface="72 Brand" panose="020B0504030603020204" pitchFamily="34" charset="0"/>
                <a:ea typeface="Arial Unicode MS" pitchFamily="34" charset="-128"/>
                <a:cs typeface="Arial Unicode MS" pitchFamily="34" charset="-128"/>
              </a:rPr>
              <a:t>Sales Order sent for approval </a:t>
            </a:r>
          </a:p>
        </p:txBody>
      </p:sp>
      <p:sp>
        <p:nvSpPr>
          <p:cNvPr id="72" name="Gefaltete Ecke 42">
            <a:extLst>
              <a:ext uri="{FF2B5EF4-FFF2-40B4-BE49-F238E27FC236}">
                <a16:creationId xmlns:a16="http://schemas.microsoft.com/office/drawing/2014/main" id="{CC7E159B-712D-0F6A-13AE-7357C9123EB9}"/>
              </a:ext>
            </a:extLst>
          </p:cNvPr>
          <p:cNvSpPr/>
          <p:nvPr/>
        </p:nvSpPr>
        <p:spPr bwMode="gray">
          <a:xfrm>
            <a:off x="6524619" y="1165025"/>
            <a:ext cx="2498539" cy="474856"/>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1000" kern="0" dirty="0">
                <a:latin typeface="72 Brand" panose="020B0504030603020204" pitchFamily="34" charset="0"/>
                <a:ea typeface="Arial Unicode MS" pitchFamily="34" charset="-128"/>
                <a:cs typeface="Arial Unicode MS" pitchFamily="34" charset="-128"/>
              </a:rPr>
              <a:t>Scene 03:</a:t>
            </a:r>
          </a:p>
          <a:p>
            <a:pPr algn="ctr" defTabSz="914400" fontAlgn="base">
              <a:spcBef>
                <a:spcPct val="50000"/>
              </a:spcBef>
              <a:spcAft>
                <a:spcPct val="0"/>
              </a:spcAft>
              <a:buClr>
                <a:srgbClr val="F0AB00"/>
              </a:buClr>
              <a:buSzPct val="80000"/>
            </a:pPr>
            <a:r>
              <a:rPr lang="en-US" sz="1000" b="1" kern="0" dirty="0">
                <a:latin typeface="72 Brand" panose="020B0504030603020204" pitchFamily="34" charset="0"/>
                <a:ea typeface="Arial Unicode MS" pitchFamily="34" charset="-128"/>
                <a:cs typeface="Arial Unicode MS" pitchFamily="34" charset="-128"/>
              </a:rPr>
              <a:t>Sales Order approval</a:t>
            </a:r>
          </a:p>
        </p:txBody>
      </p:sp>
      <p:sp>
        <p:nvSpPr>
          <p:cNvPr id="73" name="Gefaltete Ecke 49">
            <a:extLst>
              <a:ext uri="{FF2B5EF4-FFF2-40B4-BE49-F238E27FC236}">
                <a16:creationId xmlns:a16="http://schemas.microsoft.com/office/drawing/2014/main" id="{B1A2B6DB-EC52-D733-90E6-1B987D9BB7E8}"/>
              </a:ext>
            </a:extLst>
          </p:cNvPr>
          <p:cNvSpPr/>
          <p:nvPr/>
        </p:nvSpPr>
        <p:spPr bwMode="gray">
          <a:xfrm>
            <a:off x="9189332" y="1165785"/>
            <a:ext cx="2498539" cy="474856"/>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1000" kern="0" dirty="0">
                <a:latin typeface="72 Brand" panose="020B0504030603020204" pitchFamily="34" charset="0"/>
                <a:ea typeface="Arial Unicode MS" pitchFamily="34" charset="-128"/>
                <a:cs typeface="Arial Unicode MS" pitchFamily="34" charset="-128"/>
              </a:rPr>
              <a:t>Scene 04:</a:t>
            </a:r>
          </a:p>
          <a:p>
            <a:pPr algn="ctr" defTabSz="914400" fontAlgn="base">
              <a:spcBef>
                <a:spcPct val="50000"/>
              </a:spcBef>
              <a:spcAft>
                <a:spcPct val="0"/>
              </a:spcAft>
              <a:buClr>
                <a:srgbClr val="F0AB00"/>
              </a:buClr>
              <a:buSzPct val="80000"/>
            </a:pPr>
            <a:r>
              <a:rPr lang="en-US" sz="1000" b="1" kern="0" dirty="0">
                <a:latin typeface="72 Brand" panose="020B0504030603020204" pitchFamily="34" charset="0"/>
                <a:ea typeface="Arial Unicode MS" pitchFamily="34" charset="-128"/>
                <a:cs typeface="Arial Unicode MS" pitchFamily="34" charset="-128"/>
              </a:rPr>
              <a:t>Sales Order post into Cloud ERP </a:t>
            </a:r>
          </a:p>
        </p:txBody>
      </p:sp>
      <p:cxnSp>
        <p:nvCxnSpPr>
          <p:cNvPr id="84" name="Gerade Verbindung 2">
            <a:extLst>
              <a:ext uri="{FF2B5EF4-FFF2-40B4-BE49-F238E27FC236}">
                <a16:creationId xmlns:a16="http://schemas.microsoft.com/office/drawing/2014/main" id="{5D788BFC-16EC-6284-6D90-38F6CD897626}"/>
              </a:ext>
            </a:extLst>
          </p:cNvPr>
          <p:cNvCxnSpPr>
            <a:cxnSpLocks/>
          </p:cNvCxnSpPr>
          <p:nvPr/>
        </p:nvCxnSpPr>
        <p:spPr>
          <a:xfrm>
            <a:off x="3753552" y="1160134"/>
            <a:ext cx="0" cy="5112000"/>
          </a:xfrm>
          <a:prstGeom prst="line">
            <a:avLst/>
          </a:prstGeom>
          <a:ln w="9525">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Gerade Verbindung 55">
            <a:extLst>
              <a:ext uri="{FF2B5EF4-FFF2-40B4-BE49-F238E27FC236}">
                <a16:creationId xmlns:a16="http://schemas.microsoft.com/office/drawing/2014/main" id="{06FC752D-70B3-A154-A1AD-E9916627D5DE}"/>
              </a:ext>
            </a:extLst>
          </p:cNvPr>
          <p:cNvCxnSpPr>
            <a:cxnSpLocks/>
          </p:cNvCxnSpPr>
          <p:nvPr/>
        </p:nvCxnSpPr>
        <p:spPr>
          <a:xfrm>
            <a:off x="6415272" y="1160134"/>
            <a:ext cx="0" cy="5112000"/>
          </a:xfrm>
          <a:prstGeom prst="line">
            <a:avLst/>
          </a:prstGeom>
          <a:ln w="9525">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Gerade Verbindung 56">
            <a:extLst>
              <a:ext uri="{FF2B5EF4-FFF2-40B4-BE49-F238E27FC236}">
                <a16:creationId xmlns:a16="http://schemas.microsoft.com/office/drawing/2014/main" id="{92BEDAE7-4278-CC85-F2D5-F2B21873D44F}"/>
              </a:ext>
            </a:extLst>
          </p:cNvPr>
          <p:cNvCxnSpPr>
            <a:cxnSpLocks/>
          </p:cNvCxnSpPr>
          <p:nvPr/>
        </p:nvCxnSpPr>
        <p:spPr>
          <a:xfrm>
            <a:off x="9110089" y="1160134"/>
            <a:ext cx="0" cy="5112000"/>
          </a:xfrm>
          <a:prstGeom prst="line">
            <a:avLst/>
          </a:prstGeom>
          <a:ln w="9525">
            <a:solidFill>
              <a:schemeClr val="tx1">
                <a:lumMod val="75000"/>
                <a:lumOff val="25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 name="Gefaltete Ecke 7">
            <a:extLst>
              <a:ext uri="{FF2B5EF4-FFF2-40B4-BE49-F238E27FC236}">
                <a16:creationId xmlns:a16="http://schemas.microsoft.com/office/drawing/2014/main" id="{0F31C6D2-F7C3-C2F2-EF75-141ECBB04900}"/>
              </a:ext>
            </a:extLst>
          </p:cNvPr>
          <p:cNvSpPr/>
          <p:nvPr/>
        </p:nvSpPr>
        <p:spPr bwMode="gray">
          <a:xfrm>
            <a:off x="504001" y="1694583"/>
            <a:ext cx="609400" cy="1074214"/>
          </a:xfrm>
          <a:prstGeom prst="rect">
            <a:avLst/>
          </a:prstGeom>
          <a:solidFill>
            <a:srgbClr val="EAECEE"/>
          </a:solidFill>
          <a:ln w="25400" algn="ctr">
            <a:noFill/>
            <a:miter lim="800000"/>
            <a:headEnd/>
            <a:tailEnd/>
          </a:ln>
        </p:spPr>
        <p:txBody>
          <a:bodyPr lIns="108000" tIns="144000" rIns="36000" bIns="36000" rtlCol="0" anchor="t" anchorCtr="0"/>
          <a:lstStyle/>
          <a:p>
            <a:pPr defTabSz="914400" fontAlgn="base">
              <a:spcBef>
                <a:spcPct val="50000"/>
              </a:spcBef>
              <a:spcAft>
                <a:spcPct val="0"/>
              </a:spcAft>
              <a:buClr>
                <a:srgbClr val="F0AB00"/>
              </a:buClr>
              <a:buSzPct val="80000"/>
            </a:pPr>
            <a:r>
              <a:rPr lang="en-US" sz="650" b="1" kern="0">
                <a:latin typeface="72 Brand" panose="020B0504030603020204" pitchFamily="34" charset="0"/>
                <a:ea typeface="Arial Unicode MS" pitchFamily="34" charset="-128"/>
                <a:cs typeface="Arial Unicode MS" pitchFamily="34" charset="-128"/>
              </a:rPr>
              <a:t>Actions</a:t>
            </a:r>
            <a:endParaRPr kumimoji="0" lang="en-US" sz="650" b="1" i="0" u="none" strike="noStrike" kern="0" cap="none" spc="0" normalizeH="0" baseline="0" noProof="0" err="1">
              <a:ln>
                <a:noFill/>
              </a:ln>
              <a:effectLst/>
              <a:uLnTx/>
              <a:uFillTx/>
              <a:latin typeface="72 Brand" panose="020B0504030603020204" pitchFamily="34" charset="0"/>
              <a:ea typeface="Arial Unicode MS" pitchFamily="34" charset="-128"/>
              <a:cs typeface="Arial Unicode MS" pitchFamily="34" charset="-128"/>
            </a:endParaRPr>
          </a:p>
        </p:txBody>
      </p:sp>
      <p:sp>
        <p:nvSpPr>
          <p:cNvPr id="57" name="Gefaltete Ecke 6">
            <a:extLst>
              <a:ext uri="{FF2B5EF4-FFF2-40B4-BE49-F238E27FC236}">
                <a16:creationId xmlns:a16="http://schemas.microsoft.com/office/drawing/2014/main" id="{A2EF9185-C93C-4200-AB09-8AF14B08C73D}"/>
              </a:ext>
            </a:extLst>
          </p:cNvPr>
          <p:cNvSpPr/>
          <p:nvPr/>
        </p:nvSpPr>
        <p:spPr bwMode="gray">
          <a:xfrm>
            <a:off x="510127" y="2860987"/>
            <a:ext cx="44025" cy="1074213"/>
          </a:xfrm>
          <a:prstGeom prst="rect">
            <a:avLst/>
          </a:prstGeom>
          <a:solidFill>
            <a:srgbClr val="FFC933"/>
          </a:solidFill>
          <a:ln w="25400" algn="ctr">
            <a:noFill/>
            <a:miter lim="800000"/>
            <a:headEnd/>
            <a:tailEnd/>
          </a:ln>
        </p:spPr>
        <p:txBody>
          <a:bodyPr lIns="108000" tIns="72000" rIns="36000" bIns="0" rtlCol="0" anchor="ctr" anchorCtr="0"/>
          <a:lstStyle/>
          <a:p>
            <a:pPr lvl="0" algn="ctr" defTabSz="1088558">
              <a:defRPr/>
            </a:pPr>
            <a:endParaRPr lang="en-US" sz="650">
              <a:latin typeface="72 Brand" panose="020B0504030603020204" pitchFamily="34" charset="0"/>
              <a:cs typeface="Arial" panose="020B0604020202020204" pitchFamily="34" charset="0"/>
            </a:endParaRPr>
          </a:p>
        </p:txBody>
      </p:sp>
      <p:sp>
        <p:nvSpPr>
          <p:cNvPr id="60" name="Gefaltete Ecke 6">
            <a:extLst>
              <a:ext uri="{FF2B5EF4-FFF2-40B4-BE49-F238E27FC236}">
                <a16:creationId xmlns:a16="http://schemas.microsoft.com/office/drawing/2014/main" id="{EE21AB5F-09C5-2DD8-8AA0-114FD70B3427}"/>
              </a:ext>
            </a:extLst>
          </p:cNvPr>
          <p:cNvSpPr/>
          <p:nvPr/>
        </p:nvSpPr>
        <p:spPr bwMode="gray">
          <a:xfrm>
            <a:off x="510127" y="4024320"/>
            <a:ext cx="44025" cy="1074213"/>
          </a:xfrm>
          <a:prstGeom prst="rect">
            <a:avLst/>
          </a:prstGeom>
          <a:solidFill>
            <a:srgbClr val="1B90FF"/>
          </a:solidFill>
          <a:ln w="25400" algn="ctr">
            <a:noFill/>
            <a:miter lim="800000"/>
            <a:headEnd/>
            <a:tailEnd/>
          </a:ln>
        </p:spPr>
        <p:txBody>
          <a:bodyPr lIns="108000" tIns="72000" rIns="36000" bIns="0" rtlCol="0" anchor="ctr" anchorCtr="0"/>
          <a:lstStyle/>
          <a:p>
            <a:pPr lvl="0" algn="ctr" defTabSz="1088558">
              <a:defRPr/>
            </a:pPr>
            <a:endParaRPr lang="en-US" sz="650">
              <a:latin typeface="72 Brand" panose="020B0504030603020204" pitchFamily="34" charset="0"/>
              <a:cs typeface="Arial" panose="020B0604020202020204" pitchFamily="34" charset="0"/>
            </a:endParaRPr>
          </a:p>
        </p:txBody>
      </p:sp>
      <p:sp>
        <p:nvSpPr>
          <p:cNvPr id="63" name="Gefaltete Ecke 6">
            <a:extLst>
              <a:ext uri="{FF2B5EF4-FFF2-40B4-BE49-F238E27FC236}">
                <a16:creationId xmlns:a16="http://schemas.microsoft.com/office/drawing/2014/main" id="{FCC09C4C-251C-E252-0D65-4008AA4A48FD}"/>
              </a:ext>
            </a:extLst>
          </p:cNvPr>
          <p:cNvSpPr/>
          <p:nvPr/>
        </p:nvSpPr>
        <p:spPr bwMode="gray">
          <a:xfrm>
            <a:off x="510127" y="5196681"/>
            <a:ext cx="44025" cy="1074213"/>
          </a:xfrm>
          <a:prstGeom prst="rect">
            <a:avLst/>
          </a:prstGeom>
          <a:solidFill>
            <a:srgbClr val="7858FF"/>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21" name="Gefaltete Ecke 6">
            <a:extLst>
              <a:ext uri="{FF2B5EF4-FFF2-40B4-BE49-F238E27FC236}">
                <a16:creationId xmlns:a16="http://schemas.microsoft.com/office/drawing/2014/main" id="{16836BC9-4CBD-00B7-0765-10E86109387B}"/>
              </a:ext>
            </a:extLst>
          </p:cNvPr>
          <p:cNvSpPr/>
          <p:nvPr/>
        </p:nvSpPr>
        <p:spPr bwMode="gray">
          <a:xfrm>
            <a:off x="1172022" y="1700891"/>
            <a:ext cx="44025" cy="1074213"/>
          </a:xfrm>
          <a:prstGeom prst="rect">
            <a:avLst/>
          </a:prstGeom>
          <a:solidFill>
            <a:srgbClr val="97DD40"/>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19" name="Gefaltete Ecke 6">
            <a:extLst>
              <a:ext uri="{FF2B5EF4-FFF2-40B4-BE49-F238E27FC236}">
                <a16:creationId xmlns:a16="http://schemas.microsoft.com/office/drawing/2014/main" id="{98907B98-0CE2-EEFD-396A-DFC6B4D6775D}"/>
              </a:ext>
            </a:extLst>
          </p:cNvPr>
          <p:cNvSpPr/>
          <p:nvPr/>
        </p:nvSpPr>
        <p:spPr bwMode="gray">
          <a:xfrm>
            <a:off x="2448767" y="1700891"/>
            <a:ext cx="44025" cy="1074213"/>
          </a:xfrm>
          <a:prstGeom prst="rect">
            <a:avLst/>
          </a:prstGeom>
          <a:solidFill>
            <a:srgbClr val="97DD40"/>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205" name="Gefaltete Ecke 6">
            <a:extLst>
              <a:ext uri="{FF2B5EF4-FFF2-40B4-BE49-F238E27FC236}">
                <a16:creationId xmlns:a16="http://schemas.microsoft.com/office/drawing/2014/main" id="{9EA434AD-ADF1-45FC-AEE0-C6C4BBD4AC79}"/>
              </a:ext>
            </a:extLst>
          </p:cNvPr>
          <p:cNvSpPr/>
          <p:nvPr/>
        </p:nvSpPr>
        <p:spPr bwMode="gray">
          <a:xfrm>
            <a:off x="3825150" y="1700891"/>
            <a:ext cx="44025" cy="1074213"/>
          </a:xfrm>
          <a:prstGeom prst="rect">
            <a:avLst/>
          </a:prstGeom>
          <a:solidFill>
            <a:srgbClr val="97DD40"/>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89" name="Gefaltete Ecke 6">
            <a:extLst>
              <a:ext uri="{FF2B5EF4-FFF2-40B4-BE49-F238E27FC236}">
                <a16:creationId xmlns:a16="http://schemas.microsoft.com/office/drawing/2014/main" id="{0A39EB39-15A4-C01E-16AD-0AAEA9807973}"/>
              </a:ext>
            </a:extLst>
          </p:cNvPr>
          <p:cNvSpPr/>
          <p:nvPr/>
        </p:nvSpPr>
        <p:spPr bwMode="gray">
          <a:xfrm>
            <a:off x="6524619" y="1700891"/>
            <a:ext cx="44025" cy="1074213"/>
          </a:xfrm>
          <a:prstGeom prst="rect">
            <a:avLst/>
          </a:prstGeom>
          <a:solidFill>
            <a:srgbClr val="97DD40"/>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187" name="Gefaltete Ecke 6">
            <a:extLst>
              <a:ext uri="{FF2B5EF4-FFF2-40B4-BE49-F238E27FC236}">
                <a16:creationId xmlns:a16="http://schemas.microsoft.com/office/drawing/2014/main" id="{E6082781-8820-1249-DBAE-0D458B42D882}"/>
              </a:ext>
            </a:extLst>
          </p:cNvPr>
          <p:cNvSpPr/>
          <p:nvPr/>
        </p:nvSpPr>
        <p:spPr bwMode="gray">
          <a:xfrm>
            <a:off x="7801364" y="1700891"/>
            <a:ext cx="44025" cy="1074213"/>
          </a:xfrm>
          <a:prstGeom prst="rect">
            <a:avLst/>
          </a:prstGeom>
          <a:solidFill>
            <a:srgbClr val="97DD40"/>
          </a:solidFill>
          <a:ln w="25400" algn="ctr">
            <a:noFill/>
            <a:miter lim="800000"/>
            <a:headEnd/>
            <a:tailEnd/>
          </a:ln>
        </p:spPr>
        <p:txBody>
          <a:bodyPr lIns="36000" tIns="72000" rIns="36000" bIns="0" rtlCol="0" anchor="ctr" anchorCtr="0"/>
          <a:lstStyle/>
          <a:p>
            <a:pPr lvl="0" algn="ctr" defTabSz="1088558">
              <a:defRPr/>
            </a:pPr>
            <a:endParaRPr lang="en-US" sz="1050">
              <a:latin typeface="72 Brand" panose="020B0504030603020204" pitchFamily="34" charset="0"/>
              <a:cs typeface="Arial" panose="020B0604020202020204" pitchFamily="34" charset="0"/>
            </a:endParaRPr>
          </a:p>
        </p:txBody>
      </p:sp>
      <p:sp>
        <p:nvSpPr>
          <p:cNvPr id="48" name="Gefaltete Ecke 6">
            <a:extLst>
              <a:ext uri="{FF2B5EF4-FFF2-40B4-BE49-F238E27FC236}">
                <a16:creationId xmlns:a16="http://schemas.microsoft.com/office/drawing/2014/main" id="{2FA043CF-FEB8-D6F9-A348-1313685AA819}"/>
              </a:ext>
            </a:extLst>
          </p:cNvPr>
          <p:cNvSpPr/>
          <p:nvPr/>
        </p:nvSpPr>
        <p:spPr bwMode="gray">
          <a:xfrm>
            <a:off x="510127" y="1702119"/>
            <a:ext cx="44025" cy="1074213"/>
          </a:xfrm>
          <a:prstGeom prst="rect">
            <a:avLst/>
          </a:prstGeom>
          <a:solidFill>
            <a:srgbClr val="97DD40"/>
          </a:solidFill>
          <a:ln w="25400" algn="ctr">
            <a:noFill/>
            <a:miter lim="800000"/>
            <a:headEnd/>
            <a:tailEnd/>
          </a:ln>
        </p:spPr>
        <p:txBody>
          <a:bodyPr lIns="108000" tIns="72000" rIns="36000" bIns="0" rtlCol="0" anchor="ctr" anchorCtr="0"/>
          <a:lstStyle/>
          <a:p>
            <a:pPr lvl="0" algn="ctr" defTabSz="1088558">
              <a:defRPr/>
            </a:pPr>
            <a:endParaRPr lang="en-US" sz="650">
              <a:latin typeface="72 Brand" panose="020B0504030603020204" pitchFamily="34" charset="0"/>
              <a:cs typeface="Arial" panose="020B0604020202020204" pitchFamily="34" charset="0"/>
            </a:endParaRPr>
          </a:p>
        </p:txBody>
      </p:sp>
      <p:grpSp>
        <p:nvGrpSpPr>
          <p:cNvPr id="10" name="Group 9">
            <a:extLst>
              <a:ext uri="{FF2B5EF4-FFF2-40B4-BE49-F238E27FC236}">
                <a16:creationId xmlns:a16="http://schemas.microsoft.com/office/drawing/2014/main" id="{1526E8D3-3A96-EA78-8C70-A9936EA0D990}"/>
              </a:ext>
            </a:extLst>
          </p:cNvPr>
          <p:cNvGrpSpPr/>
          <p:nvPr/>
        </p:nvGrpSpPr>
        <p:grpSpPr>
          <a:xfrm>
            <a:off x="6445071" y="-2890"/>
            <a:ext cx="5231695" cy="329981"/>
            <a:chOff x="6445071" y="-2890"/>
            <a:chExt cx="5231695" cy="329981"/>
          </a:xfrm>
        </p:grpSpPr>
        <p:sp>
          <p:nvSpPr>
            <p:cNvPr id="13" name="Freeform 12">
              <a:extLst>
                <a:ext uri="{FF2B5EF4-FFF2-40B4-BE49-F238E27FC236}">
                  <a16:creationId xmlns:a16="http://schemas.microsoft.com/office/drawing/2014/main" id="{62F2B788-94E9-4CDF-B301-25CFA0EF1B54}"/>
                </a:ext>
              </a:extLst>
            </p:cNvPr>
            <p:cNvSpPr/>
            <p:nvPr/>
          </p:nvSpPr>
          <p:spPr bwMode="gray">
            <a:xfrm>
              <a:off x="9983214" y="2972"/>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solidFill>
              <a:srgbClr val="EBF5CB"/>
            </a:solidFill>
            <a:ln w="25400" algn="ctr">
              <a:noFill/>
              <a:miter lim="800000"/>
              <a:headEnd/>
              <a:tailEnd/>
            </a:ln>
            <a:effectLst/>
          </p:spPr>
          <p:txBody>
            <a:bodyPr wrap="square" lIns="0" tIns="72000" rIns="0" bIns="72000" rtlCol="0" anchor="ctr">
              <a:noAutofit/>
            </a:bodyPr>
            <a:lstStyle/>
            <a:p>
              <a:pPr algn="ctr" defTabSz="914400" fontAlgn="base">
                <a:spcBef>
                  <a:spcPct val="50000"/>
                </a:spcBef>
                <a:spcAft>
                  <a:spcPct val="0"/>
                </a:spcAft>
                <a:buClr>
                  <a:srgbClr val="F0AB00"/>
                </a:buClr>
                <a:buSzPct val="80000"/>
              </a:pPr>
              <a:r>
                <a:rPr lang="de-DE" sz="800" kern="0">
                  <a:latin typeface="72 Brand" panose="020B0504030603020204" pitchFamily="34" charset="0"/>
                  <a:ea typeface="Arial Unicode MS" pitchFamily="34" charset="-128"/>
                  <a:cs typeface="Arial Unicode MS" pitchFamily="34" charset="-128"/>
                </a:rPr>
                <a:t>Application Extension </a:t>
              </a:r>
              <a:br>
                <a:rPr lang="de-DE" sz="800" kern="0">
                  <a:latin typeface="72 Brand" panose="020B0504030603020204" pitchFamily="34" charset="0"/>
                  <a:ea typeface="Arial Unicode MS" pitchFamily="34" charset="-128"/>
                  <a:cs typeface="Arial Unicode MS" pitchFamily="34" charset="-128"/>
                </a:rPr>
              </a:br>
              <a:r>
                <a:rPr lang="de-DE" sz="800" kern="0">
                  <a:latin typeface="72 Brand" panose="020B0504030603020204" pitchFamily="34" charset="0"/>
                  <a:ea typeface="Arial Unicode MS" pitchFamily="34" charset="-128"/>
                  <a:cs typeface="Arial Unicode MS" pitchFamily="34" charset="-128"/>
                </a:rPr>
                <a:t>Use Case</a:t>
              </a:r>
            </a:p>
          </p:txBody>
        </p:sp>
        <p:sp>
          <p:nvSpPr>
            <p:cNvPr id="14" name="Freeform 13">
              <a:extLst>
                <a:ext uri="{FF2B5EF4-FFF2-40B4-BE49-F238E27FC236}">
                  <a16:creationId xmlns:a16="http://schemas.microsoft.com/office/drawing/2014/main" id="{136E7582-93E6-73A7-2D2E-C4DEB6794309}"/>
                </a:ext>
              </a:extLst>
            </p:cNvPr>
            <p:cNvSpPr/>
            <p:nvPr/>
          </p:nvSpPr>
          <p:spPr bwMode="gray">
            <a:xfrm>
              <a:off x="8188021" y="-2890"/>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algn="ctr" defTabSz="914400" fontAlgn="base">
                <a:spcBef>
                  <a:spcPct val="50000"/>
                </a:spcBef>
                <a:spcAft>
                  <a:spcPct val="0"/>
                </a:spcAft>
                <a:buClr>
                  <a:srgbClr val="F0AB00"/>
                </a:buClr>
                <a:buSzPct val="80000"/>
              </a:pPr>
              <a:r>
                <a:rPr lang="en-US" sz="800" kern="0">
                  <a:solidFill>
                    <a:schemeClr val="bg1">
                      <a:lumMod val="85000"/>
                    </a:schemeClr>
                  </a:solidFill>
                  <a:latin typeface="72 Brand" panose="020B0504030603020204" pitchFamily="34" charset="0"/>
                  <a:ea typeface="Arial Unicode MS" pitchFamily="34" charset="-128"/>
                  <a:cs typeface="Arial Unicode MS" pitchFamily="34" charset="-128"/>
                </a:rPr>
                <a:t>Business &amp; Context </a:t>
              </a:r>
              <a:br>
                <a:rPr lang="en-US" sz="800" kern="0">
                  <a:solidFill>
                    <a:schemeClr val="bg1">
                      <a:lumMod val="85000"/>
                    </a:schemeClr>
                  </a:solidFill>
                  <a:latin typeface="72 Brand" panose="020B0504030603020204" pitchFamily="34" charset="0"/>
                  <a:ea typeface="Arial Unicode MS" pitchFamily="34" charset="-128"/>
                  <a:cs typeface="Arial Unicode MS" pitchFamily="34" charset="-128"/>
                </a:rPr>
              </a:br>
              <a:r>
                <a:rPr lang="en-US" sz="800" kern="0">
                  <a:solidFill>
                    <a:schemeClr val="bg1">
                      <a:lumMod val="85000"/>
                    </a:schemeClr>
                  </a:solidFill>
                  <a:latin typeface="72 Brand" panose="020B0504030603020204" pitchFamily="34" charset="0"/>
                  <a:ea typeface="Arial Unicode MS" pitchFamily="34" charset="-128"/>
                  <a:cs typeface="Arial Unicode MS" pitchFamily="34" charset="-128"/>
                </a:rPr>
                <a:t>Requirement</a:t>
              </a:r>
            </a:p>
          </p:txBody>
        </p:sp>
        <p:sp>
          <p:nvSpPr>
            <p:cNvPr id="21" name="Freeform 20">
              <a:extLst>
                <a:ext uri="{FF2B5EF4-FFF2-40B4-BE49-F238E27FC236}">
                  <a16:creationId xmlns:a16="http://schemas.microsoft.com/office/drawing/2014/main" id="{55A7C528-D2B7-7BF3-866B-0E6705020587}"/>
                </a:ext>
              </a:extLst>
            </p:cNvPr>
            <p:cNvSpPr/>
            <p:nvPr/>
          </p:nvSpPr>
          <p:spPr bwMode="gray">
            <a:xfrm>
              <a:off x="6445071" y="-2890"/>
              <a:ext cx="1693552" cy="324119"/>
            </a:xfrm>
            <a:custGeom>
              <a:avLst/>
              <a:gdLst>
                <a:gd name="connsiteX0" fmla="*/ 0 w 1693552"/>
                <a:gd name="connsiteY0" fmla="*/ 0 h 585279"/>
                <a:gd name="connsiteX1" fmla="*/ 1693552 w 1693552"/>
                <a:gd name="connsiteY1" fmla="*/ 0 h 585279"/>
                <a:gd name="connsiteX2" fmla="*/ 1626106 w 1693552"/>
                <a:gd name="connsiteY2" fmla="*/ 88336 h 585279"/>
                <a:gd name="connsiteX3" fmla="*/ 1618916 w 1693552"/>
                <a:gd name="connsiteY3" fmla="*/ 127655 h 585279"/>
                <a:gd name="connsiteX4" fmla="*/ 1621837 w 1693552"/>
                <a:gd name="connsiteY4" fmla="*/ 142127 h 585279"/>
                <a:gd name="connsiteX5" fmla="*/ 1621837 w 1693552"/>
                <a:gd name="connsiteY5" fmla="*/ 496646 h 585279"/>
                <a:gd name="connsiteX6" fmla="*/ 1533204 w 1693552"/>
                <a:gd name="connsiteY6" fmla="*/ 585279 h 585279"/>
                <a:gd name="connsiteX7" fmla="*/ 167586 w 1693552"/>
                <a:gd name="connsiteY7" fmla="*/ 585279 h 585279"/>
                <a:gd name="connsiteX8" fmla="*/ 78953 w 1693552"/>
                <a:gd name="connsiteY8" fmla="*/ 496646 h 585279"/>
                <a:gd name="connsiteX9" fmla="*/ 78953 w 1693552"/>
                <a:gd name="connsiteY9" fmla="*/ 142127 h 585279"/>
                <a:gd name="connsiteX10" fmla="*/ 79555 w 1693552"/>
                <a:gd name="connsiteY10" fmla="*/ 139146 h 585279"/>
                <a:gd name="connsiteX11" fmla="*/ 70761 w 1693552"/>
                <a:gd name="connsiteY11" fmla="*/ 89697 h 585279"/>
                <a:gd name="connsiteX12" fmla="*/ 0 w 1693552"/>
                <a:gd name="connsiteY12" fmla="*/ 0 h 5852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93552" h="585279">
                  <a:moveTo>
                    <a:pt x="0" y="0"/>
                  </a:moveTo>
                  <a:lnTo>
                    <a:pt x="1693552" y="0"/>
                  </a:lnTo>
                  <a:cubicBezTo>
                    <a:pt x="1650342" y="38551"/>
                    <a:pt x="1635760" y="50388"/>
                    <a:pt x="1626106" y="88336"/>
                  </a:cubicBezTo>
                  <a:lnTo>
                    <a:pt x="1618916" y="127655"/>
                  </a:lnTo>
                  <a:lnTo>
                    <a:pt x="1621837" y="142127"/>
                  </a:lnTo>
                  <a:lnTo>
                    <a:pt x="1621837" y="496646"/>
                  </a:lnTo>
                  <a:cubicBezTo>
                    <a:pt x="1621837" y="545597"/>
                    <a:pt x="1582155" y="585279"/>
                    <a:pt x="1533204" y="585279"/>
                  </a:cubicBezTo>
                  <a:lnTo>
                    <a:pt x="167586" y="585279"/>
                  </a:lnTo>
                  <a:cubicBezTo>
                    <a:pt x="118635" y="585279"/>
                    <a:pt x="78953" y="545597"/>
                    <a:pt x="78953" y="496646"/>
                  </a:cubicBezTo>
                  <a:lnTo>
                    <a:pt x="78953" y="142127"/>
                  </a:lnTo>
                  <a:lnTo>
                    <a:pt x="79555" y="139146"/>
                  </a:lnTo>
                  <a:lnTo>
                    <a:pt x="70761" y="89697"/>
                  </a:lnTo>
                  <a:cubicBezTo>
                    <a:pt x="59377" y="48932"/>
                    <a:pt x="39986" y="35332"/>
                    <a:pt x="0" y="0"/>
                  </a:cubicBezTo>
                  <a:close/>
                </a:path>
              </a:pathLst>
            </a:custGeom>
            <a:noFill/>
            <a:ln w="25400" algn="ctr">
              <a:noFill/>
              <a:miter lim="800000"/>
              <a:headEnd/>
              <a:tailEnd/>
            </a:ln>
            <a:effectLst>
              <a:outerShdw blurRad="63500" sx="102000" sy="102000" algn="ctr" rotWithShape="0">
                <a:prstClr val="black">
                  <a:alpha val="21000"/>
                </a:prstClr>
              </a:outerShdw>
            </a:effectLst>
          </p:spPr>
          <p:txBody>
            <a:bodyPr wrap="square" lIns="0" tIns="72000" rIns="0" bIns="72000" rtlCol="0" anchor="ctr">
              <a:noAutofit/>
            </a:bodyPr>
            <a:lstStyle/>
            <a:p>
              <a:pPr marL="0" marR="0" lvl="0" indent="0" algn="ctr" defTabSz="914400" rtl="0" eaLnBrk="1" fontAlgn="base" latinLnBrk="0" hangingPunct="1">
                <a:lnSpc>
                  <a:spcPct val="100000"/>
                </a:lnSpc>
                <a:spcBef>
                  <a:spcPct val="50000"/>
                </a:spcBef>
                <a:spcAft>
                  <a:spcPct val="0"/>
                </a:spcAft>
                <a:buClr>
                  <a:srgbClr val="F0AB00"/>
                </a:buClr>
                <a:buSzPct val="80000"/>
                <a:buFontTx/>
                <a:buNone/>
                <a:tabLst/>
                <a:defRPr/>
              </a:pPr>
              <a:r>
                <a:rPr kumimoji="0" lang="en-DE" sz="800" i="0" u="none" strike="noStrike" kern="0" cap="none" spc="0" normalizeH="0" baseline="0" noProof="0">
                  <a:ln>
                    <a:noFill/>
                  </a:ln>
                  <a:solidFill>
                    <a:schemeClr val="bg1">
                      <a:lumMod val="85000"/>
                    </a:schemeClr>
                  </a:solidFill>
                  <a:effectLst/>
                  <a:uLnTx/>
                  <a:uFillTx/>
                  <a:latin typeface="72 Brand" panose="020B0504030603020204" pitchFamily="34" charset="0"/>
                  <a:ea typeface="Arial Unicode MS" pitchFamily="34" charset="-128"/>
                  <a:cs typeface="Arial Unicode MS" pitchFamily="34" charset="-128"/>
                </a:rPr>
                <a:t>System Context</a:t>
              </a:r>
            </a:p>
          </p:txBody>
        </p:sp>
      </p:grpSp>
      <p:sp>
        <p:nvSpPr>
          <p:cNvPr id="5" name="Rounded Rectangle 2">
            <a:extLst>
              <a:ext uri="{FF2B5EF4-FFF2-40B4-BE49-F238E27FC236}">
                <a16:creationId xmlns:a16="http://schemas.microsoft.com/office/drawing/2014/main" id="{A8235191-35EF-DDC7-C730-8C1DA8A565AF}"/>
              </a:ext>
            </a:extLst>
          </p:cNvPr>
          <p:cNvSpPr/>
          <p:nvPr/>
        </p:nvSpPr>
        <p:spPr bwMode="gray">
          <a:xfrm>
            <a:off x="513050" y="810962"/>
            <a:ext cx="1054885" cy="233316"/>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a:solidFill>
                  <a:schemeClr val="bg1"/>
                </a:solidFill>
                <a:latin typeface="72 Brand" panose="020B0504030603020204" pitchFamily="34" charset="0"/>
                <a:ea typeface="Arial Unicode MS" pitchFamily="34" charset="-128"/>
                <a:cs typeface="Arial Unicode MS" pitchFamily="34" charset="-128"/>
                <a:sym typeface="Arial"/>
              </a:rPr>
              <a:t>Example</a:t>
            </a:r>
          </a:p>
        </p:txBody>
      </p:sp>
    </p:spTree>
    <p:extLst>
      <p:ext uri="{BB962C8B-B14F-4D97-AF65-F5344CB8AC3E}">
        <p14:creationId xmlns:p14="http://schemas.microsoft.com/office/powerpoint/2010/main" val="493991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3354C-7EF4-674B-4C16-7597C18D125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A53AE0E-BF95-D9AC-4F35-74E62CE04510}"/>
              </a:ext>
            </a:extLst>
          </p:cNvPr>
          <p:cNvSpPr>
            <a:spLocks noGrp="1"/>
          </p:cNvSpPr>
          <p:nvPr>
            <p:ph type="ctrTitle"/>
          </p:nvPr>
        </p:nvSpPr>
        <p:spPr/>
        <p:txBody>
          <a:bodyPr/>
          <a:lstStyle/>
          <a:p>
            <a:r>
              <a:rPr lang="en-US" b="1" noProof="0" dirty="0"/>
              <a:t>Exercise 1.3 &amp; 1.4: </a:t>
            </a:r>
            <a:br>
              <a:rPr lang="en-US" b="1" noProof="0" dirty="0"/>
            </a:br>
            <a:br>
              <a:rPr lang="en-US" b="1" noProof="0" dirty="0"/>
            </a:br>
            <a:r>
              <a:rPr lang="en-US" sz="3200" dirty="0"/>
              <a:t>Assess Extension Technology</a:t>
            </a:r>
            <a:endParaRPr lang="en-US" noProof="0" dirty="0"/>
          </a:p>
        </p:txBody>
      </p:sp>
    </p:spTree>
    <p:extLst>
      <p:ext uri="{BB962C8B-B14F-4D97-AF65-F5344CB8AC3E}">
        <p14:creationId xmlns:p14="http://schemas.microsoft.com/office/powerpoint/2010/main" val="1824232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0D62E-A16E-F192-B367-93303D94E870}"/>
            </a:ext>
          </a:extLst>
        </p:cNvPr>
        <p:cNvGrpSpPr/>
        <p:nvPr/>
      </p:nvGrpSpPr>
      <p:grpSpPr>
        <a:xfrm>
          <a:off x="0" y="0"/>
          <a:ext cx="0" cy="0"/>
          <a:chOff x="0" y="0"/>
          <a:chExt cx="0" cy="0"/>
        </a:xfrm>
      </p:grpSpPr>
      <p:sp>
        <p:nvSpPr>
          <p:cNvPr id="12" name="Titel 11">
            <a:extLst>
              <a:ext uri="{FF2B5EF4-FFF2-40B4-BE49-F238E27FC236}">
                <a16:creationId xmlns:a16="http://schemas.microsoft.com/office/drawing/2014/main" id="{A7FC8106-4450-9662-DB69-B453C6845E1D}"/>
              </a:ext>
            </a:extLst>
          </p:cNvPr>
          <p:cNvSpPr>
            <a:spLocks noGrp="1"/>
          </p:cNvSpPr>
          <p:nvPr>
            <p:ph type="title"/>
          </p:nvPr>
        </p:nvSpPr>
        <p:spPr>
          <a:xfrm>
            <a:off x="504001" y="504000"/>
            <a:ext cx="11186476" cy="615553"/>
          </a:xfrm>
        </p:spPr>
        <p:txBody>
          <a:bodyPr/>
          <a:lstStyle/>
          <a:p>
            <a:r>
              <a:rPr lang="en-US" sz="2000" dirty="0"/>
              <a:t>Extension Technology per Extension Task Mapping - Scene 01: Sales Order data entry </a:t>
            </a:r>
            <a:br>
              <a:rPr lang="en-US" sz="2000" dirty="0"/>
            </a:br>
            <a:endParaRPr lang="en-US" sz="2000" dirty="0"/>
          </a:p>
        </p:txBody>
      </p:sp>
      <p:sp>
        <p:nvSpPr>
          <p:cNvPr id="171" name="Rechteck 28">
            <a:extLst>
              <a:ext uri="{FF2B5EF4-FFF2-40B4-BE49-F238E27FC236}">
                <a16:creationId xmlns:a16="http://schemas.microsoft.com/office/drawing/2014/main" id="{7A5ED046-EEC9-D36B-1DF2-7DEB2EB2EF12}"/>
              </a:ext>
            </a:extLst>
          </p:cNvPr>
          <p:cNvSpPr/>
          <p:nvPr/>
        </p:nvSpPr>
        <p:spPr bwMode="gray">
          <a:xfrm>
            <a:off x="1340321"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1</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72" name="Gefaltete Ecke 13">
            <a:extLst>
              <a:ext uri="{FF2B5EF4-FFF2-40B4-BE49-F238E27FC236}">
                <a16:creationId xmlns:a16="http://schemas.microsoft.com/office/drawing/2014/main" id="{0692CA6B-0B2A-3AE1-9BC7-5F8C58F73464}"/>
              </a:ext>
            </a:extLst>
          </p:cNvPr>
          <p:cNvSpPr/>
          <p:nvPr/>
        </p:nvSpPr>
        <p:spPr bwMode="gray">
          <a:xfrm>
            <a:off x="1484320" y="1574264"/>
            <a:ext cx="3061607"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dirty="0">
                <a:latin typeface="72 Brand" panose="020B0504030603020204" pitchFamily="34" charset="0"/>
                <a:ea typeface="Arial Unicode MS" pitchFamily="34" charset="-128"/>
                <a:cs typeface="Arial Unicode MS" pitchFamily="34" charset="-128"/>
              </a:rPr>
              <a:t>Scene 01:</a:t>
            </a:r>
          </a:p>
          <a:p>
            <a:pPr algn="ctr" defTabSz="914400" fontAlgn="base">
              <a:spcBef>
                <a:spcPct val="50000"/>
              </a:spcBef>
              <a:spcAft>
                <a:spcPct val="0"/>
              </a:spcAft>
              <a:buClr>
                <a:srgbClr val="F0AB00"/>
              </a:buClr>
              <a:buSzPct val="80000"/>
            </a:pPr>
            <a:r>
              <a:rPr lang="en-US" sz="900" b="1" kern="0" dirty="0">
                <a:latin typeface="72 Brand" panose="020B0504030603020204" pitchFamily="34" charset="0"/>
                <a:ea typeface="Arial Unicode MS" pitchFamily="34" charset="-128"/>
                <a:cs typeface="Arial Unicode MS" pitchFamily="34" charset="-128"/>
              </a:rPr>
              <a:t>Sales Order data entry </a:t>
            </a:r>
          </a:p>
        </p:txBody>
      </p:sp>
      <p:sp>
        <p:nvSpPr>
          <p:cNvPr id="195" name="Gefaltete Ecke 6">
            <a:extLst>
              <a:ext uri="{FF2B5EF4-FFF2-40B4-BE49-F238E27FC236}">
                <a16:creationId xmlns:a16="http://schemas.microsoft.com/office/drawing/2014/main" id="{E8CC452C-B861-5154-5C07-389E88D6CE7E}"/>
              </a:ext>
            </a:extLst>
          </p:cNvPr>
          <p:cNvSpPr/>
          <p:nvPr/>
        </p:nvSpPr>
        <p:spPr bwMode="gray">
          <a:xfrm>
            <a:off x="3094044"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Display material data on UI</a:t>
            </a:r>
          </a:p>
        </p:txBody>
      </p:sp>
      <p:sp>
        <p:nvSpPr>
          <p:cNvPr id="191" name="Gefaltete Ecke 6">
            <a:extLst>
              <a:ext uri="{FF2B5EF4-FFF2-40B4-BE49-F238E27FC236}">
                <a16:creationId xmlns:a16="http://schemas.microsoft.com/office/drawing/2014/main" id="{5AB907C0-7146-56A0-BA66-03BA482AC0F6}"/>
              </a:ext>
            </a:extLst>
          </p:cNvPr>
          <p:cNvSpPr/>
          <p:nvPr/>
        </p:nvSpPr>
        <p:spPr bwMode="gray">
          <a:xfrm>
            <a:off x="309404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Read material data from SAP S/4HANA</a:t>
            </a:r>
          </a:p>
        </p:txBody>
      </p:sp>
      <p:sp>
        <p:nvSpPr>
          <p:cNvPr id="189" name="Gefaltete Ecke 6">
            <a:extLst>
              <a:ext uri="{FF2B5EF4-FFF2-40B4-BE49-F238E27FC236}">
                <a16:creationId xmlns:a16="http://schemas.microsoft.com/office/drawing/2014/main" id="{6091C2D5-4B0B-6D50-EFBF-6C9AF92530BE}"/>
              </a:ext>
            </a:extLst>
          </p:cNvPr>
          <p:cNvSpPr/>
          <p:nvPr/>
        </p:nvSpPr>
        <p:spPr bwMode="gray">
          <a:xfrm>
            <a:off x="1526191"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7" name="Gefaltete Ecke 6">
            <a:extLst>
              <a:ext uri="{FF2B5EF4-FFF2-40B4-BE49-F238E27FC236}">
                <a16:creationId xmlns:a16="http://schemas.microsoft.com/office/drawing/2014/main" id="{2859E37D-B079-1737-05ED-F8F6E53C9F1C}"/>
              </a:ext>
            </a:extLst>
          </p:cNvPr>
          <p:cNvSpPr/>
          <p:nvPr/>
        </p:nvSpPr>
        <p:spPr bwMode="gray">
          <a:xfrm>
            <a:off x="3094044"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S/4HANA Cloud Public Edition</a:t>
            </a:r>
          </a:p>
        </p:txBody>
      </p:sp>
      <p:sp>
        <p:nvSpPr>
          <p:cNvPr id="184" name="Gefaltete Ecke 6">
            <a:extLst>
              <a:ext uri="{FF2B5EF4-FFF2-40B4-BE49-F238E27FC236}">
                <a16:creationId xmlns:a16="http://schemas.microsoft.com/office/drawing/2014/main" id="{85CD2642-C86F-7DCA-13E2-ACA335AF6835}"/>
              </a:ext>
            </a:extLst>
          </p:cNvPr>
          <p:cNvSpPr/>
          <p:nvPr/>
        </p:nvSpPr>
        <p:spPr bwMode="gray">
          <a:xfrm>
            <a:off x="1485927"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5" name="Gefaltete Ecke 6">
            <a:extLst>
              <a:ext uri="{FF2B5EF4-FFF2-40B4-BE49-F238E27FC236}">
                <a16:creationId xmlns:a16="http://schemas.microsoft.com/office/drawing/2014/main" id="{1EE64E18-D482-7CA9-960C-A3BEF1A7FEB9}"/>
              </a:ext>
            </a:extLst>
          </p:cNvPr>
          <p:cNvSpPr/>
          <p:nvPr/>
        </p:nvSpPr>
        <p:spPr bwMode="gray">
          <a:xfrm>
            <a:off x="1526191"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a:t>
            </a:r>
          </a:p>
        </p:txBody>
      </p:sp>
      <p:sp>
        <p:nvSpPr>
          <p:cNvPr id="182" name="Gefaltete Ecke 6">
            <a:extLst>
              <a:ext uri="{FF2B5EF4-FFF2-40B4-BE49-F238E27FC236}">
                <a16:creationId xmlns:a16="http://schemas.microsoft.com/office/drawing/2014/main" id="{E45AB328-971F-97A4-670E-CF32239BD0EB}"/>
              </a:ext>
            </a:extLst>
          </p:cNvPr>
          <p:cNvSpPr/>
          <p:nvPr/>
        </p:nvSpPr>
        <p:spPr bwMode="gray">
          <a:xfrm>
            <a:off x="3053780"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3" name="Gefaltete Ecke 6">
            <a:extLst>
              <a:ext uri="{FF2B5EF4-FFF2-40B4-BE49-F238E27FC236}">
                <a16:creationId xmlns:a16="http://schemas.microsoft.com/office/drawing/2014/main" id="{56F46808-F85D-9022-7EC5-0B133341AD1D}"/>
              </a:ext>
            </a:extLst>
          </p:cNvPr>
          <p:cNvSpPr/>
          <p:nvPr/>
        </p:nvSpPr>
        <p:spPr bwMode="gray">
          <a:xfrm>
            <a:off x="3094044"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Material master</a:t>
            </a:r>
          </a:p>
        </p:txBody>
      </p:sp>
      <p:sp>
        <p:nvSpPr>
          <p:cNvPr id="198" name="Rechteck 28">
            <a:extLst>
              <a:ext uri="{FF2B5EF4-FFF2-40B4-BE49-F238E27FC236}">
                <a16:creationId xmlns:a16="http://schemas.microsoft.com/office/drawing/2014/main" id="{E583E942-D1EC-971E-1C5B-CB2B69FF75E0}"/>
              </a:ext>
            </a:extLst>
          </p:cNvPr>
          <p:cNvSpPr/>
          <p:nvPr/>
        </p:nvSpPr>
        <p:spPr bwMode="gray">
          <a:xfrm>
            <a:off x="4848834"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2</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99" name="Gefaltete Ecke 13">
            <a:extLst>
              <a:ext uri="{FF2B5EF4-FFF2-40B4-BE49-F238E27FC236}">
                <a16:creationId xmlns:a16="http://schemas.microsoft.com/office/drawing/2014/main" id="{4D7980DF-5A24-70C5-2048-28DAC505E4B0}"/>
              </a:ext>
            </a:extLst>
          </p:cNvPr>
          <p:cNvSpPr/>
          <p:nvPr/>
        </p:nvSpPr>
        <p:spPr bwMode="gray">
          <a:xfrm>
            <a:off x="4992834"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Extension tasks</a:t>
            </a:r>
          </a:p>
        </p:txBody>
      </p:sp>
      <p:sp>
        <p:nvSpPr>
          <p:cNvPr id="200" name="Gefaltete Ecke 13">
            <a:extLst>
              <a:ext uri="{FF2B5EF4-FFF2-40B4-BE49-F238E27FC236}">
                <a16:creationId xmlns:a16="http://schemas.microsoft.com/office/drawing/2014/main" id="{2DF40BE9-EDFD-05DB-775D-4C7FA44097E2}"/>
              </a:ext>
            </a:extLst>
          </p:cNvPr>
          <p:cNvSpPr/>
          <p:nvPr/>
        </p:nvSpPr>
        <p:spPr bwMode="gray">
          <a:xfrm>
            <a:off x="8501347"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Technical extension building blocks</a:t>
            </a:r>
          </a:p>
        </p:txBody>
      </p:sp>
      <p:sp>
        <p:nvSpPr>
          <p:cNvPr id="201" name="Rechteck 28">
            <a:extLst>
              <a:ext uri="{FF2B5EF4-FFF2-40B4-BE49-F238E27FC236}">
                <a16:creationId xmlns:a16="http://schemas.microsoft.com/office/drawing/2014/main" id="{DE16815E-E4A8-4A51-404E-6E1C6207BAD2}"/>
              </a:ext>
            </a:extLst>
          </p:cNvPr>
          <p:cNvSpPr/>
          <p:nvPr/>
        </p:nvSpPr>
        <p:spPr bwMode="gray">
          <a:xfrm>
            <a:off x="8357347"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3</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249" name="Gefaltete Ecke 6">
            <a:extLst>
              <a:ext uri="{FF2B5EF4-FFF2-40B4-BE49-F238E27FC236}">
                <a16:creationId xmlns:a16="http://schemas.microsoft.com/office/drawing/2014/main" id="{DFE922E9-DE10-5537-FF41-3F210EAA9F45}"/>
              </a:ext>
            </a:extLst>
          </p:cNvPr>
          <p:cNvSpPr/>
          <p:nvPr/>
        </p:nvSpPr>
        <p:spPr bwMode="gray">
          <a:xfrm>
            <a:off x="5033098"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243" name="Gefaltete Ecke 6">
            <a:extLst>
              <a:ext uri="{FF2B5EF4-FFF2-40B4-BE49-F238E27FC236}">
                <a16:creationId xmlns:a16="http://schemas.microsoft.com/office/drawing/2014/main" id="{E9DA34BE-DE0E-A59B-F8D8-E19140A3118C}"/>
              </a:ext>
            </a:extLst>
          </p:cNvPr>
          <p:cNvSpPr/>
          <p:nvPr/>
        </p:nvSpPr>
        <p:spPr bwMode="gray">
          <a:xfrm>
            <a:off x="5033099" y="3230647"/>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latin typeface="72 Brand" panose="020B0504030603020204" pitchFamily="34" charset="0"/>
              <a:cs typeface="72" panose="020B0503030000000003" pitchFamily="34" charset="0"/>
            </a:endParaRPr>
          </a:p>
        </p:txBody>
      </p:sp>
      <p:sp>
        <p:nvSpPr>
          <p:cNvPr id="274" name="Gefaltete Ecke 6">
            <a:extLst>
              <a:ext uri="{FF2B5EF4-FFF2-40B4-BE49-F238E27FC236}">
                <a16:creationId xmlns:a16="http://schemas.microsoft.com/office/drawing/2014/main" id="{66D60086-DFD1-31E5-CA49-32A12758F039}"/>
              </a:ext>
            </a:extLst>
          </p:cNvPr>
          <p:cNvSpPr/>
          <p:nvPr/>
        </p:nvSpPr>
        <p:spPr bwMode="gray">
          <a:xfrm>
            <a:off x="8541611"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268" name="Gefaltete Ecke 6">
            <a:extLst>
              <a:ext uri="{FF2B5EF4-FFF2-40B4-BE49-F238E27FC236}">
                <a16:creationId xmlns:a16="http://schemas.microsoft.com/office/drawing/2014/main" id="{2C0FB8A5-0C6C-21DC-C03C-8B2BD297DE86}"/>
              </a:ext>
            </a:extLst>
          </p:cNvPr>
          <p:cNvSpPr/>
          <p:nvPr/>
        </p:nvSpPr>
        <p:spPr bwMode="gray">
          <a:xfrm>
            <a:off x="8541612" y="3230647"/>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31" name="Gefaltete Ecke 7">
            <a:extLst>
              <a:ext uri="{FF2B5EF4-FFF2-40B4-BE49-F238E27FC236}">
                <a16:creationId xmlns:a16="http://schemas.microsoft.com/office/drawing/2014/main" id="{3B366B44-152E-4C6E-6165-337D467BC13A}"/>
              </a:ext>
            </a:extLst>
          </p:cNvPr>
          <p:cNvSpPr>
            <a:spLocks/>
          </p:cNvSpPr>
          <p:nvPr/>
        </p:nvSpPr>
        <p:spPr bwMode="gray">
          <a:xfrm>
            <a:off x="501651" y="2273212"/>
            <a:ext cx="722700" cy="898971"/>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Actions</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9" name="Gefaltete Ecke 8">
            <a:extLst>
              <a:ext uri="{FF2B5EF4-FFF2-40B4-BE49-F238E27FC236}">
                <a16:creationId xmlns:a16="http://schemas.microsoft.com/office/drawing/2014/main" id="{2C9256FF-A505-D80B-B2CF-91DED2FF1E72}"/>
              </a:ext>
            </a:extLst>
          </p:cNvPr>
          <p:cNvSpPr>
            <a:spLocks/>
          </p:cNvSpPr>
          <p:nvPr/>
        </p:nvSpPr>
        <p:spPr bwMode="gray">
          <a:xfrm>
            <a:off x="501650" y="3229618"/>
            <a:ext cx="722699" cy="897944"/>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Application Logic</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7" name="Gefaltete Ecke 9">
            <a:extLst>
              <a:ext uri="{FF2B5EF4-FFF2-40B4-BE49-F238E27FC236}">
                <a16:creationId xmlns:a16="http://schemas.microsoft.com/office/drawing/2014/main" id="{8CEB6470-ECD4-7DAC-2883-ADB2C78E07BA}"/>
              </a:ext>
            </a:extLst>
          </p:cNvPr>
          <p:cNvSpPr>
            <a:spLocks/>
          </p:cNvSpPr>
          <p:nvPr/>
        </p:nvSpPr>
        <p:spPr bwMode="gray">
          <a:xfrm>
            <a:off x="501650" y="4184997"/>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System</a:t>
            </a:r>
            <a:endParaRPr kumimoji="0" lang="en-US" sz="700" u="none" strike="noStrike" kern="0" cap="none" spc="0" normalizeH="0" baseline="0" noProof="0" err="1">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5" name="Gefaltete Ecke 10">
            <a:extLst>
              <a:ext uri="{FF2B5EF4-FFF2-40B4-BE49-F238E27FC236}">
                <a16:creationId xmlns:a16="http://schemas.microsoft.com/office/drawing/2014/main" id="{F5B1AAAD-BB66-9B54-713F-74755E8E1E30}"/>
              </a:ext>
            </a:extLst>
          </p:cNvPr>
          <p:cNvSpPr>
            <a:spLocks/>
          </p:cNvSpPr>
          <p:nvPr/>
        </p:nvSpPr>
        <p:spPr bwMode="gray">
          <a:xfrm>
            <a:off x="501650" y="5140375"/>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Required </a:t>
            </a:r>
            <a:br>
              <a:rPr lang="en-US" sz="700" kern="0">
                <a:solidFill>
                  <a:srgbClr val="12171C"/>
                </a:solidFill>
                <a:latin typeface="72 Brand Medium" panose="020B0504030603020204" pitchFamily="34" charset="0"/>
                <a:ea typeface="Arial Unicode MS" pitchFamily="34" charset="-128"/>
                <a:cs typeface="72" panose="020B0503030000000003" pitchFamily="34" charset="0"/>
              </a:rPr>
            </a:br>
            <a:r>
              <a:rPr lang="en-US" sz="700" kern="0">
                <a:solidFill>
                  <a:srgbClr val="12171C"/>
                </a:solidFill>
                <a:latin typeface="72 Brand Medium" panose="020B0504030603020204" pitchFamily="34" charset="0"/>
                <a:ea typeface="Arial Unicode MS" pitchFamily="34" charset="-128"/>
                <a:cs typeface="72" panose="020B0503030000000003" pitchFamily="34" charset="0"/>
              </a:rPr>
              <a:t>Data</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6" name="Gefaltete Ecke 6">
            <a:extLst>
              <a:ext uri="{FF2B5EF4-FFF2-40B4-BE49-F238E27FC236}">
                <a16:creationId xmlns:a16="http://schemas.microsoft.com/office/drawing/2014/main" id="{622509EA-37BF-54A5-5294-A33A2BD3C294}"/>
              </a:ext>
            </a:extLst>
          </p:cNvPr>
          <p:cNvSpPr/>
          <p:nvPr/>
        </p:nvSpPr>
        <p:spPr bwMode="gray">
          <a:xfrm>
            <a:off x="501650" y="5140907"/>
            <a:ext cx="58853" cy="896917"/>
          </a:xfrm>
          <a:prstGeom prst="rect">
            <a:avLst/>
          </a:prstGeom>
          <a:solidFill>
            <a:srgbClr val="7858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grpSp>
        <p:nvGrpSpPr>
          <p:cNvPr id="9" name="Group 8">
            <a:extLst>
              <a:ext uri="{FF2B5EF4-FFF2-40B4-BE49-F238E27FC236}">
                <a16:creationId xmlns:a16="http://schemas.microsoft.com/office/drawing/2014/main" id="{77C5D262-2F09-1266-829D-51209134846F}"/>
              </a:ext>
            </a:extLst>
          </p:cNvPr>
          <p:cNvGrpSpPr/>
          <p:nvPr/>
        </p:nvGrpSpPr>
        <p:grpSpPr>
          <a:xfrm>
            <a:off x="1485927" y="2273213"/>
            <a:ext cx="1492147" cy="900000"/>
            <a:chOff x="1485927" y="2273213"/>
            <a:chExt cx="1492147" cy="900000"/>
          </a:xfrm>
        </p:grpSpPr>
        <p:sp>
          <p:nvSpPr>
            <p:cNvPr id="197" name="Gefaltete Ecke 6">
              <a:extLst>
                <a:ext uri="{FF2B5EF4-FFF2-40B4-BE49-F238E27FC236}">
                  <a16:creationId xmlns:a16="http://schemas.microsoft.com/office/drawing/2014/main" id="{6A571275-98CD-55FF-980C-BF66A5DBE851}"/>
                </a:ext>
              </a:extLst>
            </p:cNvPr>
            <p:cNvSpPr/>
            <p:nvPr/>
          </p:nvSpPr>
          <p:spPr bwMode="gray">
            <a:xfrm>
              <a:off x="1526191"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Internal sales rep enters sales order </a:t>
              </a:r>
              <a:br>
                <a:rPr lang="en-US" sz="1050" dirty="0">
                  <a:solidFill>
                    <a:srgbClr val="12171C"/>
                  </a:solidFill>
                  <a:latin typeface="72 Brand" panose="020B0504030603020204" pitchFamily="34" charset="0"/>
                  <a:cs typeface="Times New Roman"/>
                </a:rPr>
              </a:br>
              <a:r>
                <a:rPr lang="en-US" sz="1050" dirty="0">
                  <a:solidFill>
                    <a:srgbClr val="12171C"/>
                  </a:solidFill>
                  <a:latin typeface="72 Brand" panose="020B0504030603020204" pitchFamily="34" charset="0"/>
                  <a:cs typeface="Times New Roman"/>
                </a:rPr>
                <a:t>data</a:t>
              </a:r>
            </a:p>
          </p:txBody>
        </p:sp>
        <p:sp>
          <p:nvSpPr>
            <p:cNvPr id="196" name="Gefaltete Ecke 6">
              <a:extLst>
                <a:ext uri="{FF2B5EF4-FFF2-40B4-BE49-F238E27FC236}">
                  <a16:creationId xmlns:a16="http://schemas.microsoft.com/office/drawing/2014/main" id="{5A86D7A5-20CD-EE3F-9524-DAD70D44E67D}"/>
                </a:ext>
              </a:extLst>
            </p:cNvPr>
            <p:cNvSpPr/>
            <p:nvPr/>
          </p:nvSpPr>
          <p:spPr bwMode="gray">
            <a:xfrm>
              <a:off x="148592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grpSp>
      <p:sp>
        <p:nvSpPr>
          <p:cNvPr id="194" name="Gefaltete Ecke 6">
            <a:extLst>
              <a:ext uri="{FF2B5EF4-FFF2-40B4-BE49-F238E27FC236}">
                <a16:creationId xmlns:a16="http://schemas.microsoft.com/office/drawing/2014/main" id="{0DB00498-3288-DAE1-9A25-DCD308E4F1B4}"/>
              </a:ext>
            </a:extLst>
          </p:cNvPr>
          <p:cNvSpPr/>
          <p:nvPr/>
        </p:nvSpPr>
        <p:spPr bwMode="gray">
          <a:xfrm>
            <a:off x="3053780"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8" name="Gefaltete Ecke 6">
            <a:extLst>
              <a:ext uri="{FF2B5EF4-FFF2-40B4-BE49-F238E27FC236}">
                <a16:creationId xmlns:a16="http://schemas.microsoft.com/office/drawing/2014/main" id="{F8E7E846-ED2B-AE9B-AFE8-203508925AB8}"/>
              </a:ext>
            </a:extLst>
          </p:cNvPr>
          <p:cNvSpPr/>
          <p:nvPr/>
        </p:nvSpPr>
        <p:spPr bwMode="gray">
          <a:xfrm>
            <a:off x="4992834"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73" name="Gefaltete Ecke 6">
            <a:extLst>
              <a:ext uri="{FF2B5EF4-FFF2-40B4-BE49-F238E27FC236}">
                <a16:creationId xmlns:a16="http://schemas.microsoft.com/office/drawing/2014/main" id="{9A01F49A-616A-A4BB-880F-3C75C665E7AA}"/>
              </a:ext>
            </a:extLst>
          </p:cNvPr>
          <p:cNvSpPr/>
          <p:nvPr/>
        </p:nvSpPr>
        <p:spPr bwMode="gray">
          <a:xfrm>
            <a:off x="850134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2" name="Gefaltete Ecke 6">
            <a:extLst>
              <a:ext uri="{FF2B5EF4-FFF2-40B4-BE49-F238E27FC236}">
                <a16:creationId xmlns:a16="http://schemas.microsoft.com/office/drawing/2014/main" id="{9A64CB08-9E4E-B9D0-5EBE-5B17CDD57352}"/>
              </a:ext>
            </a:extLst>
          </p:cNvPr>
          <p:cNvSpPr/>
          <p:nvPr/>
        </p:nvSpPr>
        <p:spPr bwMode="gray">
          <a:xfrm>
            <a:off x="501650" y="2273213"/>
            <a:ext cx="58853" cy="897944"/>
          </a:xfrm>
          <a:prstGeom prst="rect">
            <a:avLst/>
          </a:prstGeom>
          <a:solidFill>
            <a:srgbClr val="97DD40"/>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90" name="Gefaltete Ecke 6">
            <a:extLst>
              <a:ext uri="{FF2B5EF4-FFF2-40B4-BE49-F238E27FC236}">
                <a16:creationId xmlns:a16="http://schemas.microsoft.com/office/drawing/2014/main" id="{1C2CBA57-8E2F-68C1-84E4-4246A561F73A}"/>
              </a:ext>
            </a:extLst>
          </p:cNvPr>
          <p:cNvSpPr/>
          <p:nvPr/>
        </p:nvSpPr>
        <p:spPr bwMode="gray">
          <a:xfrm>
            <a:off x="305378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4" name="Gefaltete Ecke 6">
            <a:extLst>
              <a:ext uri="{FF2B5EF4-FFF2-40B4-BE49-F238E27FC236}">
                <a16:creationId xmlns:a16="http://schemas.microsoft.com/office/drawing/2014/main" id="{954D8F49-E3C7-5168-FD2B-14F781EC8DC6}"/>
              </a:ext>
            </a:extLst>
          </p:cNvPr>
          <p:cNvSpPr/>
          <p:nvPr/>
        </p:nvSpPr>
        <p:spPr bwMode="gray">
          <a:xfrm>
            <a:off x="4992834"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9" name="Gefaltete Ecke 6">
            <a:extLst>
              <a:ext uri="{FF2B5EF4-FFF2-40B4-BE49-F238E27FC236}">
                <a16:creationId xmlns:a16="http://schemas.microsoft.com/office/drawing/2014/main" id="{704B03C9-B091-0733-F86A-752B70A36026}"/>
              </a:ext>
            </a:extLst>
          </p:cNvPr>
          <p:cNvSpPr/>
          <p:nvPr/>
        </p:nvSpPr>
        <p:spPr bwMode="gray">
          <a:xfrm>
            <a:off x="850134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0" name="Gefaltete Ecke 6">
            <a:extLst>
              <a:ext uri="{FF2B5EF4-FFF2-40B4-BE49-F238E27FC236}">
                <a16:creationId xmlns:a16="http://schemas.microsoft.com/office/drawing/2014/main" id="{820906BC-8834-BA17-E0F9-B1706885DDFC}"/>
              </a:ext>
            </a:extLst>
          </p:cNvPr>
          <p:cNvSpPr/>
          <p:nvPr/>
        </p:nvSpPr>
        <p:spPr bwMode="gray">
          <a:xfrm>
            <a:off x="501650" y="3230128"/>
            <a:ext cx="58853" cy="896919"/>
          </a:xfrm>
          <a:prstGeom prst="rect">
            <a:avLst/>
          </a:prstGeom>
          <a:solidFill>
            <a:srgbClr val="FFC933"/>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88" name="Gefaltete Ecke 6">
            <a:extLst>
              <a:ext uri="{FF2B5EF4-FFF2-40B4-BE49-F238E27FC236}">
                <a16:creationId xmlns:a16="http://schemas.microsoft.com/office/drawing/2014/main" id="{407FDF18-6F99-ECB5-331F-16E9D8B40BFD}"/>
              </a:ext>
            </a:extLst>
          </p:cNvPr>
          <p:cNvSpPr/>
          <p:nvPr/>
        </p:nvSpPr>
        <p:spPr bwMode="gray">
          <a:xfrm>
            <a:off x="1485927"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6" name="Gefaltete Ecke 6">
            <a:extLst>
              <a:ext uri="{FF2B5EF4-FFF2-40B4-BE49-F238E27FC236}">
                <a16:creationId xmlns:a16="http://schemas.microsoft.com/office/drawing/2014/main" id="{C8CBA9F6-BF99-BB14-6423-9D6622634AC4}"/>
              </a:ext>
            </a:extLst>
          </p:cNvPr>
          <p:cNvSpPr/>
          <p:nvPr/>
        </p:nvSpPr>
        <p:spPr bwMode="gray">
          <a:xfrm>
            <a:off x="3053780"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8" name="Gefaltete Ecke 6">
            <a:extLst>
              <a:ext uri="{FF2B5EF4-FFF2-40B4-BE49-F238E27FC236}">
                <a16:creationId xmlns:a16="http://schemas.microsoft.com/office/drawing/2014/main" id="{EF1C4F9E-FBBD-6C3C-995E-AC4422AE4A55}"/>
              </a:ext>
            </a:extLst>
          </p:cNvPr>
          <p:cNvSpPr/>
          <p:nvPr/>
        </p:nvSpPr>
        <p:spPr bwMode="gray">
          <a:xfrm>
            <a:off x="502344" y="4185517"/>
            <a:ext cx="58853" cy="896917"/>
          </a:xfrm>
          <a:prstGeom prst="rect">
            <a:avLst/>
          </a:prstGeom>
          <a:solidFill>
            <a:srgbClr val="1B90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3" name="Rounded Rectangle 2">
            <a:extLst>
              <a:ext uri="{FF2B5EF4-FFF2-40B4-BE49-F238E27FC236}">
                <a16:creationId xmlns:a16="http://schemas.microsoft.com/office/drawing/2014/main" id="{F0E54AEF-01AB-6FEE-4DF3-F947962CFCAC}"/>
              </a:ext>
            </a:extLst>
          </p:cNvPr>
          <p:cNvSpPr/>
          <p:nvPr/>
        </p:nvSpPr>
        <p:spPr bwMode="gray">
          <a:xfrm>
            <a:off x="4992834"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1.3</a:t>
            </a:r>
          </a:p>
        </p:txBody>
      </p:sp>
      <p:sp>
        <p:nvSpPr>
          <p:cNvPr id="14" name="Rounded Rectangle 2">
            <a:extLst>
              <a:ext uri="{FF2B5EF4-FFF2-40B4-BE49-F238E27FC236}">
                <a16:creationId xmlns:a16="http://schemas.microsoft.com/office/drawing/2014/main" id="{F40B8FE8-0F93-2BDD-EEFE-399B15FE793D}"/>
              </a:ext>
            </a:extLst>
          </p:cNvPr>
          <p:cNvSpPr/>
          <p:nvPr/>
        </p:nvSpPr>
        <p:spPr bwMode="gray">
          <a:xfrm>
            <a:off x="8501347"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1.4</a:t>
            </a:r>
          </a:p>
        </p:txBody>
      </p:sp>
      <p:sp>
        <p:nvSpPr>
          <p:cNvPr id="15" name="Rounded Rectangle 2">
            <a:extLst>
              <a:ext uri="{FF2B5EF4-FFF2-40B4-BE49-F238E27FC236}">
                <a16:creationId xmlns:a16="http://schemas.microsoft.com/office/drawing/2014/main" id="{F7AD0CB1-3E04-3164-57E3-09957A7FA1E8}"/>
              </a:ext>
            </a:extLst>
          </p:cNvPr>
          <p:cNvSpPr/>
          <p:nvPr/>
        </p:nvSpPr>
        <p:spPr bwMode="gray">
          <a:xfrm>
            <a:off x="1484319" y="974710"/>
            <a:ext cx="3061607"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1.2</a:t>
            </a:r>
          </a:p>
        </p:txBody>
      </p:sp>
    </p:spTree>
    <p:extLst>
      <p:ext uri="{BB962C8B-B14F-4D97-AF65-F5344CB8AC3E}">
        <p14:creationId xmlns:p14="http://schemas.microsoft.com/office/powerpoint/2010/main" val="927155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21C74-77B6-C6DF-E4D5-8BDE1894EA68}"/>
            </a:ext>
          </a:extLst>
        </p:cNvPr>
        <p:cNvGrpSpPr/>
        <p:nvPr/>
      </p:nvGrpSpPr>
      <p:grpSpPr>
        <a:xfrm>
          <a:off x="0" y="0"/>
          <a:ext cx="0" cy="0"/>
          <a:chOff x="0" y="0"/>
          <a:chExt cx="0" cy="0"/>
        </a:xfrm>
      </p:grpSpPr>
      <p:sp>
        <p:nvSpPr>
          <p:cNvPr id="12" name="Titel 11">
            <a:extLst>
              <a:ext uri="{FF2B5EF4-FFF2-40B4-BE49-F238E27FC236}">
                <a16:creationId xmlns:a16="http://schemas.microsoft.com/office/drawing/2014/main" id="{E9B6F3F5-05B2-06D5-42FC-01A273B2C83A}"/>
              </a:ext>
            </a:extLst>
          </p:cNvPr>
          <p:cNvSpPr>
            <a:spLocks noGrp="1"/>
          </p:cNvSpPr>
          <p:nvPr>
            <p:ph type="title"/>
          </p:nvPr>
        </p:nvSpPr>
        <p:spPr>
          <a:xfrm>
            <a:off x="504001" y="504000"/>
            <a:ext cx="11186476" cy="307777"/>
          </a:xfrm>
        </p:spPr>
        <p:txBody>
          <a:bodyPr/>
          <a:lstStyle/>
          <a:p>
            <a:r>
              <a:rPr lang="en-US" sz="2000" dirty="0"/>
              <a:t>Extension Technology per Extension Task Mapping - Scene 02: Sales Order sent for approval </a:t>
            </a:r>
          </a:p>
        </p:txBody>
      </p:sp>
      <p:sp>
        <p:nvSpPr>
          <p:cNvPr id="171" name="Rechteck 28">
            <a:extLst>
              <a:ext uri="{FF2B5EF4-FFF2-40B4-BE49-F238E27FC236}">
                <a16:creationId xmlns:a16="http://schemas.microsoft.com/office/drawing/2014/main" id="{148C1BE4-5772-7489-ED8A-4EBBC22A2F12}"/>
              </a:ext>
            </a:extLst>
          </p:cNvPr>
          <p:cNvSpPr/>
          <p:nvPr/>
        </p:nvSpPr>
        <p:spPr bwMode="gray">
          <a:xfrm>
            <a:off x="1340321"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1</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72" name="Gefaltete Ecke 13">
            <a:extLst>
              <a:ext uri="{FF2B5EF4-FFF2-40B4-BE49-F238E27FC236}">
                <a16:creationId xmlns:a16="http://schemas.microsoft.com/office/drawing/2014/main" id="{17FA9692-107B-1C05-B053-94DFB56ECE4F}"/>
              </a:ext>
            </a:extLst>
          </p:cNvPr>
          <p:cNvSpPr/>
          <p:nvPr/>
        </p:nvSpPr>
        <p:spPr bwMode="gray">
          <a:xfrm>
            <a:off x="1484320" y="1574264"/>
            <a:ext cx="3061607"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dirty="0">
                <a:latin typeface="72 Brand" panose="020B0504030603020204" pitchFamily="34" charset="0"/>
                <a:ea typeface="Arial Unicode MS" pitchFamily="34" charset="-128"/>
                <a:cs typeface="Arial Unicode MS" pitchFamily="34" charset="-128"/>
              </a:rPr>
              <a:t>Scene 02:</a:t>
            </a:r>
          </a:p>
          <a:p>
            <a:pPr algn="ctr" defTabSz="914400" fontAlgn="base">
              <a:spcBef>
                <a:spcPct val="50000"/>
              </a:spcBef>
              <a:spcAft>
                <a:spcPct val="0"/>
              </a:spcAft>
              <a:buClr>
                <a:srgbClr val="F0AB00"/>
              </a:buClr>
              <a:buSzPct val="80000"/>
            </a:pPr>
            <a:r>
              <a:rPr lang="en-US" sz="900" b="1" kern="0" dirty="0">
                <a:latin typeface="72 Brand" panose="020B0504030603020204" pitchFamily="34" charset="0"/>
                <a:ea typeface="Arial Unicode MS" pitchFamily="34" charset="-128"/>
                <a:cs typeface="Arial Unicode MS" pitchFamily="34" charset="-128"/>
              </a:rPr>
              <a:t>Sales Order sent for approval </a:t>
            </a:r>
          </a:p>
        </p:txBody>
      </p:sp>
      <p:sp>
        <p:nvSpPr>
          <p:cNvPr id="193" name="Gefaltete Ecke 6">
            <a:extLst>
              <a:ext uri="{FF2B5EF4-FFF2-40B4-BE49-F238E27FC236}">
                <a16:creationId xmlns:a16="http://schemas.microsoft.com/office/drawing/2014/main" id="{C33354FC-2D80-AA75-A1FB-E008CD94CCE2}"/>
              </a:ext>
            </a:extLst>
          </p:cNvPr>
          <p:cNvSpPr/>
          <p:nvPr/>
        </p:nvSpPr>
        <p:spPr bwMode="gray">
          <a:xfrm>
            <a:off x="152619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Quantity &gt; 10 OR</a:t>
            </a:r>
          </a:p>
          <a:p>
            <a:pPr algn="ctr" defTabSz="1088558">
              <a:defRPr/>
            </a:pPr>
            <a:r>
              <a:rPr lang="en-US" sz="1050" dirty="0">
                <a:latin typeface="72 Brand" panose="020B0504030603020204" pitchFamily="34" charset="0"/>
                <a:cs typeface="Arial" panose="020B0604020202020204" pitchFamily="34" charset="0"/>
              </a:rPr>
              <a:t>special product line OR new customer</a:t>
            </a:r>
          </a:p>
        </p:txBody>
      </p:sp>
      <p:sp>
        <p:nvSpPr>
          <p:cNvPr id="191" name="Gefaltete Ecke 6">
            <a:extLst>
              <a:ext uri="{FF2B5EF4-FFF2-40B4-BE49-F238E27FC236}">
                <a16:creationId xmlns:a16="http://schemas.microsoft.com/office/drawing/2014/main" id="{3D9172AE-48B3-83D1-FBF3-814524F97727}"/>
              </a:ext>
            </a:extLst>
          </p:cNvPr>
          <p:cNvSpPr/>
          <p:nvPr/>
        </p:nvSpPr>
        <p:spPr bwMode="gray">
          <a:xfrm>
            <a:off x="309404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Get Sales Manager from SAP S/4HANA </a:t>
            </a:r>
            <a:br>
              <a:rPr lang="en-US" sz="1050" dirty="0">
                <a:latin typeface="72 Brand" panose="020B0504030603020204" pitchFamily="34" charset="0"/>
                <a:cs typeface="Arial" panose="020B0604020202020204" pitchFamily="34" charset="0"/>
              </a:rPr>
            </a:br>
            <a:r>
              <a:rPr lang="en-US" sz="1050" dirty="0">
                <a:latin typeface="72 Brand" panose="020B0504030603020204" pitchFamily="34" charset="0"/>
                <a:cs typeface="Arial" panose="020B0604020202020204" pitchFamily="34" charset="0"/>
              </a:rPr>
              <a:t>(Who needs to approve)</a:t>
            </a:r>
          </a:p>
        </p:txBody>
      </p:sp>
      <p:sp>
        <p:nvSpPr>
          <p:cNvPr id="189" name="Gefaltete Ecke 6">
            <a:extLst>
              <a:ext uri="{FF2B5EF4-FFF2-40B4-BE49-F238E27FC236}">
                <a16:creationId xmlns:a16="http://schemas.microsoft.com/office/drawing/2014/main" id="{B2740FFB-6F11-162D-A6AF-FC7BFA054EC8}"/>
              </a:ext>
            </a:extLst>
          </p:cNvPr>
          <p:cNvSpPr/>
          <p:nvPr/>
        </p:nvSpPr>
        <p:spPr bwMode="gray">
          <a:xfrm>
            <a:off x="1526191"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7" name="Gefaltete Ecke 6">
            <a:extLst>
              <a:ext uri="{FF2B5EF4-FFF2-40B4-BE49-F238E27FC236}">
                <a16:creationId xmlns:a16="http://schemas.microsoft.com/office/drawing/2014/main" id="{6391E5D9-F8EA-C84C-1A5E-D35AAB9896B6}"/>
              </a:ext>
            </a:extLst>
          </p:cNvPr>
          <p:cNvSpPr/>
          <p:nvPr/>
        </p:nvSpPr>
        <p:spPr bwMode="gray">
          <a:xfrm>
            <a:off x="3094044"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S/4HANA Cloud Public Edition</a:t>
            </a:r>
          </a:p>
        </p:txBody>
      </p:sp>
      <p:sp>
        <p:nvSpPr>
          <p:cNvPr id="182" name="Gefaltete Ecke 6">
            <a:extLst>
              <a:ext uri="{FF2B5EF4-FFF2-40B4-BE49-F238E27FC236}">
                <a16:creationId xmlns:a16="http://schemas.microsoft.com/office/drawing/2014/main" id="{B36BDC2C-BE79-0CB3-60A6-174E35A3871D}"/>
              </a:ext>
            </a:extLst>
          </p:cNvPr>
          <p:cNvSpPr/>
          <p:nvPr/>
        </p:nvSpPr>
        <p:spPr bwMode="gray">
          <a:xfrm>
            <a:off x="3053780"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3" name="Gefaltete Ecke 6">
            <a:extLst>
              <a:ext uri="{FF2B5EF4-FFF2-40B4-BE49-F238E27FC236}">
                <a16:creationId xmlns:a16="http://schemas.microsoft.com/office/drawing/2014/main" id="{F70D1B83-B4D6-B5B6-68B4-5963CC3AE688}"/>
              </a:ext>
            </a:extLst>
          </p:cNvPr>
          <p:cNvSpPr/>
          <p:nvPr/>
        </p:nvSpPr>
        <p:spPr bwMode="gray">
          <a:xfrm>
            <a:off x="3094044"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Business partner</a:t>
            </a:r>
          </a:p>
        </p:txBody>
      </p:sp>
      <p:sp>
        <p:nvSpPr>
          <p:cNvPr id="198" name="Rechteck 28">
            <a:extLst>
              <a:ext uri="{FF2B5EF4-FFF2-40B4-BE49-F238E27FC236}">
                <a16:creationId xmlns:a16="http://schemas.microsoft.com/office/drawing/2014/main" id="{F0BB4E7F-2F54-0DD1-0843-8D88C79B056A}"/>
              </a:ext>
            </a:extLst>
          </p:cNvPr>
          <p:cNvSpPr/>
          <p:nvPr/>
        </p:nvSpPr>
        <p:spPr bwMode="gray">
          <a:xfrm>
            <a:off x="4848834"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2</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99" name="Gefaltete Ecke 13">
            <a:extLst>
              <a:ext uri="{FF2B5EF4-FFF2-40B4-BE49-F238E27FC236}">
                <a16:creationId xmlns:a16="http://schemas.microsoft.com/office/drawing/2014/main" id="{4CE0EB3E-9DC3-1748-05CF-4B4F28C71C71}"/>
              </a:ext>
            </a:extLst>
          </p:cNvPr>
          <p:cNvSpPr/>
          <p:nvPr/>
        </p:nvSpPr>
        <p:spPr bwMode="gray">
          <a:xfrm>
            <a:off x="4992834"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Extension tasks</a:t>
            </a:r>
          </a:p>
        </p:txBody>
      </p:sp>
      <p:sp>
        <p:nvSpPr>
          <p:cNvPr id="200" name="Gefaltete Ecke 13">
            <a:extLst>
              <a:ext uri="{FF2B5EF4-FFF2-40B4-BE49-F238E27FC236}">
                <a16:creationId xmlns:a16="http://schemas.microsoft.com/office/drawing/2014/main" id="{A375864F-A3DA-9C0A-AC5E-93409F597D7B}"/>
              </a:ext>
            </a:extLst>
          </p:cNvPr>
          <p:cNvSpPr/>
          <p:nvPr/>
        </p:nvSpPr>
        <p:spPr bwMode="gray">
          <a:xfrm>
            <a:off x="8501347"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Technical extension building blocks</a:t>
            </a:r>
          </a:p>
        </p:txBody>
      </p:sp>
      <p:sp>
        <p:nvSpPr>
          <p:cNvPr id="201" name="Rechteck 28">
            <a:extLst>
              <a:ext uri="{FF2B5EF4-FFF2-40B4-BE49-F238E27FC236}">
                <a16:creationId xmlns:a16="http://schemas.microsoft.com/office/drawing/2014/main" id="{2F5DA487-327F-F93C-4AF7-788222818F1E}"/>
              </a:ext>
            </a:extLst>
          </p:cNvPr>
          <p:cNvSpPr/>
          <p:nvPr/>
        </p:nvSpPr>
        <p:spPr bwMode="gray">
          <a:xfrm>
            <a:off x="8357347"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3</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249" name="Gefaltete Ecke 6">
            <a:extLst>
              <a:ext uri="{FF2B5EF4-FFF2-40B4-BE49-F238E27FC236}">
                <a16:creationId xmlns:a16="http://schemas.microsoft.com/office/drawing/2014/main" id="{03BADFD0-6C8A-E7F8-FF7A-27E21C7C4B89}"/>
              </a:ext>
            </a:extLst>
          </p:cNvPr>
          <p:cNvSpPr/>
          <p:nvPr/>
        </p:nvSpPr>
        <p:spPr bwMode="gray">
          <a:xfrm>
            <a:off x="5033098"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245" name="Gefaltete Ecke 6">
            <a:extLst>
              <a:ext uri="{FF2B5EF4-FFF2-40B4-BE49-F238E27FC236}">
                <a16:creationId xmlns:a16="http://schemas.microsoft.com/office/drawing/2014/main" id="{E5E1CDFB-C94F-78B5-D9EB-D14D257E7732}"/>
              </a:ext>
            </a:extLst>
          </p:cNvPr>
          <p:cNvSpPr/>
          <p:nvPr/>
        </p:nvSpPr>
        <p:spPr bwMode="gray">
          <a:xfrm>
            <a:off x="5033098"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243" name="Gefaltete Ecke 6">
            <a:extLst>
              <a:ext uri="{FF2B5EF4-FFF2-40B4-BE49-F238E27FC236}">
                <a16:creationId xmlns:a16="http://schemas.microsoft.com/office/drawing/2014/main" id="{7FF61A1F-6854-40B1-25AB-DD120F4E08D9}"/>
              </a:ext>
            </a:extLst>
          </p:cNvPr>
          <p:cNvSpPr/>
          <p:nvPr/>
        </p:nvSpPr>
        <p:spPr bwMode="gray">
          <a:xfrm>
            <a:off x="660095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latin typeface="72 Brand" panose="020B0504030603020204" pitchFamily="34" charset="0"/>
              <a:cs typeface="72" panose="020B0503030000000003" pitchFamily="34" charset="0"/>
            </a:endParaRPr>
          </a:p>
        </p:txBody>
      </p:sp>
      <p:sp>
        <p:nvSpPr>
          <p:cNvPr id="274" name="Gefaltete Ecke 6">
            <a:extLst>
              <a:ext uri="{FF2B5EF4-FFF2-40B4-BE49-F238E27FC236}">
                <a16:creationId xmlns:a16="http://schemas.microsoft.com/office/drawing/2014/main" id="{F41060A9-51ED-0563-FC39-CB34F90C4BDB}"/>
              </a:ext>
            </a:extLst>
          </p:cNvPr>
          <p:cNvSpPr/>
          <p:nvPr/>
        </p:nvSpPr>
        <p:spPr bwMode="gray">
          <a:xfrm>
            <a:off x="8541611"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270" name="Gefaltete Ecke 6">
            <a:extLst>
              <a:ext uri="{FF2B5EF4-FFF2-40B4-BE49-F238E27FC236}">
                <a16:creationId xmlns:a16="http://schemas.microsoft.com/office/drawing/2014/main" id="{32B475BE-D81E-DD87-E520-7184BEB49627}"/>
              </a:ext>
            </a:extLst>
          </p:cNvPr>
          <p:cNvSpPr/>
          <p:nvPr/>
        </p:nvSpPr>
        <p:spPr bwMode="gray">
          <a:xfrm>
            <a:off x="854161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268" name="Gefaltete Ecke 6">
            <a:extLst>
              <a:ext uri="{FF2B5EF4-FFF2-40B4-BE49-F238E27FC236}">
                <a16:creationId xmlns:a16="http://schemas.microsoft.com/office/drawing/2014/main" id="{6F1D92DD-E389-46C7-116B-BB9E5D40BE56}"/>
              </a:ext>
            </a:extLst>
          </p:cNvPr>
          <p:cNvSpPr/>
          <p:nvPr/>
        </p:nvSpPr>
        <p:spPr bwMode="gray">
          <a:xfrm>
            <a:off x="1010946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31" name="Gefaltete Ecke 7">
            <a:extLst>
              <a:ext uri="{FF2B5EF4-FFF2-40B4-BE49-F238E27FC236}">
                <a16:creationId xmlns:a16="http://schemas.microsoft.com/office/drawing/2014/main" id="{E3DE6CF3-C921-95C4-8A20-51F77BFAA635}"/>
              </a:ext>
            </a:extLst>
          </p:cNvPr>
          <p:cNvSpPr>
            <a:spLocks/>
          </p:cNvSpPr>
          <p:nvPr/>
        </p:nvSpPr>
        <p:spPr bwMode="gray">
          <a:xfrm>
            <a:off x="501651" y="2273212"/>
            <a:ext cx="722700" cy="898971"/>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Actions</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9" name="Gefaltete Ecke 8">
            <a:extLst>
              <a:ext uri="{FF2B5EF4-FFF2-40B4-BE49-F238E27FC236}">
                <a16:creationId xmlns:a16="http://schemas.microsoft.com/office/drawing/2014/main" id="{8E70776B-487B-814E-66DC-6DBB72638E18}"/>
              </a:ext>
            </a:extLst>
          </p:cNvPr>
          <p:cNvSpPr>
            <a:spLocks/>
          </p:cNvSpPr>
          <p:nvPr/>
        </p:nvSpPr>
        <p:spPr bwMode="gray">
          <a:xfrm>
            <a:off x="501650" y="3229618"/>
            <a:ext cx="722699" cy="897944"/>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Application Logic</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7" name="Gefaltete Ecke 9">
            <a:extLst>
              <a:ext uri="{FF2B5EF4-FFF2-40B4-BE49-F238E27FC236}">
                <a16:creationId xmlns:a16="http://schemas.microsoft.com/office/drawing/2014/main" id="{B70A3AF8-C47C-B634-8F88-80CE6F97F76C}"/>
              </a:ext>
            </a:extLst>
          </p:cNvPr>
          <p:cNvSpPr>
            <a:spLocks/>
          </p:cNvSpPr>
          <p:nvPr/>
        </p:nvSpPr>
        <p:spPr bwMode="gray">
          <a:xfrm>
            <a:off x="501650" y="4184997"/>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System</a:t>
            </a:r>
            <a:endParaRPr kumimoji="0" lang="en-US" sz="700" u="none" strike="noStrike" kern="0" cap="none" spc="0" normalizeH="0" baseline="0" noProof="0" err="1">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5" name="Gefaltete Ecke 10">
            <a:extLst>
              <a:ext uri="{FF2B5EF4-FFF2-40B4-BE49-F238E27FC236}">
                <a16:creationId xmlns:a16="http://schemas.microsoft.com/office/drawing/2014/main" id="{A806D5D0-1A7A-098D-0C81-71FC57CC2E32}"/>
              </a:ext>
            </a:extLst>
          </p:cNvPr>
          <p:cNvSpPr>
            <a:spLocks/>
          </p:cNvSpPr>
          <p:nvPr/>
        </p:nvSpPr>
        <p:spPr bwMode="gray">
          <a:xfrm>
            <a:off x="501650" y="5140375"/>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Required </a:t>
            </a:r>
            <a:br>
              <a:rPr lang="en-US" sz="700" kern="0">
                <a:solidFill>
                  <a:srgbClr val="12171C"/>
                </a:solidFill>
                <a:latin typeface="72 Brand Medium" panose="020B0504030603020204" pitchFamily="34" charset="0"/>
                <a:ea typeface="Arial Unicode MS" pitchFamily="34" charset="-128"/>
                <a:cs typeface="72" panose="020B0503030000000003" pitchFamily="34" charset="0"/>
              </a:rPr>
            </a:br>
            <a:r>
              <a:rPr lang="en-US" sz="700" kern="0">
                <a:solidFill>
                  <a:srgbClr val="12171C"/>
                </a:solidFill>
                <a:latin typeface="72 Brand Medium" panose="020B0504030603020204" pitchFamily="34" charset="0"/>
                <a:ea typeface="Arial Unicode MS" pitchFamily="34" charset="-128"/>
                <a:cs typeface="72" panose="020B0503030000000003" pitchFamily="34" charset="0"/>
              </a:rPr>
              <a:t>Data</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6" name="Gefaltete Ecke 6">
            <a:extLst>
              <a:ext uri="{FF2B5EF4-FFF2-40B4-BE49-F238E27FC236}">
                <a16:creationId xmlns:a16="http://schemas.microsoft.com/office/drawing/2014/main" id="{70CEBE8A-B619-E060-16DE-C1E1C23F6DB7}"/>
              </a:ext>
            </a:extLst>
          </p:cNvPr>
          <p:cNvSpPr/>
          <p:nvPr/>
        </p:nvSpPr>
        <p:spPr bwMode="gray">
          <a:xfrm>
            <a:off x="501650" y="5140907"/>
            <a:ext cx="58853" cy="896917"/>
          </a:xfrm>
          <a:prstGeom prst="rect">
            <a:avLst/>
          </a:prstGeom>
          <a:solidFill>
            <a:srgbClr val="7858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grpSp>
        <p:nvGrpSpPr>
          <p:cNvPr id="9" name="Group 8">
            <a:extLst>
              <a:ext uri="{FF2B5EF4-FFF2-40B4-BE49-F238E27FC236}">
                <a16:creationId xmlns:a16="http://schemas.microsoft.com/office/drawing/2014/main" id="{74ED76B6-BEAD-5572-6D99-A6875C91859C}"/>
              </a:ext>
            </a:extLst>
          </p:cNvPr>
          <p:cNvGrpSpPr/>
          <p:nvPr/>
        </p:nvGrpSpPr>
        <p:grpSpPr>
          <a:xfrm>
            <a:off x="1485927" y="2273213"/>
            <a:ext cx="1492147" cy="900000"/>
            <a:chOff x="1485927" y="2273213"/>
            <a:chExt cx="1492147" cy="900000"/>
          </a:xfrm>
        </p:grpSpPr>
        <p:sp>
          <p:nvSpPr>
            <p:cNvPr id="197" name="Gefaltete Ecke 6">
              <a:extLst>
                <a:ext uri="{FF2B5EF4-FFF2-40B4-BE49-F238E27FC236}">
                  <a16:creationId xmlns:a16="http://schemas.microsoft.com/office/drawing/2014/main" id="{CE9EAF2D-A3CA-CE82-D70F-7B0E6CE0FCC5}"/>
                </a:ext>
              </a:extLst>
            </p:cNvPr>
            <p:cNvSpPr/>
            <p:nvPr/>
          </p:nvSpPr>
          <p:spPr bwMode="gray">
            <a:xfrm>
              <a:off x="1526191"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Internal sales rep triggers approval process</a:t>
              </a:r>
            </a:p>
          </p:txBody>
        </p:sp>
        <p:sp>
          <p:nvSpPr>
            <p:cNvPr id="196" name="Gefaltete Ecke 6">
              <a:extLst>
                <a:ext uri="{FF2B5EF4-FFF2-40B4-BE49-F238E27FC236}">
                  <a16:creationId xmlns:a16="http://schemas.microsoft.com/office/drawing/2014/main" id="{8147476F-3CF8-1BDE-059A-7AC8FA0B47C8}"/>
                </a:ext>
              </a:extLst>
            </p:cNvPr>
            <p:cNvSpPr/>
            <p:nvPr/>
          </p:nvSpPr>
          <p:spPr bwMode="gray">
            <a:xfrm>
              <a:off x="148592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grpSp>
      <p:sp>
        <p:nvSpPr>
          <p:cNvPr id="248" name="Gefaltete Ecke 6">
            <a:extLst>
              <a:ext uri="{FF2B5EF4-FFF2-40B4-BE49-F238E27FC236}">
                <a16:creationId xmlns:a16="http://schemas.microsoft.com/office/drawing/2014/main" id="{3A7D0771-ACBC-ED51-91C0-B2CCCA423503}"/>
              </a:ext>
            </a:extLst>
          </p:cNvPr>
          <p:cNvSpPr/>
          <p:nvPr/>
        </p:nvSpPr>
        <p:spPr bwMode="gray">
          <a:xfrm>
            <a:off x="4992834"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73" name="Gefaltete Ecke 6">
            <a:extLst>
              <a:ext uri="{FF2B5EF4-FFF2-40B4-BE49-F238E27FC236}">
                <a16:creationId xmlns:a16="http://schemas.microsoft.com/office/drawing/2014/main" id="{1750D21D-08EC-6FA3-B195-83697BEE17D8}"/>
              </a:ext>
            </a:extLst>
          </p:cNvPr>
          <p:cNvSpPr/>
          <p:nvPr/>
        </p:nvSpPr>
        <p:spPr bwMode="gray">
          <a:xfrm>
            <a:off x="850134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2" name="Gefaltete Ecke 6">
            <a:extLst>
              <a:ext uri="{FF2B5EF4-FFF2-40B4-BE49-F238E27FC236}">
                <a16:creationId xmlns:a16="http://schemas.microsoft.com/office/drawing/2014/main" id="{E1F00AC7-17B1-82EA-386A-F86323D743C8}"/>
              </a:ext>
            </a:extLst>
          </p:cNvPr>
          <p:cNvSpPr/>
          <p:nvPr/>
        </p:nvSpPr>
        <p:spPr bwMode="gray">
          <a:xfrm>
            <a:off x="501650" y="2273213"/>
            <a:ext cx="58853" cy="897944"/>
          </a:xfrm>
          <a:prstGeom prst="rect">
            <a:avLst/>
          </a:prstGeom>
          <a:solidFill>
            <a:srgbClr val="97DD40"/>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92" name="Gefaltete Ecke 6">
            <a:extLst>
              <a:ext uri="{FF2B5EF4-FFF2-40B4-BE49-F238E27FC236}">
                <a16:creationId xmlns:a16="http://schemas.microsoft.com/office/drawing/2014/main" id="{3C70F145-3188-B533-E093-35C10C9E40D5}"/>
              </a:ext>
            </a:extLst>
          </p:cNvPr>
          <p:cNvSpPr/>
          <p:nvPr/>
        </p:nvSpPr>
        <p:spPr bwMode="gray">
          <a:xfrm>
            <a:off x="148592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90" name="Gefaltete Ecke 6">
            <a:extLst>
              <a:ext uri="{FF2B5EF4-FFF2-40B4-BE49-F238E27FC236}">
                <a16:creationId xmlns:a16="http://schemas.microsoft.com/office/drawing/2014/main" id="{5A66A32E-7D89-C01B-5515-708067149ADC}"/>
              </a:ext>
            </a:extLst>
          </p:cNvPr>
          <p:cNvSpPr/>
          <p:nvPr/>
        </p:nvSpPr>
        <p:spPr bwMode="gray">
          <a:xfrm>
            <a:off x="305378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4" name="Gefaltete Ecke 6">
            <a:extLst>
              <a:ext uri="{FF2B5EF4-FFF2-40B4-BE49-F238E27FC236}">
                <a16:creationId xmlns:a16="http://schemas.microsoft.com/office/drawing/2014/main" id="{310ADA2A-B47C-CF71-2E0D-61F0A3F1055F}"/>
              </a:ext>
            </a:extLst>
          </p:cNvPr>
          <p:cNvSpPr/>
          <p:nvPr/>
        </p:nvSpPr>
        <p:spPr bwMode="gray">
          <a:xfrm>
            <a:off x="4992834"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2" name="Gefaltete Ecke 6">
            <a:extLst>
              <a:ext uri="{FF2B5EF4-FFF2-40B4-BE49-F238E27FC236}">
                <a16:creationId xmlns:a16="http://schemas.microsoft.com/office/drawing/2014/main" id="{613BAAE4-3558-73DD-48C3-F88267BD05B4}"/>
              </a:ext>
            </a:extLst>
          </p:cNvPr>
          <p:cNvSpPr/>
          <p:nvPr/>
        </p:nvSpPr>
        <p:spPr bwMode="gray">
          <a:xfrm>
            <a:off x="656068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9" name="Gefaltete Ecke 6">
            <a:extLst>
              <a:ext uri="{FF2B5EF4-FFF2-40B4-BE49-F238E27FC236}">
                <a16:creationId xmlns:a16="http://schemas.microsoft.com/office/drawing/2014/main" id="{B3219065-526A-E4E1-8B38-049E99DB00DD}"/>
              </a:ext>
            </a:extLst>
          </p:cNvPr>
          <p:cNvSpPr/>
          <p:nvPr/>
        </p:nvSpPr>
        <p:spPr bwMode="gray">
          <a:xfrm>
            <a:off x="850134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7" name="Gefaltete Ecke 6">
            <a:extLst>
              <a:ext uri="{FF2B5EF4-FFF2-40B4-BE49-F238E27FC236}">
                <a16:creationId xmlns:a16="http://schemas.microsoft.com/office/drawing/2014/main" id="{D57D1F43-2D77-4412-DF3A-CD8BDB2F47E7}"/>
              </a:ext>
            </a:extLst>
          </p:cNvPr>
          <p:cNvSpPr/>
          <p:nvPr/>
        </p:nvSpPr>
        <p:spPr bwMode="gray">
          <a:xfrm>
            <a:off x="1006920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0" name="Gefaltete Ecke 6">
            <a:extLst>
              <a:ext uri="{FF2B5EF4-FFF2-40B4-BE49-F238E27FC236}">
                <a16:creationId xmlns:a16="http://schemas.microsoft.com/office/drawing/2014/main" id="{66A35009-D75C-A572-B038-471D9C437E18}"/>
              </a:ext>
            </a:extLst>
          </p:cNvPr>
          <p:cNvSpPr/>
          <p:nvPr/>
        </p:nvSpPr>
        <p:spPr bwMode="gray">
          <a:xfrm>
            <a:off x="501650" y="3230128"/>
            <a:ext cx="58853" cy="896919"/>
          </a:xfrm>
          <a:prstGeom prst="rect">
            <a:avLst/>
          </a:prstGeom>
          <a:solidFill>
            <a:srgbClr val="FFC933"/>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88" name="Gefaltete Ecke 6">
            <a:extLst>
              <a:ext uri="{FF2B5EF4-FFF2-40B4-BE49-F238E27FC236}">
                <a16:creationId xmlns:a16="http://schemas.microsoft.com/office/drawing/2014/main" id="{CD52B292-FB64-221A-C62A-AE0B79E23E5D}"/>
              </a:ext>
            </a:extLst>
          </p:cNvPr>
          <p:cNvSpPr/>
          <p:nvPr/>
        </p:nvSpPr>
        <p:spPr bwMode="gray">
          <a:xfrm>
            <a:off x="1485927"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6" name="Gefaltete Ecke 6">
            <a:extLst>
              <a:ext uri="{FF2B5EF4-FFF2-40B4-BE49-F238E27FC236}">
                <a16:creationId xmlns:a16="http://schemas.microsoft.com/office/drawing/2014/main" id="{ED370D7F-472D-2029-A909-C7500226B142}"/>
              </a:ext>
            </a:extLst>
          </p:cNvPr>
          <p:cNvSpPr/>
          <p:nvPr/>
        </p:nvSpPr>
        <p:spPr bwMode="gray">
          <a:xfrm>
            <a:off x="3053780"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8" name="Gefaltete Ecke 6">
            <a:extLst>
              <a:ext uri="{FF2B5EF4-FFF2-40B4-BE49-F238E27FC236}">
                <a16:creationId xmlns:a16="http://schemas.microsoft.com/office/drawing/2014/main" id="{511DB86C-496E-904E-9D41-3CBA76C8A9D5}"/>
              </a:ext>
            </a:extLst>
          </p:cNvPr>
          <p:cNvSpPr/>
          <p:nvPr/>
        </p:nvSpPr>
        <p:spPr bwMode="gray">
          <a:xfrm>
            <a:off x="502344" y="4185517"/>
            <a:ext cx="58853" cy="896917"/>
          </a:xfrm>
          <a:prstGeom prst="rect">
            <a:avLst/>
          </a:prstGeom>
          <a:solidFill>
            <a:srgbClr val="1B90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1" name="Rounded Rectangle 2">
            <a:extLst>
              <a:ext uri="{FF2B5EF4-FFF2-40B4-BE49-F238E27FC236}">
                <a16:creationId xmlns:a16="http://schemas.microsoft.com/office/drawing/2014/main" id="{DC670EF5-C9C5-C66B-4685-8A76A3AD5EA2}"/>
              </a:ext>
            </a:extLst>
          </p:cNvPr>
          <p:cNvSpPr/>
          <p:nvPr/>
        </p:nvSpPr>
        <p:spPr bwMode="gray">
          <a:xfrm>
            <a:off x="4992834"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1.3</a:t>
            </a:r>
          </a:p>
        </p:txBody>
      </p:sp>
      <p:sp>
        <p:nvSpPr>
          <p:cNvPr id="13" name="Rounded Rectangle 2">
            <a:extLst>
              <a:ext uri="{FF2B5EF4-FFF2-40B4-BE49-F238E27FC236}">
                <a16:creationId xmlns:a16="http://schemas.microsoft.com/office/drawing/2014/main" id="{C408F4D7-6B6F-41BD-82EE-438EAFA2F56C}"/>
              </a:ext>
            </a:extLst>
          </p:cNvPr>
          <p:cNvSpPr/>
          <p:nvPr/>
        </p:nvSpPr>
        <p:spPr bwMode="gray">
          <a:xfrm>
            <a:off x="8501347"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1.4</a:t>
            </a:r>
          </a:p>
        </p:txBody>
      </p:sp>
      <p:sp>
        <p:nvSpPr>
          <p:cNvPr id="14" name="Rounded Rectangle 2">
            <a:extLst>
              <a:ext uri="{FF2B5EF4-FFF2-40B4-BE49-F238E27FC236}">
                <a16:creationId xmlns:a16="http://schemas.microsoft.com/office/drawing/2014/main" id="{6DFEA18A-0081-F994-099F-614CACA733AA}"/>
              </a:ext>
            </a:extLst>
          </p:cNvPr>
          <p:cNvSpPr/>
          <p:nvPr/>
        </p:nvSpPr>
        <p:spPr bwMode="gray">
          <a:xfrm>
            <a:off x="1484319" y="974710"/>
            <a:ext cx="3061607"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1.2</a:t>
            </a:r>
          </a:p>
        </p:txBody>
      </p:sp>
    </p:spTree>
    <p:extLst>
      <p:ext uri="{BB962C8B-B14F-4D97-AF65-F5344CB8AC3E}">
        <p14:creationId xmlns:p14="http://schemas.microsoft.com/office/powerpoint/2010/main" val="3216563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43CEB-A43F-F1F7-3C94-0D41A5B11B8A}"/>
            </a:ext>
          </a:extLst>
        </p:cNvPr>
        <p:cNvGrpSpPr/>
        <p:nvPr/>
      </p:nvGrpSpPr>
      <p:grpSpPr>
        <a:xfrm>
          <a:off x="0" y="0"/>
          <a:ext cx="0" cy="0"/>
          <a:chOff x="0" y="0"/>
          <a:chExt cx="0" cy="0"/>
        </a:xfrm>
      </p:grpSpPr>
      <p:sp>
        <p:nvSpPr>
          <p:cNvPr id="12" name="Titel 11">
            <a:extLst>
              <a:ext uri="{FF2B5EF4-FFF2-40B4-BE49-F238E27FC236}">
                <a16:creationId xmlns:a16="http://schemas.microsoft.com/office/drawing/2014/main" id="{2EFB04EE-6563-3997-722C-2F8540786FF7}"/>
              </a:ext>
            </a:extLst>
          </p:cNvPr>
          <p:cNvSpPr>
            <a:spLocks noGrp="1"/>
          </p:cNvSpPr>
          <p:nvPr>
            <p:ph type="title"/>
          </p:nvPr>
        </p:nvSpPr>
        <p:spPr>
          <a:xfrm>
            <a:off x="504001" y="504000"/>
            <a:ext cx="11186476" cy="307777"/>
          </a:xfrm>
        </p:spPr>
        <p:txBody>
          <a:bodyPr/>
          <a:lstStyle/>
          <a:p>
            <a:pPr defTabSz="914400" fontAlgn="base">
              <a:spcBef>
                <a:spcPct val="50000"/>
              </a:spcBef>
              <a:spcAft>
                <a:spcPct val="0"/>
              </a:spcAft>
              <a:buClr>
                <a:srgbClr val="F0AB00"/>
              </a:buClr>
              <a:buSzPct val="80000"/>
            </a:pPr>
            <a:r>
              <a:rPr lang="en-US" sz="2000" dirty="0"/>
              <a:t>Extension Technology per Extension Task Mapping - Scene 03: Sales Order approval</a:t>
            </a:r>
          </a:p>
        </p:txBody>
      </p:sp>
      <p:sp>
        <p:nvSpPr>
          <p:cNvPr id="171" name="Rechteck 28">
            <a:extLst>
              <a:ext uri="{FF2B5EF4-FFF2-40B4-BE49-F238E27FC236}">
                <a16:creationId xmlns:a16="http://schemas.microsoft.com/office/drawing/2014/main" id="{BEDEBF9E-A596-1C8A-8C1E-CAEBD26F134F}"/>
              </a:ext>
            </a:extLst>
          </p:cNvPr>
          <p:cNvSpPr/>
          <p:nvPr/>
        </p:nvSpPr>
        <p:spPr bwMode="gray">
          <a:xfrm>
            <a:off x="1340321"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1</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72" name="Gefaltete Ecke 13">
            <a:extLst>
              <a:ext uri="{FF2B5EF4-FFF2-40B4-BE49-F238E27FC236}">
                <a16:creationId xmlns:a16="http://schemas.microsoft.com/office/drawing/2014/main" id="{DA6BA110-9535-1FBB-EE90-B37FE98885C6}"/>
              </a:ext>
            </a:extLst>
          </p:cNvPr>
          <p:cNvSpPr/>
          <p:nvPr/>
        </p:nvSpPr>
        <p:spPr bwMode="gray">
          <a:xfrm>
            <a:off x="1484320" y="1574264"/>
            <a:ext cx="3061607"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dirty="0">
                <a:latin typeface="72 Brand" panose="020B0504030603020204" pitchFamily="34" charset="0"/>
                <a:ea typeface="Arial Unicode MS" pitchFamily="34" charset="-128"/>
                <a:cs typeface="Arial Unicode MS" pitchFamily="34" charset="-128"/>
              </a:rPr>
              <a:t>Scene 03:</a:t>
            </a:r>
          </a:p>
          <a:p>
            <a:pPr algn="ctr" defTabSz="914400" fontAlgn="base">
              <a:spcBef>
                <a:spcPct val="50000"/>
              </a:spcBef>
              <a:spcAft>
                <a:spcPct val="0"/>
              </a:spcAft>
              <a:buClr>
                <a:srgbClr val="F0AB00"/>
              </a:buClr>
              <a:buSzPct val="80000"/>
            </a:pPr>
            <a:r>
              <a:rPr lang="en-US" sz="900" b="1" kern="0" dirty="0">
                <a:latin typeface="72 Brand" panose="020B0504030603020204" pitchFamily="34" charset="0"/>
                <a:ea typeface="Arial Unicode MS" pitchFamily="34" charset="-128"/>
                <a:cs typeface="Arial Unicode MS" pitchFamily="34" charset="-128"/>
              </a:rPr>
              <a:t>Sales Order approval process </a:t>
            </a:r>
          </a:p>
        </p:txBody>
      </p:sp>
      <p:sp>
        <p:nvSpPr>
          <p:cNvPr id="195" name="Gefaltete Ecke 6">
            <a:extLst>
              <a:ext uri="{FF2B5EF4-FFF2-40B4-BE49-F238E27FC236}">
                <a16:creationId xmlns:a16="http://schemas.microsoft.com/office/drawing/2014/main" id="{E472A94B-F204-9A5A-B682-6EAC19F27ACD}"/>
              </a:ext>
            </a:extLst>
          </p:cNvPr>
          <p:cNvSpPr/>
          <p:nvPr/>
        </p:nvSpPr>
        <p:spPr bwMode="gray">
          <a:xfrm>
            <a:off x="3094044"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manager approves or rejects sales order</a:t>
            </a:r>
          </a:p>
        </p:txBody>
      </p:sp>
      <p:sp>
        <p:nvSpPr>
          <p:cNvPr id="191" name="Gefaltete Ecke 6">
            <a:extLst>
              <a:ext uri="{FF2B5EF4-FFF2-40B4-BE49-F238E27FC236}">
                <a16:creationId xmlns:a16="http://schemas.microsoft.com/office/drawing/2014/main" id="{2E34F2B5-F449-44C3-FF6E-39C2B868C48F}"/>
              </a:ext>
            </a:extLst>
          </p:cNvPr>
          <p:cNvSpPr/>
          <p:nvPr/>
        </p:nvSpPr>
        <p:spPr bwMode="gray">
          <a:xfrm>
            <a:off x="309404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defRPr/>
            </a:pPr>
            <a:r>
              <a:rPr lang="en-US" sz="1050" dirty="0">
                <a:latin typeface="72 Brand" panose="020B0504030603020204" pitchFamily="34" charset="0"/>
                <a:cs typeface="Arial" panose="020B0604020202020204" pitchFamily="34" charset="0"/>
              </a:rPr>
              <a:t>Sales order approve or reject form</a:t>
            </a:r>
          </a:p>
        </p:txBody>
      </p:sp>
      <p:sp>
        <p:nvSpPr>
          <p:cNvPr id="189" name="Gefaltete Ecke 6">
            <a:extLst>
              <a:ext uri="{FF2B5EF4-FFF2-40B4-BE49-F238E27FC236}">
                <a16:creationId xmlns:a16="http://schemas.microsoft.com/office/drawing/2014/main" id="{B1B21E01-0C41-C490-2588-E5F8319EF872}"/>
              </a:ext>
            </a:extLst>
          </p:cNvPr>
          <p:cNvSpPr/>
          <p:nvPr/>
        </p:nvSpPr>
        <p:spPr bwMode="gray">
          <a:xfrm>
            <a:off x="1526191"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7" name="Gefaltete Ecke 6">
            <a:extLst>
              <a:ext uri="{FF2B5EF4-FFF2-40B4-BE49-F238E27FC236}">
                <a16:creationId xmlns:a16="http://schemas.microsoft.com/office/drawing/2014/main" id="{A07DA3A2-3C67-4973-FB45-982761B3CA6A}"/>
              </a:ext>
            </a:extLst>
          </p:cNvPr>
          <p:cNvSpPr/>
          <p:nvPr/>
        </p:nvSpPr>
        <p:spPr bwMode="gray">
          <a:xfrm>
            <a:off x="3094044"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2" name="Gefaltete Ecke 6">
            <a:extLst>
              <a:ext uri="{FF2B5EF4-FFF2-40B4-BE49-F238E27FC236}">
                <a16:creationId xmlns:a16="http://schemas.microsoft.com/office/drawing/2014/main" id="{58CBAD4E-3225-E83A-74CA-B086B096A272}"/>
              </a:ext>
            </a:extLst>
          </p:cNvPr>
          <p:cNvSpPr/>
          <p:nvPr/>
        </p:nvSpPr>
        <p:spPr bwMode="gray">
          <a:xfrm>
            <a:off x="3053780"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3" name="Gefaltete Ecke 6">
            <a:extLst>
              <a:ext uri="{FF2B5EF4-FFF2-40B4-BE49-F238E27FC236}">
                <a16:creationId xmlns:a16="http://schemas.microsoft.com/office/drawing/2014/main" id="{A149E761-7E19-A6A8-8961-3B53EE3851ED}"/>
              </a:ext>
            </a:extLst>
          </p:cNvPr>
          <p:cNvSpPr/>
          <p:nvPr/>
        </p:nvSpPr>
        <p:spPr bwMode="gray">
          <a:xfrm>
            <a:off x="3094044"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a:t>
            </a:r>
          </a:p>
        </p:txBody>
      </p:sp>
      <p:sp>
        <p:nvSpPr>
          <p:cNvPr id="198" name="Rechteck 28">
            <a:extLst>
              <a:ext uri="{FF2B5EF4-FFF2-40B4-BE49-F238E27FC236}">
                <a16:creationId xmlns:a16="http://schemas.microsoft.com/office/drawing/2014/main" id="{6E41553F-72CD-C602-DB5C-862520EAE2BF}"/>
              </a:ext>
            </a:extLst>
          </p:cNvPr>
          <p:cNvSpPr/>
          <p:nvPr/>
        </p:nvSpPr>
        <p:spPr bwMode="gray">
          <a:xfrm>
            <a:off x="4848834"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2</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99" name="Gefaltete Ecke 13">
            <a:extLst>
              <a:ext uri="{FF2B5EF4-FFF2-40B4-BE49-F238E27FC236}">
                <a16:creationId xmlns:a16="http://schemas.microsoft.com/office/drawing/2014/main" id="{3C24EC3A-8BCB-F974-215F-ABF51B6C7423}"/>
              </a:ext>
            </a:extLst>
          </p:cNvPr>
          <p:cNvSpPr/>
          <p:nvPr/>
        </p:nvSpPr>
        <p:spPr bwMode="gray">
          <a:xfrm>
            <a:off x="4992834"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Extension tasks</a:t>
            </a:r>
          </a:p>
        </p:txBody>
      </p:sp>
      <p:sp>
        <p:nvSpPr>
          <p:cNvPr id="200" name="Gefaltete Ecke 13">
            <a:extLst>
              <a:ext uri="{FF2B5EF4-FFF2-40B4-BE49-F238E27FC236}">
                <a16:creationId xmlns:a16="http://schemas.microsoft.com/office/drawing/2014/main" id="{17EA357D-C3F0-1738-7AE6-FC9E25A9194B}"/>
              </a:ext>
            </a:extLst>
          </p:cNvPr>
          <p:cNvSpPr/>
          <p:nvPr/>
        </p:nvSpPr>
        <p:spPr bwMode="gray">
          <a:xfrm>
            <a:off x="8501347"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Technical extension building blocks</a:t>
            </a:r>
          </a:p>
        </p:txBody>
      </p:sp>
      <p:sp>
        <p:nvSpPr>
          <p:cNvPr id="201" name="Rechteck 28">
            <a:extLst>
              <a:ext uri="{FF2B5EF4-FFF2-40B4-BE49-F238E27FC236}">
                <a16:creationId xmlns:a16="http://schemas.microsoft.com/office/drawing/2014/main" id="{6B633B18-6CB2-11EA-4F7E-12BCDE31920E}"/>
              </a:ext>
            </a:extLst>
          </p:cNvPr>
          <p:cNvSpPr/>
          <p:nvPr/>
        </p:nvSpPr>
        <p:spPr bwMode="gray">
          <a:xfrm>
            <a:off x="8357347"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3</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249" name="Gefaltete Ecke 6">
            <a:extLst>
              <a:ext uri="{FF2B5EF4-FFF2-40B4-BE49-F238E27FC236}">
                <a16:creationId xmlns:a16="http://schemas.microsoft.com/office/drawing/2014/main" id="{D2EDEB0F-ADD7-D9EC-B14E-59713E1664D4}"/>
              </a:ext>
            </a:extLst>
          </p:cNvPr>
          <p:cNvSpPr/>
          <p:nvPr/>
        </p:nvSpPr>
        <p:spPr bwMode="gray">
          <a:xfrm>
            <a:off x="5033098"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latin typeface="72 Brand" panose="020B0504030603020204" pitchFamily="34" charset="0"/>
              <a:cs typeface="72" panose="020B0503030000000003" pitchFamily="34" charset="0"/>
            </a:endParaRPr>
          </a:p>
        </p:txBody>
      </p:sp>
      <p:sp>
        <p:nvSpPr>
          <p:cNvPr id="245" name="Gefaltete Ecke 6">
            <a:extLst>
              <a:ext uri="{FF2B5EF4-FFF2-40B4-BE49-F238E27FC236}">
                <a16:creationId xmlns:a16="http://schemas.microsoft.com/office/drawing/2014/main" id="{2C0C7E8B-B1AD-98FA-BB8B-5666D5C4F1B0}"/>
              </a:ext>
            </a:extLst>
          </p:cNvPr>
          <p:cNvSpPr/>
          <p:nvPr/>
        </p:nvSpPr>
        <p:spPr bwMode="gray">
          <a:xfrm>
            <a:off x="5033098"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latin typeface="72 Brand" panose="020B0504030603020204" pitchFamily="34" charset="0"/>
              <a:cs typeface="72" panose="020B0503030000000003" pitchFamily="34" charset="0"/>
            </a:endParaRPr>
          </a:p>
        </p:txBody>
      </p:sp>
      <p:sp>
        <p:nvSpPr>
          <p:cNvPr id="243" name="Gefaltete Ecke 6">
            <a:extLst>
              <a:ext uri="{FF2B5EF4-FFF2-40B4-BE49-F238E27FC236}">
                <a16:creationId xmlns:a16="http://schemas.microsoft.com/office/drawing/2014/main" id="{2878394D-1AC3-5C98-7568-A56BB08FB9B6}"/>
              </a:ext>
            </a:extLst>
          </p:cNvPr>
          <p:cNvSpPr/>
          <p:nvPr/>
        </p:nvSpPr>
        <p:spPr bwMode="gray">
          <a:xfrm>
            <a:off x="660095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latin typeface="72 Brand" panose="020B0504030603020204" pitchFamily="34" charset="0"/>
              <a:cs typeface="72" panose="020B0503030000000003" pitchFamily="34" charset="0"/>
            </a:endParaRPr>
          </a:p>
        </p:txBody>
      </p:sp>
      <p:sp>
        <p:nvSpPr>
          <p:cNvPr id="274" name="Gefaltete Ecke 6">
            <a:extLst>
              <a:ext uri="{FF2B5EF4-FFF2-40B4-BE49-F238E27FC236}">
                <a16:creationId xmlns:a16="http://schemas.microsoft.com/office/drawing/2014/main" id="{32B2D564-D720-0AB8-DA19-F354DDC5CF24}"/>
              </a:ext>
            </a:extLst>
          </p:cNvPr>
          <p:cNvSpPr/>
          <p:nvPr/>
        </p:nvSpPr>
        <p:spPr bwMode="gray">
          <a:xfrm>
            <a:off x="8541611"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270" name="Gefaltete Ecke 6">
            <a:extLst>
              <a:ext uri="{FF2B5EF4-FFF2-40B4-BE49-F238E27FC236}">
                <a16:creationId xmlns:a16="http://schemas.microsoft.com/office/drawing/2014/main" id="{155BBE5F-0786-E952-F64D-B5F241F6D937}"/>
              </a:ext>
            </a:extLst>
          </p:cNvPr>
          <p:cNvSpPr/>
          <p:nvPr/>
        </p:nvSpPr>
        <p:spPr bwMode="gray">
          <a:xfrm>
            <a:off x="854161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268" name="Gefaltete Ecke 6">
            <a:extLst>
              <a:ext uri="{FF2B5EF4-FFF2-40B4-BE49-F238E27FC236}">
                <a16:creationId xmlns:a16="http://schemas.microsoft.com/office/drawing/2014/main" id="{D6B3B205-A360-CF7C-A629-242603121360}"/>
              </a:ext>
            </a:extLst>
          </p:cNvPr>
          <p:cNvSpPr/>
          <p:nvPr/>
        </p:nvSpPr>
        <p:spPr bwMode="gray">
          <a:xfrm>
            <a:off x="1010946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31" name="Gefaltete Ecke 7">
            <a:extLst>
              <a:ext uri="{FF2B5EF4-FFF2-40B4-BE49-F238E27FC236}">
                <a16:creationId xmlns:a16="http://schemas.microsoft.com/office/drawing/2014/main" id="{89D8026B-B760-3257-D9AD-9012585D7C12}"/>
              </a:ext>
            </a:extLst>
          </p:cNvPr>
          <p:cNvSpPr>
            <a:spLocks/>
          </p:cNvSpPr>
          <p:nvPr/>
        </p:nvSpPr>
        <p:spPr bwMode="gray">
          <a:xfrm>
            <a:off x="501651" y="2273212"/>
            <a:ext cx="722700" cy="898971"/>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Actions</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9" name="Gefaltete Ecke 8">
            <a:extLst>
              <a:ext uri="{FF2B5EF4-FFF2-40B4-BE49-F238E27FC236}">
                <a16:creationId xmlns:a16="http://schemas.microsoft.com/office/drawing/2014/main" id="{C22732F5-EA51-0719-60EB-AA74B4ADD77D}"/>
              </a:ext>
            </a:extLst>
          </p:cNvPr>
          <p:cNvSpPr>
            <a:spLocks/>
          </p:cNvSpPr>
          <p:nvPr/>
        </p:nvSpPr>
        <p:spPr bwMode="gray">
          <a:xfrm>
            <a:off x="501650" y="3229618"/>
            <a:ext cx="722699" cy="897944"/>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Application Logic</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7" name="Gefaltete Ecke 9">
            <a:extLst>
              <a:ext uri="{FF2B5EF4-FFF2-40B4-BE49-F238E27FC236}">
                <a16:creationId xmlns:a16="http://schemas.microsoft.com/office/drawing/2014/main" id="{1F1E3E44-2C47-729F-C733-B6B3C25EEE01}"/>
              </a:ext>
            </a:extLst>
          </p:cNvPr>
          <p:cNvSpPr>
            <a:spLocks/>
          </p:cNvSpPr>
          <p:nvPr/>
        </p:nvSpPr>
        <p:spPr bwMode="gray">
          <a:xfrm>
            <a:off x="501650" y="4184997"/>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System</a:t>
            </a:r>
            <a:endParaRPr kumimoji="0" lang="en-US" sz="700" u="none" strike="noStrike" kern="0" cap="none" spc="0" normalizeH="0" baseline="0" noProof="0" err="1">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5" name="Gefaltete Ecke 10">
            <a:extLst>
              <a:ext uri="{FF2B5EF4-FFF2-40B4-BE49-F238E27FC236}">
                <a16:creationId xmlns:a16="http://schemas.microsoft.com/office/drawing/2014/main" id="{4C9C0570-C49C-7BE3-892B-3F826C251851}"/>
              </a:ext>
            </a:extLst>
          </p:cNvPr>
          <p:cNvSpPr>
            <a:spLocks/>
          </p:cNvSpPr>
          <p:nvPr/>
        </p:nvSpPr>
        <p:spPr bwMode="gray">
          <a:xfrm>
            <a:off x="501650" y="5140375"/>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Required </a:t>
            </a:r>
            <a:br>
              <a:rPr lang="en-US" sz="700" kern="0">
                <a:solidFill>
                  <a:srgbClr val="12171C"/>
                </a:solidFill>
                <a:latin typeface="72 Brand Medium" panose="020B0504030603020204" pitchFamily="34" charset="0"/>
                <a:ea typeface="Arial Unicode MS" pitchFamily="34" charset="-128"/>
                <a:cs typeface="72" panose="020B0503030000000003" pitchFamily="34" charset="0"/>
              </a:rPr>
            </a:br>
            <a:r>
              <a:rPr lang="en-US" sz="700" kern="0">
                <a:solidFill>
                  <a:srgbClr val="12171C"/>
                </a:solidFill>
                <a:latin typeface="72 Brand Medium" panose="020B0504030603020204" pitchFamily="34" charset="0"/>
                <a:ea typeface="Arial Unicode MS" pitchFamily="34" charset="-128"/>
                <a:cs typeface="72" panose="020B0503030000000003" pitchFamily="34" charset="0"/>
              </a:rPr>
              <a:t>Data</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6" name="Gefaltete Ecke 6">
            <a:extLst>
              <a:ext uri="{FF2B5EF4-FFF2-40B4-BE49-F238E27FC236}">
                <a16:creationId xmlns:a16="http://schemas.microsoft.com/office/drawing/2014/main" id="{6CB0E687-F274-BEF9-EAA0-5FAF8E12424C}"/>
              </a:ext>
            </a:extLst>
          </p:cNvPr>
          <p:cNvSpPr/>
          <p:nvPr/>
        </p:nvSpPr>
        <p:spPr bwMode="gray">
          <a:xfrm>
            <a:off x="501650" y="5140907"/>
            <a:ext cx="58853" cy="896917"/>
          </a:xfrm>
          <a:prstGeom prst="rect">
            <a:avLst/>
          </a:prstGeom>
          <a:solidFill>
            <a:srgbClr val="7858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grpSp>
        <p:nvGrpSpPr>
          <p:cNvPr id="9" name="Group 8">
            <a:extLst>
              <a:ext uri="{FF2B5EF4-FFF2-40B4-BE49-F238E27FC236}">
                <a16:creationId xmlns:a16="http://schemas.microsoft.com/office/drawing/2014/main" id="{9736DBBA-6E78-3E02-3E13-50D40CAEE612}"/>
              </a:ext>
            </a:extLst>
          </p:cNvPr>
          <p:cNvGrpSpPr/>
          <p:nvPr/>
        </p:nvGrpSpPr>
        <p:grpSpPr>
          <a:xfrm>
            <a:off x="1485927" y="2273213"/>
            <a:ext cx="1492147" cy="900000"/>
            <a:chOff x="1485927" y="2273213"/>
            <a:chExt cx="1492147" cy="900000"/>
          </a:xfrm>
        </p:grpSpPr>
        <p:sp>
          <p:nvSpPr>
            <p:cNvPr id="197" name="Gefaltete Ecke 6">
              <a:extLst>
                <a:ext uri="{FF2B5EF4-FFF2-40B4-BE49-F238E27FC236}">
                  <a16:creationId xmlns:a16="http://schemas.microsoft.com/office/drawing/2014/main" id="{01FFD4AF-DD9C-BC34-D954-AD5271D14F4F}"/>
                </a:ext>
              </a:extLst>
            </p:cNvPr>
            <p:cNvSpPr/>
            <p:nvPr/>
          </p:nvSpPr>
          <p:spPr bwMode="gray">
            <a:xfrm>
              <a:off x="1526191"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defRPr/>
              </a:pPr>
              <a:r>
                <a:rPr lang="en-US" sz="1050" dirty="0">
                  <a:latin typeface="72 Brand" panose="020B0504030603020204" pitchFamily="34" charset="0"/>
                  <a:cs typeface="Arial" panose="020B0604020202020204" pitchFamily="34" charset="0"/>
                </a:rPr>
                <a:t>Sales manager enters free-text message to buyer</a:t>
              </a:r>
            </a:p>
          </p:txBody>
        </p:sp>
        <p:sp>
          <p:nvSpPr>
            <p:cNvPr id="196" name="Gefaltete Ecke 6">
              <a:extLst>
                <a:ext uri="{FF2B5EF4-FFF2-40B4-BE49-F238E27FC236}">
                  <a16:creationId xmlns:a16="http://schemas.microsoft.com/office/drawing/2014/main" id="{7954680F-4175-04C6-AB81-68494A6CE626}"/>
                </a:ext>
              </a:extLst>
            </p:cNvPr>
            <p:cNvSpPr/>
            <p:nvPr/>
          </p:nvSpPr>
          <p:spPr bwMode="gray">
            <a:xfrm>
              <a:off x="148592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grpSp>
      <p:sp>
        <p:nvSpPr>
          <p:cNvPr id="194" name="Gefaltete Ecke 6">
            <a:extLst>
              <a:ext uri="{FF2B5EF4-FFF2-40B4-BE49-F238E27FC236}">
                <a16:creationId xmlns:a16="http://schemas.microsoft.com/office/drawing/2014/main" id="{B70527EB-B1E4-8101-4CA4-F56605C2FCAB}"/>
              </a:ext>
            </a:extLst>
          </p:cNvPr>
          <p:cNvSpPr/>
          <p:nvPr/>
        </p:nvSpPr>
        <p:spPr bwMode="gray">
          <a:xfrm>
            <a:off x="3053780"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8" name="Gefaltete Ecke 6">
            <a:extLst>
              <a:ext uri="{FF2B5EF4-FFF2-40B4-BE49-F238E27FC236}">
                <a16:creationId xmlns:a16="http://schemas.microsoft.com/office/drawing/2014/main" id="{8EFE071D-0DA1-4F12-5757-449620D14FEC}"/>
              </a:ext>
            </a:extLst>
          </p:cNvPr>
          <p:cNvSpPr/>
          <p:nvPr/>
        </p:nvSpPr>
        <p:spPr bwMode="gray">
          <a:xfrm>
            <a:off x="4992834"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73" name="Gefaltete Ecke 6">
            <a:extLst>
              <a:ext uri="{FF2B5EF4-FFF2-40B4-BE49-F238E27FC236}">
                <a16:creationId xmlns:a16="http://schemas.microsoft.com/office/drawing/2014/main" id="{B0BA228C-F57D-51F5-FA5E-BD8D7D2E1A4D}"/>
              </a:ext>
            </a:extLst>
          </p:cNvPr>
          <p:cNvSpPr/>
          <p:nvPr/>
        </p:nvSpPr>
        <p:spPr bwMode="gray">
          <a:xfrm>
            <a:off x="850134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2" name="Gefaltete Ecke 6">
            <a:extLst>
              <a:ext uri="{FF2B5EF4-FFF2-40B4-BE49-F238E27FC236}">
                <a16:creationId xmlns:a16="http://schemas.microsoft.com/office/drawing/2014/main" id="{98C546E6-77CD-7A86-5E2A-81AD00F68490}"/>
              </a:ext>
            </a:extLst>
          </p:cNvPr>
          <p:cNvSpPr/>
          <p:nvPr/>
        </p:nvSpPr>
        <p:spPr bwMode="gray">
          <a:xfrm>
            <a:off x="501650" y="2273213"/>
            <a:ext cx="58853" cy="897944"/>
          </a:xfrm>
          <a:prstGeom prst="rect">
            <a:avLst/>
          </a:prstGeom>
          <a:solidFill>
            <a:srgbClr val="97DD40"/>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90" name="Gefaltete Ecke 6">
            <a:extLst>
              <a:ext uri="{FF2B5EF4-FFF2-40B4-BE49-F238E27FC236}">
                <a16:creationId xmlns:a16="http://schemas.microsoft.com/office/drawing/2014/main" id="{CFBDCF17-2610-2E90-6512-65C4E8873461}"/>
              </a:ext>
            </a:extLst>
          </p:cNvPr>
          <p:cNvSpPr/>
          <p:nvPr/>
        </p:nvSpPr>
        <p:spPr bwMode="gray">
          <a:xfrm>
            <a:off x="305378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4" name="Gefaltete Ecke 6">
            <a:extLst>
              <a:ext uri="{FF2B5EF4-FFF2-40B4-BE49-F238E27FC236}">
                <a16:creationId xmlns:a16="http://schemas.microsoft.com/office/drawing/2014/main" id="{0DC08160-E171-DEF4-2767-4830C68CA2BA}"/>
              </a:ext>
            </a:extLst>
          </p:cNvPr>
          <p:cNvSpPr/>
          <p:nvPr/>
        </p:nvSpPr>
        <p:spPr bwMode="gray">
          <a:xfrm>
            <a:off x="4992834"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2" name="Gefaltete Ecke 6">
            <a:extLst>
              <a:ext uri="{FF2B5EF4-FFF2-40B4-BE49-F238E27FC236}">
                <a16:creationId xmlns:a16="http://schemas.microsoft.com/office/drawing/2014/main" id="{B6D8888A-376E-5611-14D2-1DA75501A59A}"/>
              </a:ext>
            </a:extLst>
          </p:cNvPr>
          <p:cNvSpPr/>
          <p:nvPr/>
        </p:nvSpPr>
        <p:spPr bwMode="gray">
          <a:xfrm>
            <a:off x="656068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9" name="Gefaltete Ecke 6">
            <a:extLst>
              <a:ext uri="{FF2B5EF4-FFF2-40B4-BE49-F238E27FC236}">
                <a16:creationId xmlns:a16="http://schemas.microsoft.com/office/drawing/2014/main" id="{1D9463AF-4E1B-57AA-68FC-E4CE5EF915CA}"/>
              </a:ext>
            </a:extLst>
          </p:cNvPr>
          <p:cNvSpPr/>
          <p:nvPr/>
        </p:nvSpPr>
        <p:spPr bwMode="gray">
          <a:xfrm>
            <a:off x="850134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7" name="Gefaltete Ecke 6">
            <a:extLst>
              <a:ext uri="{FF2B5EF4-FFF2-40B4-BE49-F238E27FC236}">
                <a16:creationId xmlns:a16="http://schemas.microsoft.com/office/drawing/2014/main" id="{63302C4E-4ACE-AB56-FFDB-81C0E02FE8F0}"/>
              </a:ext>
            </a:extLst>
          </p:cNvPr>
          <p:cNvSpPr/>
          <p:nvPr/>
        </p:nvSpPr>
        <p:spPr bwMode="gray">
          <a:xfrm>
            <a:off x="1006920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0" name="Gefaltete Ecke 6">
            <a:extLst>
              <a:ext uri="{FF2B5EF4-FFF2-40B4-BE49-F238E27FC236}">
                <a16:creationId xmlns:a16="http://schemas.microsoft.com/office/drawing/2014/main" id="{5DC5C42E-144A-55A4-DAAD-7DEE34C8FA22}"/>
              </a:ext>
            </a:extLst>
          </p:cNvPr>
          <p:cNvSpPr/>
          <p:nvPr/>
        </p:nvSpPr>
        <p:spPr bwMode="gray">
          <a:xfrm>
            <a:off x="501650" y="3230128"/>
            <a:ext cx="58853" cy="896919"/>
          </a:xfrm>
          <a:prstGeom prst="rect">
            <a:avLst/>
          </a:prstGeom>
          <a:solidFill>
            <a:srgbClr val="FFC933"/>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88" name="Gefaltete Ecke 6">
            <a:extLst>
              <a:ext uri="{FF2B5EF4-FFF2-40B4-BE49-F238E27FC236}">
                <a16:creationId xmlns:a16="http://schemas.microsoft.com/office/drawing/2014/main" id="{02D9BB68-4D1D-8517-FC18-89FBA4EC0E29}"/>
              </a:ext>
            </a:extLst>
          </p:cNvPr>
          <p:cNvSpPr/>
          <p:nvPr/>
        </p:nvSpPr>
        <p:spPr bwMode="gray">
          <a:xfrm>
            <a:off x="1485927"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6" name="Gefaltete Ecke 6">
            <a:extLst>
              <a:ext uri="{FF2B5EF4-FFF2-40B4-BE49-F238E27FC236}">
                <a16:creationId xmlns:a16="http://schemas.microsoft.com/office/drawing/2014/main" id="{6D7C1EAA-B3E6-2C51-D9D7-F42F6CE1B8FE}"/>
              </a:ext>
            </a:extLst>
          </p:cNvPr>
          <p:cNvSpPr/>
          <p:nvPr/>
        </p:nvSpPr>
        <p:spPr bwMode="gray">
          <a:xfrm>
            <a:off x="3053780"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8" name="Gefaltete Ecke 6">
            <a:extLst>
              <a:ext uri="{FF2B5EF4-FFF2-40B4-BE49-F238E27FC236}">
                <a16:creationId xmlns:a16="http://schemas.microsoft.com/office/drawing/2014/main" id="{3B37B33C-90D4-4855-B1FC-11EAB570B02F}"/>
              </a:ext>
            </a:extLst>
          </p:cNvPr>
          <p:cNvSpPr/>
          <p:nvPr/>
        </p:nvSpPr>
        <p:spPr bwMode="gray">
          <a:xfrm>
            <a:off x="502344" y="4185517"/>
            <a:ext cx="58853" cy="896917"/>
          </a:xfrm>
          <a:prstGeom prst="rect">
            <a:avLst/>
          </a:prstGeom>
          <a:solidFill>
            <a:srgbClr val="1B90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0" name="Rounded Rectangle 2">
            <a:extLst>
              <a:ext uri="{FF2B5EF4-FFF2-40B4-BE49-F238E27FC236}">
                <a16:creationId xmlns:a16="http://schemas.microsoft.com/office/drawing/2014/main" id="{71890085-8DAC-AA80-898C-EE7144580CCF}"/>
              </a:ext>
            </a:extLst>
          </p:cNvPr>
          <p:cNvSpPr/>
          <p:nvPr/>
        </p:nvSpPr>
        <p:spPr bwMode="gray">
          <a:xfrm>
            <a:off x="4992834"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1.3</a:t>
            </a:r>
          </a:p>
        </p:txBody>
      </p:sp>
      <p:sp>
        <p:nvSpPr>
          <p:cNvPr id="11" name="Rounded Rectangle 2">
            <a:extLst>
              <a:ext uri="{FF2B5EF4-FFF2-40B4-BE49-F238E27FC236}">
                <a16:creationId xmlns:a16="http://schemas.microsoft.com/office/drawing/2014/main" id="{82E5095A-25A2-5D29-AFD2-EB9010ADB1AB}"/>
              </a:ext>
            </a:extLst>
          </p:cNvPr>
          <p:cNvSpPr/>
          <p:nvPr/>
        </p:nvSpPr>
        <p:spPr bwMode="gray">
          <a:xfrm>
            <a:off x="8501347"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1.4</a:t>
            </a:r>
          </a:p>
        </p:txBody>
      </p:sp>
      <p:sp>
        <p:nvSpPr>
          <p:cNvPr id="13" name="Rounded Rectangle 2">
            <a:extLst>
              <a:ext uri="{FF2B5EF4-FFF2-40B4-BE49-F238E27FC236}">
                <a16:creationId xmlns:a16="http://schemas.microsoft.com/office/drawing/2014/main" id="{43DD9565-3A80-A12B-4BFC-74F078B85169}"/>
              </a:ext>
            </a:extLst>
          </p:cNvPr>
          <p:cNvSpPr/>
          <p:nvPr/>
        </p:nvSpPr>
        <p:spPr bwMode="gray">
          <a:xfrm>
            <a:off x="1484319" y="974710"/>
            <a:ext cx="3061607"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1.2</a:t>
            </a:r>
          </a:p>
        </p:txBody>
      </p:sp>
    </p:spTree>
    <p:extLst>
      <p:ext uri="{BB962C8B-B14F-4D97-AF65-F5344CB8AC3E}">
        <p14:creationId xmlns:p14="http://schemas.microsoft.com/office/powerpoint/2010/main" val="9934114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1D7100-D19A-39B8-60B3-756A5BF1B9FD}"/>
            </a:ext>
          </a:extLst>
        </p:cNvPr>
        <p:cNvGrpSpPr/>
        <p:nvPr/>
      </p:nvGrpSpPr>
      <p:grpSpPr>
        <a:xfrm>
          <a:off x="0" y="0"/>
          <a:ext cx="0" cy="0"/>
          <a:chOff x="0" y="0"/>
          <a:chExt cx="0" cy="0"/>
        </a:xfrm>
      </p:grpSpPr>
      <p:sp>
        <p:nvSpPr>
          <p:cNvPr id="12" name="Titel 11">
            <a:extLst>
              <a:ext uri="{FF2B5EF4-FFF2-40B4-BE49-F238E27FC236}">
                <a16:creationId xmlns:a16="http://schemas.microsoft.com/office/drawing/2014/main" id="{6B1933A1-BC82-B5FC-8B5E-E664A468C13D}"/>
              </a:ext>
            </a:extLst>
          </p:cNvPr>
          <p:cNvSpPr>
            <a:spLocks noGrp="1"/>
          </p:cNvSpPr>
          <p:nvPr>
            <p:ph type="title"/>
          </p:nvPr>
        </p:nvSpPr>
        <p:spPr>
          <a:xfrm>
            <a:off x="504001" y="504000"/>
            <a:ext cx="11186476" cy="1231106"/>
          </a:xfrm>
        </p:spPr>
        <p:txBody>
          <a:bodyPr/>
          <a:lstStyle/>
          <a:p>
            <a:r>
              <a:rPr lang="en-US" sz="2000" dirty="0"/>
              <a:t>Extension Technology per Extension Task Mapping – Scene 04 Sales Order post into Cloud ERP</a:t>
            </a:r>
            <a:br>
              <a:rPr lang="en-US" sz="2000" b="1" kern="0" dirty="0">
                <a:highlight>
                  <a:srgbClr val="FF00FF"/>
                </a:highlight>
                <a:latin typeface="72 Brand" panose="020B0504030603020204" pitchFamily="34" charset="0"/>
                <a:ea typeface="Arial Unicode MS" pitchFamily="34" charset="-128"/>
                <a:cs typeface="Arial Unicode MS" pitchFamily="34" charset="-128"/>
              </a:rPr>
            </a:br>
            <a:br>
              <a:rPr lang="en-US" sz="2000" dirty="0"/>
            </a:br>
            <a:br>
              <a:rPr lang="en-US" sz="2000" dirty="0"/>
            </a:br>
            <a:endParaRPr lang="en-US" sz="2000" dirty="0"/>
          </a:p>
        </p:txBody>
      </p:sp>
      <p:sp>
        <p:nvSpPr>
          <p:cNvPr id="171" name="Rechteck 28">
            <a:extLst>
              <a:ext uri="{FF2B5EF4-FFF2-40B4-BE49-F238E27FC236}">
                <a16:creationId xmlns:a16="http://schemas.microsoft.com/office/drawing/2014/main" id="{3C9B4BEC-E4B3-1378-B9E5-E5114573FA60}"/>
              </a:ext>
            </a:extLst>
          </p:cNvPr>
          <p:cNvSpPr/>
          <p:nvPr/>
        </p:nvSpPr>
        <p:spPr bwMode="gray">
          <a:xfrm>
            <a:off x="1340321"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1</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72" name="Gefaltete Ecke 13">
            <a:extLst>
              <a:ext uri="{FF2B5EF4-FFF2-40B4-BE49-F238E27FC236}">
                <a16:creationId xmlns:a16="http://schemas.microsoft.com/office/drawing/2014/main" id="{B17C07CE-D4E0-8A3A-76F3-C7974FD75B61}"/>
              </a:ext>
            </a:extLst>
          </p:cNvPr>
          <p:cNvSpPr/>
          <p:nvPr/>
        </p:nvSpPr>
        <p:spPr bwMode="gray">
          <a:xfrm>
            <a:off x="1484320" y="1574264"/>
            <a:ext cx="3061607"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dirty="0">
                <a:latin typeface="72 Brand" panose="020B0504030603020204" pitchFamily="34" charset="0"/>
                <a:ea typeface="Arial Unicode MS" pitchFamily="34" charset="-128"/>
                <a:cs typeface="Arial Unicode MS" pitchFamily="34" charset="-128"/>
              </a:rPr>
              <a:t>Scene 04:</a:t>
            </a:r>
          </a:p>
          <a:p>
            <a:pPr algn="ctr" defTabSz="914400" fontAlgn="base">
              <a:spcBef>
                <a:spcPct val="50000"/>
              </a:spcBef>
              <a:spcAft>
                <a:spcPct val="0"/>
              </a:spcAft>
              <a:buClr>
                <a:srgbClr val="F0AB00"/>
              </a:buClr>
              <a:buSzPct val="80000"/>
            </a:pPr>
            <a:r>
              <a:rPr lang="en-US" sz="900" b="1" kern="0" dirty="0">
                <a:latin typeface="72 Brand" panose="020B0504030603020204" pitchFamily="34" charset="0"/>
                <a:ea typeface="Arial Unicode MS" pitchFamily="34" charset="-128"/>
                <a:cs typeface="Arial Unicode MS" pitchFamily="34" charset="-128"/>
              </a:rPr>
              <a:t>Sales Order post into Cloud ERP </a:t>
            </a:r>
          </a:p>
        </p:txBody>
      </p:sp>
      <p:sp>
        <p:nvSpPr>
          <p:cNvPr id="193" name="Gefaltete Ecke 6">
            <a:extLst>
              <a:ext uri="{FF2B5EF4-FFF2-40B4-BE49-F238E27FC236}">
                <a16:creationId xmlns:a16="http://schemas.microsoft.com/office/drawing/2014/main" id="{C8CE3DFD-49DB-BCE8-398A-52ADA6038152}"/>
              </a:ext>
            </a:extLst>
          </p:cNvPr>
          <p:cNvSpPr/>
          <p:nvPr/>
        </p:nvSpPr>
        <p:spPr bwMode="gray">
          <a:xfrm>
            <a:off x="152619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Post sales order</a:t>
            </a:r>
          </a:p>
        </p:txBody>
      </p:sp>
      <p:sp>
        <p:nvSpPr>
          <p:cNvPr id="189" name="Gefaltete Ecke 6">
            <a:extLst>
              <a:ext uri="{FF2B5EF4-FFF2-40B4-BE49-F238E27FC236}">
                <a16:creationId xmlns:a16="http://schemas.microsoft.com/office/drawing/2014/main" id="{4A68F9E7-F117-1553-C492-769406E076AD}"/>
              </a:ext>
            </a:extLst>
          </p:cNvPr>
          <p:cNvSpPr/>
          <p:nvPr/>
        </p:nvSpPr>
        <p:spPr bwMode="gray">
          <a:xfrm>
            <a:off x="1526191"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S/4HANA Cloud Public Edition</a:t>
            </a:r>
          </a:p>
        </p:txBody>
      </p:sp>
      <p:sp>
        <p:nvSpPr>
          <p:cNvPr id="184" name="Gefaltete Ecke 6">
            <a:extLst>
              <a:ext uri="{FF2B5EF4-FFF2-40B4-BE49-F238E27FC236}">
                <a16:creationId xmlns:a16="http://schemas.microsoft.com/office/drawing/2014/main" id="{8E2FBAF0-D4F2-D205-3010-0D97DDA95CCD}"/>
              </a:ext>
            </a:extLst>
          </p:cNvPr>
          <p:cNvSpPr/>
          <p:nvPr/>
        </p:nvSpPr>
        <p:spPr bwMode="gray">
          <a:xfrm>
            <a:off x="1485927"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5" name="Gefaltete Ecke 6">
            <a:extLst>
              <a:ext uri="{FF2B5EF4-FFF2-40B4-BE49-F238E27FC236}">
                <a16:creationId xmlns:a16="http://schemas.microsoft.com/office/drawing/2014/main" id="{535FC18E-1916-3A52-0999-ADC195AD64DD}"/>
              </a:ext>
            </a:extLst>
          </p:cNvPr>
          <p:cNvSpPr/>
          <p:nvPr/>
        </p:nvSpPr>
        <p:spPr bwMode="gray">
          <a:xfrm>
            <a:off x="1526191"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a:t>
            </a:r>
          </a:p>
        </p:txBody>
      </p:sp>
      <p:sp>
        <p:nvSpPr>
          <p:cNvPr id="198" name="Rechteck 28">
            <a:extLst>
              <a:ext uri="{FF2B5EF4-FFF2-40B4-BE49-F238E27FC236}">
                <a16:creationId xmlns:a16="http://schemas.microsoft.com/office/drawing/2014/main" id="{A9DE1785-58B8-87B9-D725-7A4D43C57A34}"/>
              </a:ext>
            </a:extLst>
          </p:cNvPr>
          <p:cNvSpPr/>
          <p:nvPr/>
        </p:nvSpPr>
        <p:spPr bwMode="gray">
          <a:xfrm>
            <a:off x="4848834"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2</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99" name="Gefaltete Ecke 13">
            <a:extLst>
              <a:ext uri="{FF2B5EF4-FFF2-40B4-BE49-F238E27FC236}">
                <a16:creationId xmlns:a16="http://schemas.microsoft.com/office/drawing/2014/main" id="{992282EA-9ECB-28B6-B898-E1E34ACB5F9D}"/>
              </a:ext>
            </a:extLst>
          </p:cNvPr>
          <p:cNvSpPr/>
          <p:nvPr/>
        </p:nvSpPr>
        <p:spPr bwMode="gray">
          <a:xfrm>
            <a:off x="4992834"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Extension tasks</a:t>
            </a:r>
          </a:p>
        </p:txBody>
      </p:sp>
      <p:sp>
        <p:nvSpPr>
          <p:cNvPr id="200" name="Gefaltete Ecke 13">
            <a:extLst>
              <a:ext uri="{FF2B5EF4-FFF2-40B4-BE49-F238E27FC236}">
                <a16:creationId xmlns:a16="http://schemas.microsoft.com/office/drawing/2014/main" id="{EBEC1F76-21A3-A51C-4486-42F2647E2A39}"/>
              </a:ext>
            </a:extLst>
          </p:cNvPr>
          <p:cNvSpPr/>
          <p:nvPr/>
        </p:nvSpPr>
        <p:spPr bwMode="gray">
          <a:xfrm>
            <a:off x="8501347"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Technical extension building blocks</a:t>
            </a:r>
          </a:p>
        </p:txBody>
      </p:sp>
      <p:sp>
        <p:nvSpPr>
          <p:cNvPr id="201" name="Rechteck 28">
            <a:extLst>
              <a:ext uri="{FF2B5EF4-FFF2-40B4-BE49-F238E27FC236}">
                <a16:creationId xmlns:a16="http://schemas.microsoft.com/office/drawing/2014/main" id="{6C957DA1-1FA0-FF99-348F-F9FA9E5F8EAB}"/>
              </a:ext>
            </a:extLst>
          </p:cNvPr>
          <p:cNvSpPr/>
          <p:nvPr/>
        </p:nvSpPr>
        <p:spPr bwMode="gray">
          <a:xfrm>
            <a:off x="8357347"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3</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245" name="Gefaltete Ecke 6">
            <a:extLst>
              <a:ext uri="{FF2B5EF4-FFF2-40B4-BE49-F238E27FC236}">
                <a16:creationId xmlns:a16="http://schemas.microsoft.com/office/drawing/2014/main" id="{F9683EB7-1757-EBE2-85EF-5C3F4C161A70}"/>
              </a:ext>
            </a:extLst>
          </p:cNvPr>
          <p:cNvSpPr/>
          <p:nvPr/>
        </p:nvSpPr>
        <p:spPr bwMode="gray">
          <a:xfrm>
            <a:off x="5033098" y="3222334"/>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latin typeface="72 Brand" panose="020B0504030603020204" pitchFamily="34" charset="0"/>
              <a:cs typeface="72" panose="020B0503030000000003" pitchFamily="34" charset="0"/>
            </a:endParaRPr>
          </a:p>
        </p:txBody>
      </p:sp>
      <p:sp>
        <p:nvSpPr>
          <p:cNvPr id="270" name="Gefaltete Ecke 6">
            <a:extLst>
              <a:ext uri="{FF2B5EF4-FFF2-40B4-BE49-F238E27FC236}">
                <a16:creationId xmlns:a16="http://schemas.microsoft.com/office/drawing/2014/main" id="{E4F9D8E1-ACBE-B3D0-7A97-9D40DA675365}"/>
              </a:ext>
            </a:extLst>
          </p:cNvPr>
          <p:cNvSpPr/>
          <p:nvPr/>
        </p:nvSpPr>
        <p:spPr bwMode="gray">
          <a:xfrm>
            <a:off x="854161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31" name="Gefaltete Ecke 7">
            <a:extLst>
              <a:ext uri="{FF2B5EF4-FFF2-40B4-BE49-F238E27FC236}">
                <a16:creationId xmlns:a16="http://schemas.microsoft.com/office/drawing/2014/main" id="{78AE53C5-ABF1-EE23-F37B-E45C31593699}"/>
              </a:ext>
            </a:extLst>
          </p:cNvPr>
          <p:cNvSpPr>
            <a:spLocks/>
          </p:cNvSpPr>
          <p:nvPr/>
        </p:nvSpPr>
        <p:spPr bwMode="gray">
          <a:xfrm>
            <a:off x="501651" y="2273212"/>
            <a:ext cx="722700" cy="898971"/>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Actions</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9" name="Gefaltete Ecke 8">
            <a:extLst>
              <a:ext uri="{FF2B5EF4-FFF2-40B4-BE49-F238E27FC236}">
                <a16:creationId xmlns:a16="http://schemas.microsoft.com/office/drawing/2014/main" id="{00CDF88D-8D05-C412-A59D-3291255A7EEA}"/>
              </a:ext>
            </a:extLst>
          </p:cNvPr>
          <p:cNvSpPr>
            <a:spLocks/>
          </p:cNvSpPr>
          <p:nvPr/>
        </p:nvSpPr>
        <p:spPr bwMode="gray">
          <a:xfrm>
            <a:off x="501650" y="3229618"/>
            <a:ext cx="722699" cy="897944"/>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Application Logic</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7" name="Gefaltete Ecke 9">
            <a:extLst>
              <a:ext uri="{FF2B5EF4-FFF2-40B4-BE49-F238E27FC236}">
                <a16:creationId xmlns:a16="http://schemas.microsoft.com/office/drawing/2014/main" id="{07E27A5A-78D6-C925-5735-AE52F8FA5D9E}"/>
              </a:ext>
            </a:extLst>
          </p:cNvPr>
          <p:cNvSpPr>
            <a:spLocks/>
          </p:cNvSpPr>
          <p:nvPr/>
        </p:nvSpPr>
        <p:spPr bwMode="gray">
          <a:xfrm>
            <a:off x="501650" y="4184997"/>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System</a:t>
            </a:r>
            <a:endParaRPr kumimoji="0" lang="en-US" sz="700" u="none" strike="noStrike" kern="0" cap="none" spc="0" normalizeH="0" baseline="0" noProof="0" err="1">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5" name="Gefaltete Ecke 10">
            <a:extLst>
              <a:ext uri="{FF2B5EF4-FFF2-40B4-BE49-F238E27FC236}">
                <a16:creationId xmlns:a16="http://schemas.microsoft.com/office/drawing/2014/main" id="{D008E991-9B58-490F-D35E-F14F8993297F}"/>
              </a:ext>
            </a:extLst>
          </p:cNvPr>
          <p:cNvSpPr>
            <a:spLocks/>
          </p:cNvSpPr>
          <p:nvPr/>
        </p:nvSpPr>
        <p:spPr bwMode="gray">
          <a:xfrm>
            <a:off x="501650" y="5140375"/>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Required </a:t>
            </a:r>
            <a:br>
              <a:rPr lang="en-US" sz="700" kern="0">
                <a:solidFill>
                  <a:srgbClr val="12171C"/>
                </a:solidFill>
                <a:latin typeface="72 Brand Medium" panose="020B0504030603020204" pitchFamily="34" charset="0"/>
                <a:ea typeface="Arial Unicode MS" pitchFamily="34" charset="-128"/>
                <a:cs typeface="72" panose="020B0503030000000003" pitchFamily="34" charset="0"/>
              </a:rPr>
            </a:br>
            <a:r>
              <a:rPr lang="en-US" sz="700" kern="0">
                <a:solidFill>
                  <a:srgbClr val="12171C"/>
                </a:solidFill>
                <a:latin typeface="72 Brand Medium" panose="020B0504030603020204" pitchFamily="34" charset="0"/>
                <a:ea typeface="Arial Unicode MS" pitchFamily="34" charset="-128"/>
                <a:cs typeface="72" panose="020B0503030000000003" pitchFamily="34" charset="0"/>
              </a:rPr>
              <a:t>Data</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6" name="Gefaltete Ecke 6">
            <a:extLst>
              <a:ext uri="{FF2B5EF4-FFF2-40B4-BE49-F238E27FC236}">
                <a16:creationId xmlns:a16="http://schemas.microsoft.com/office/drawing/2014/main" id="{6D360F43-5100-8E44-469D-C9F5F3DDD9C0}"/>
              </a:ext>
            </a:extLst>
          </p:cNvPr>
          <p:cNvSpPr/>
          <p:nvPr/>
        </p:nvSpPr>
        <p:spPr bwMode="gray">
          <a:xfrm>
            <a:off x="501650" y="5140907"/>
            <a:ext cx="58853" cy="896917"/>
          </a:xfrm>
          <a:prstGeom prst="rect">
            <a:avLst/>
          </a:prstGeom>
          <a:solidFill>
            <a:srgbClr val="7858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32" name="Gefaltete Ecke 6">
            <a:extLst>
              <a:ext uri="{FF2B5EF4-FFF2-40B4-BE49-F238E27FC236}">
                <a16:creationId xmlns:a16="http://schemas.microsoft.com/office/drawing/2014/main" id="{274BD467-C06B-6BE4-23A0-114983D23886}"/>
              </a:ext>
            </a:extLst>
          </p:cNvPr>
          <p:cNvSpPr/>
          <p:nvPr/>
        </p:nvSpPr>
        <p:spPr bwMode="gray">
          <a:xfrm>
            <a:off x="501650" y="2273213"/>
            <a:ext cx="58853" cy="897944"/>
          </a:xfrm>
          <a:prstGeom prst="rect">
            <a:avLst/>
          </a:prstGeom>
          <a:solidFill>
            <a:srgbClr val="97DD40"/>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92" name="Gefaltete Ecke 6">
            <a:extLst>
              <a:ext uri="{FF2B5EF4-FFF2-40B4-BE49-F238E27FC236}">
                <a16:creationId xmlns:a16="http://schemas.microsoft.com/office/drawing/2014/main" id="{FF82799C-C3EC-C8FD-5D67-A8641E9BC91F}"/>
              </a:ext>
            </a:extLst>
          </p:cNvPr>
          <p:cNvSpPr/>
          <p:nvPr/>
        </p:nvSpPr>
        <p:spPr bwMode="gray">
          <a:xfrm>
            <a:off x="148592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4" name="Gefaltete Ecke 6">
            <a:extLst>
              <a:ext uri="{FF2B5EF4-FFF2-40B4-BE49-F238E27FC236}">
                <a16:creationId xmlns:a16="http://schemas.microsoft.com/office/drawing/2014/main" id="{7D8619EA-0F19-8A6B-8549-1D75C47B4D8E}"/>
              </a:ext>
            </a:extLst>
          </p:cNvPr>
          <p:cNvSpPr/>
          <p:nvPr/>
        </p:nvSpPr>
        <p:spPr bwMode="gray">
          <a:xfrm>
            <a:off x="4992834"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9" name="Gefaltete Ecke 6">
            <a:extLst>
              <a:ext uri="{FF2B5EF4-FFF2-40B4-BE49-F238E27FC236}">
                <a16:creationId xmlns:a16="http://schemas.microsoft.com/office/drawing/2014/main" id="{BECE4C41-38CF-E2E4-B346-614EB1D8507B}"/>
              </a:ext>
            </a:extLst>
          </p:cNvPr>
          <p:cNvSpPr/>
          <p:nvPr/>
        </p:nvSpPr>
        <p:spPr bwMode="gray">
          <a:xfrm>
            <a:off x="850134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0" name="Gefaltete Ecke 6">
            <a:extLst>
              <a:ext uri="{FF2B5EF4-FFF2-40B4-BE49-F238E27FC236}">
                <a16:creationId xmlns:a16="http://schemas.microsoft.com/office/drawing/2014/main" id="{8A89365C-E1DD-F30E-1259-765500E07E04}"/>
              </a:ext>
            </a:extLst>
          </p:cNvPr>
          <p:cNvSpPr/>
          <p:nvPr/>
        </p:nvSpPr>
        <p:spPr bwMode="gray">
          <a:xfrm>
            <a:off x="501650" y="3230128"/>
            <a:ext cx="58853" cy="896919"/>
          </a:xfrm>
          <a:prstGeom prst="rect">
            <a:avLst/>
          </a:prstGeom>
          <a:solidFill>
            <a:srgbClr val="FFC933"/>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88" name="Gefaltete Ecke 6">
            <a:extLst>
              <a:ext uri="{FF2B5EF4-FFF2-40B4-BE49-F238E27FC236}">
                <a16:creationId xmlns:a16="http://schemas.microsoft.com/office/drawing/2014/main" id="{15E19F3E-D800-8424-F1E4-F6EB115CB323}"/>
              </a:ext>
            </a:extLst>
          </p:cNvPr>
          <p:cNvSpPr/>
          <p:nvPr/>
        </p:nvSpPr>
        <p:spPr bwMode="gray">
          <a:xfrm>
            <a:off x="1485927"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8" name="Gefaltete Ecke 6">
            <a:extLst>
              <a:ext uri="{FF2B5EF4-FFF2-40B4-BE49-F238E27FC236}">
                <a16:creationId xmlns:a16="http://schemas.microsoft.com/office/drawing/2014/main" id="{437F85BA-AE03-48D8-18FF-54FAE066810E}"/>
              </a:ext>
            </a:extLst>
          </p:cNvPr>
          <p:cNvSpPr/>
          <p:nvPr/>
        </p:nvSpPr>
        <p:spPr bwMode="gray">
          <a:xfrm>
            <a:off x="502344" y="4185517"/>
            <a:ext cx="58853" cy="896917"/>
          </a:xfrm>
          <a:prstGeom prst="rect">
            <a:avLst/>
          </a:prstGeom>
          <a:solidFill>
            <a:srgbClr val="1B90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1" name="Rounded Rectangle 2">
            <a:extLst>
              <a:ext uri="{FF2B5EF4-FFF2-40B4-BE49-F238E27FC236}">
                <a16:creationId xmlns:a16="http://schemas.microsoft.com/office/drawing/2014/main" id="{A6446A9A-24B9-E157-BA02-73B18DB0A5E3}"/>
              </a:ext>
            </a:extLst>
          </p:cNvPr>
          <p:cNvSpPr/>
          <p:nvPr/>
        </p:nvSpPr>
        <p:spPr bwMode="gray">
          <a:xfrm>
            <a:off x="4992834"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1.3</a:t>
            </a:r>
          </a:p>
        </p:txBody>
      </p:sp>
      <p:sp>
        <p:nvSpPr>
          <p:cNvPr id="13" name="Rounded Rectangle 2">
            <a:extLst>
              <a:ext uri="{FF2B5EF4-FFF2-40B4-BE49-F238E27FC236}">
                <a16:creationId xmlns:a16="http://schemas.microsoft.com/office/drawing/2014/main" id="{1C23D426-0D83-3CED-F17E-17D7DF248C1E}"/>
              </a:ext>
            </a:extLst>
          </p:cNvPr>
          <p:cNvSpPr/>
          <p:nvPr/>
        </p:nvSpPr>
        <p:spPr bwMode="gray">
          <a:xfrm>
            <a:off x="8501347"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1.4</a:t>
            </a:r>
          </a:p>
        </p:txBody>
      </p:sp>
      <p:sp>
        <p:nvSpPr>
          <p:cNvPr id="14" name="Rounded Rectangle 2">
            <a:extLst>
              <a:ext uri="{FF2B5EF4-FFF2-40B4-BE49-F238E27FC236}">
                <a16:creationId xmlns:a16="http://schemas.microsoft.com/office/drawing/2014/main" id="{E0BB1852-928C-AFC3-9429-CFB069E1EE9B}"/>
              </a:ext>
            </a:extLst>
          </p:cNvPr>
          <p:cNvSpPr/>
          <p:nvPr/>
        </p:nvSpPr>
        <p:spPr bwMode="gray">
          <a:xfrm>
            <a:off x="1484319" y="974710"/>
            <a:ext cx="3061607"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1.2</a:t>
            </a:r>
          </a:p>
        </p:txBody>
      </p:sp>
    </p:spTree>
    <p:extLst>
      <p:ext uri="{BB962C8B-B14F-4D97-AF65-F5344CB8AC3E}">
        <p14:creationId xmlns:p14="http://schemas.microsoft.com/office/powerpoint/2010/main" val="17036492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E1EA7-CEE7-DC9C-1B07-5F41EBA0EBF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7CF839E-88AB-8A04-EFDA-FF55C4A2A26C}"/>
              </a:ext>
            </a:extLst>
          </p:cNvPr>
          <p:cNvSpPr>
            <a:spLocks noGrp="1"/>
          </p:cNvSpPr>
          <p:nvPr>
            <p:ph type="ctrTitle"/>
          </p:nvPr>
        </p:nvSpPr>
        <p:spPr/>
        <p:txBody>
          <a:bodyPr/>
          <a:lstStyle/>
          <a:p>
            <a:r>
              <a:rPr lang="en-US" b="1" noProof="0" dirty="0"/>
              <a:t>Exercise 1.4.1: </a:t>
            </a:r>
            <a:br>
              <a:rPr lang="en-US" b="1" noProof="0" dirty="0"/>
            </a:br>
            <a:br>
              <a:rPr lang="en-US" b="1" noProof="0" dirty="0"/>
            </a:br>
            <a:r>
              <a:rPr lang="en-US" sz="3200" dirty="0"/>
              <a:t>Extension Target Solution Diagram</a:t>
            </a:r>
            <a:endParaRPr lang="en-US" noProof="0" dirty="0"/>
          </a:p>
        </p:txBody>
      </p:sp>
    </p:spTree>
    <p:extLst>
      <p:ext uri="{BB962C8B-B14F-4D97-AF65-F5344CB8AC3E}">
        <p14:creationId xmlns:p14="http://schemas.microsoft.com/office/powerpoint/2010/main" val="39465709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E36A5-4717-8F9E-9442-8ECADDF29747}"/>
            </a:ext>
          </a:extLst>
        </p:cNvPr>
        <p:cNvGrpSpPr/>
        <p:nvPr/>
      </p:nvGrpSpPr>
      <p:grpSpPr>
        <a:xfrm>
          <a:off x="0" y="0"/>
          <a:ext cx="0" cy="0"/>
          <a:chOff x="0" y="0"/>
          <a:chExt cx="0" cy="0"/>
        </a:xfrm>
      </p:grpSpPr>
      <p:sp>
        <p:nvSpPr>
          <p:cNvPr id="23" name="Rounded Rectangle 22">
            <a:extLst>
              <a:ext uri="{FF2B5EF4-FFF2-40B4-BE49-F238E27FC236}">
                <a16:creationId xmlns:a16="http://schemas.microsoft.com/office/drawing/2014/main" id="{2C5EAEDF-6240-87C5-E8EC-0ACA5BBA7861}"/>
              </a:ext>
            </a:extLst>
          </p:cNvPr>
          <p:cNvSpPr/>
          <p:nvPr/>
        </p:nvSpPr>
        <p:spPr>
          <a:xfrm>
            <a:off x="8808329" y="1140264"/>
            <a:ext cx="2314002" cy="3667126"/>
          </a:xfrm>
          <a:prstGeom prst="roundRect">
            <a:avLst>
              <a:gd name="adj" fmla="val 5659"/>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DE" sz="1100" dirty="0">
              <a:solidFill>
                <a:srgbClr val="FFFFFF"/>
              </a:solidFill>
              <a:latin typeface="72" panose="020B0503030000000003" pitchFamily="34" charset="0"/>
              <a:cs typeface="72" panose="020B0503030000000003" pitchFamily="34" charset="0"/>
            </a:endParaRPr>
          </a:p>
        </p:txBody>
      </p:sp>
      <p:sp>
        <p:nvSpPr>
          <p:cNvPr id="203" name="Rounded Rectangle 19">
            <a:extLst>
              <a:ext uri="{FF2B5EF4-FFF2-40B4-BE49-F238E27FC236}">
                <a16:creationId xmlns:a16="http://schemas.microsoft.com/office/drawing/2014/main" id="{A8167649-8EB6-1B8A-9AC1-228E275100E8}"/>
              </a:ext>
            </a:extLst>
          </p:cNvPr>
          <p:cNvSpPr/>
          <p:nvPr/>
        </p:nvSpPr>
        <p:spPr>
          <a:xfrm>
            <a:off x="8928435" y="2184528"/>
            <a:ext cx="2038531" cy="351396"/>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2" name="Rounded Rectangle 19">
            <a:extLst>
              <a:ext uri="{FF2B5EF4-FFF2-40B4-BE49-F238E27FC236}">
                <a16:creationId xmlns:a16="http://schemas.microsoft.com/office/drawing/2014/main" id="{C47646F1-409F-6114-2488-91082C610111}"/>
              </a:ext>
            </a:extLst>
          </p:cNvPr>
          <p:cNvSpPr/>
          <p:nvPr/>
        </p:nvSpPr>
        <p:spPr>
          <a:xfrm>
            <a:off x="8928436" y="1723789"/>
            <a:ext cx="2038531" cy="351396"/>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78" name="Straight Arrow Connector 177">
            <a:extLst>
              <a:ext uri="{FF2B5EF4-FFF2-40B4-BE49-F238E27FC236}">
                <a16:creationId xmlns:a16="http://schemas.microsoft.com/office/drawing/2014/main" id="{776E745C-28D1-7ACB-DF59-AE926EA03315}"/>
              </a:ext>
            </a:extLst>
          </p:cNvPr>
          <p:cNvCxnSpPr>
            <a:cxnSpLocks/>
          </p:cNvCxnSpPr>
          <p:nvPr/>
        </p:nvCxnSpPr>
        <p:spPr>
          <a:xfrm>
            <a:off x="7897437" y="1199411"/>
            <a:ext cx="0" cy="4915573"/>
          </a:xfrm>
          <a:prstGeom prst="straightConnector1">
            <a:avLst/>
          </a:prstGeom>
          <a:ln w="38100">
            <a:solidFill>
              <a:srgbClr val="5B738B"/>
            </a:solidFill>
            <a:headEnd w="sm" len="sm"/>
            <a:tailEnd type="none" w="sm" len="sm"/>
          </a:ln>
        </p:spPr>
        <p:style>
          <a:lnRef idx="1">
            <a:schemeClr val="accent1"/>
          </a:lnRef>
          <a:fillRef idx="0">
            <a:schemeClr val="accent1"/>
          </a:fillRef>
          <a:effectRef idx="0">
            <a:schemeClr val="accent1"/>
          </a:effectRef>
          <a:fontRef idx="minor">
            <a:schemeClr val="tx1"/>
          </a:fontRef>
        </p:style>
      </p:cxnSp>
      <p:sp>
        <p:nvSpPr>
          <p:cNvPr id="4" name="Rounded Rectangle 3">
            <a:extLst>
              <a:ext uri="{FF2B5EF4-FFF2-40B4-BE49-F238E27FC236}">
                <a16:creationId xmlns:a16="http://schemas.microsoft.com/office/drawing/2014/main" id="{F3A5573F-A596-63A3-3E97-B559518EECF7}"/>
              </a:ext>
            </a:extLst>
          </p:cNvPr>
          <p:cNvSpPr/>
          <p:nvPr/>
        </p:nvSpPr>
        <p:spPr>
          <a:xfrm>
            <a:off x="2290964" y="1140264"/>
            <a:ext cx="4719297" cy="5091584"/>
          </a:xfrm>
          <a:prstGeom prst="roundRect">
            <a:avLst>
              <a:gd name="adj" fmla="val 3112"/>
            </a:avLst>
          </a:prstGeom>
          <a:solidFill>
            <a:srgbClr val="EBF8FF"/>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400"/>
          </a:p>
        </p:txBody>
      </p:sp>
      <p:sp>
        <p:nvSpPr>
          <p:cNvPr id="6" name="Rounded Rectangle 5">
            <a:extLst>
              <a:ext uri="{FF2B5EF4-FFF2-40B4-BE49-F238E27FC236}">
                <a16:creationId xmlns:a16="http://schemas.microsoft.com/office/drawing/2014/main" id="{F394285D-C33E-5468-A31A-4B7B0EFBA51D}"/>
              </a:ext>
            </a:extLst>
          </p:cNvPr>
          <p:cNvSpPr/>
          <p:nvPr/>
        </p:nvSpPr>
        <p:spPr>
          <a:xfrm>
            <a:off x="2450945" y="1622388"/>
            <a:ext cx="4354460" cy="2370190"/>
          </a:xfrm>
          <a:prstGeom prst="roundRect">
            <a:avLst>
              <a:gd name="adj" fmla="val 3984"/>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DE" sz="1100" dirty="0">
              <a:solidFill>
                <a:srgbClr val="FFFFFF"/>
              </a:solidFill>
              <a:latin typeface="72" panose="020B0503030000000003" pitchFamily="34" charset="0"/>
              <a:cs typeface="72" panose="020B0503030000000003" pitchFamily="34" charset="0"/>
            </a:endParaRPr>
          </a:p>
        </p:txBody>
      </p:sp>
      <p:sp>
        <p:nvSpPr>
          <p:cNvPr id="131" name="Rounded Rectangle 19">
            <a:extLst>
              <a:ext uri="{FF2B5EF4-FFF2-40B4-BE49-F238E27FC236}">
                <a16:creationId xmlns:a16="http://schemas.microsoft.com/office/drawing/2014/main" id="{978B935E-0F66-2D10-0C6E-D23847736C1E}"/>
              </a:ext>
            </a:extLst>
          </p:cNvPr>
          <p:cNvSpPr/>
          <p:nvPr/>
        </p:nvSpPr>
        <p:spPr>
          <a:xfrm>
            <a:off x="2533064" y="2083230"/>
            <a:ext cx="2649596" cy="1612768"/>
          </a:xfrm>
          <a:prstGeom prst="roundRect">
            <a:avLst>
              <a:gd name="adj" fmla="val 7872"/>
            </a:avLst>
          </a:prstGeom>
          <a:solidFill>
            <a:srgbClr val="EBF8FF"/>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400"/>
          </a:p>
        </p:txBody>
      </p:sp>
      <p:sp>
        <p:nvSpPr>
          <p:cNvPr id="7" name="Text 26">
            <a:extLst>
              <a:ext uri="{FF2B5EF4-FFF2-40B4-BE49-F238E27FC236}">
                <a16:creationId xmlns:a16="http://schemas.microsoft.com/office/drawing/2014/main" id="{CC0D14C0-E2A9-8683-F7C6-7FCBFB619841}"/>
              </a:ext>
            </a:extLst>
          </p:cNvPr>
          <p:cNvSpPr/>
          <p:nvPr/>
        </p:nvSpPr>
        <p:spPr>
          <a:xfrm>
            <a:off x="2582072" y="1758994"/>
            <a:ext cx="928569" cy="128901"/>
          </a:xfrm>
          <a:prstGeom prst="rect">
            <a:avLst/>
          </a:prstGeom>
          <a:noFill/>
          <a:ln/>
        </p:spPr>
        <p:txBody>
          <a:bodyPr wrap="square" lIns="0" tIns="0" rIns="0" bIns="0" rtlCol="0" anchor="t"/>
          <a:lstStyle/>
          <a:p>
            <a:pPr marL="0" indent="0" algn="l">
              <a:lnSpc>
                <a:spcPts val="1100"/>
              </a:lnSpc>
              <a:buNone/>
            </a:pPr>
            <a:r>
              <a:rPr lang="en-US" sz="900" dirty="0">
                <a:solidFill>
                  <a:srgbClr val="354A5F"/>
                </a:solidFill>
                <a:latin typeface="72 Bold" pitchFamily="34" charset="0"/>
                <a:ea typeface="72 Bold" pitchFamily="34" charset="-122"/>
                <a:cs typeface="72 Bold" pitchFamily="34" charset="-120"/>
              </a:rPr>
              <a:t>Subaccount</a:t>
            </a:r>
            <a:endParaRPr lang="en-US" sz="900" dirty="0">
              <a:solidFill>
                <a:srgbClr val="354A5F"/>
              </a:solidFill>
            </a:endParaRPr>
          </a:p>
        </p:txBody>
      </p:sp>
      <p:sp>
        <p:nvSpPr>
          <p:cNvPr id="8" name="Text 29">
            <a:extLst>
              <a:ext uri="{FF2B5EF4-FFF2-40B4-BE49-F238E27FC236}">
                <a16:creationId xmlns:a16="http://schemas.microsoft.com/office/drawing/2014/main" id="{31A4B44F-DCB7-511F-894F-D05A855F0114}"/>
              </a:ext>
            </a:extLst>
          </p:cNvPr>
          <p:cNvSpPr/>
          <p:nvPr/>
        </p:nvSpPr>
        <p:spPr>
          <a:xfrm>
            <a:off x="2579238" y="1899901"/>
            <a:ext cx="739609" cy="153113"/>
          </a:xfrm>
          <a:prstGeom prst="rect">
            <a:avLst/>
          </a:prstGeom>
          <a:noFill/>
          <a:ln/>
        </p:spPr>
        <p:txBody>
          <a:bodyPr wrap="square" lIns="0" tIns="0" rIns="0" bIns="0" rtlCol="0" anchor="t"/>
          <a:lstStyle/>
          <a:p>
            <a:pPr marL="0" indent="0" algn="l">
              <a:buNone/>
            </a:pPr>
            <a:r>
              <a:rPr lang="en-US" sz="800" dirty="0">
                <a:solidFill>
                  <a:srgbClr val="1D2D3E"/>
                </a:solidFill>
                <a:latin typeface="72" panose="020B0503030000000003" pitchFamily="34" charset="0"/>
                <a:ea typeface="72 Semibold" pitchFamily="34" charset="-122"/>
                <a:cs typeface="72" panose="020B0503030000000003" pitchFamily="34" charset="0"/>
              </a:rPr>
              <a:t>Multi-Cloud</a:t>
            </a:r>
            <a:endParaRPr lang="en-US" sz="800" dirty="0">
              <a:solidFill>
                <a:srgbClr val="1D2D3E"/>
              </a:solidFill>
              <a:latin typeface="72" panose="020B0503030000000003" pitchFamily="34" charset="0"/>
              <a:cs typeface="72" panose="020B0503030000000003" pitchFamily="34" charset="0"/>
            </a:endParaRPr>
          </a:p>
        </p:txBody>
      </p:sp>
      <p:sp>
        <p:nvSpPr>
          <p:cNvPr id="21" name="Rounded Rectangle 20">
            <a:extLst>
              <a:ext uri="{FF2B5EF4-FFF2-40B4-BE49-F238E27FC236}">
                <a16:creationId xmlns:a16="http://schemas.microsoft.com/office/drawing/2014/main" id="{36E9DCF5-8F32-A89E-C9B6-732AE80D169C}"/>
              </a:ext>
            </a:extLst>
          </p:cNvPr>
          <p:cNvSpPr/>
          <p:nvPr/>
        </p:nvSpPr>
        <p:spPr>
          <a:xfrm>
            <a:off x="2450946" y="5112339"/>
            <a:ext cx="1548697" cy="969789"/>
          </a:xfrm>
          <a:prstGeom prst="roundRect">
            <a:avLst>
              <a:gd name="adj" fmla="val 6525"/>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DE" sz="1100" dirty="0">
              <a:solidFill>
                <a:srgbClr val="FFFFFF"/>
              </a:solidFill>
              <a:latin typeface="72" panose="020B0503030000000003" pitchFamily="34" charset="0"/>
              <a:cs typeface="72" panose="020B0503030000000003" pitchFamily="34" charset="0"/>
            </a:endParaRPr>
          </a:p>
        </p:txBody>
      </p:sp>
      <p:sp>
        <p:nvSpPr>
          <p:cNvPr id="26" name="Text 36">
            <a:extLst>
              <a:ext uri="{FF2B5EF4-FFF2-40B4-BE49-F238E27FC236}">
                <a16:creationId xmlns:a16="http://schemas.microsoft.com/office/drawing/2014/main" id="{D9C27EED-EFB5-ABC3-CF3E-F3ECBC5322F5}"/>
              </a:ext>
            </a:extLst>
          </p:cNvPr>
          <p:cNvSpPr/>
          <p:nvPr/>
        </p:nvSpPr>
        <p:spPr>
          <a:xfrm>
            <a:off x="7984907" y="1310343"/>
            <a:ext cx="823422" cy="228600"/>
          </a:xfrm>
          <a:prstGeom prst="rect">
            <a:avLst/>
          </a:prstGeom>
          <a:noFill/>
          <a:ln/>
        </p:spPr>
        <p:txBody>
          <a:bodyPr wrap="square" lIns="0" tIns="0" rIns="0" bIns="0" rtlCol="0" anchor="t"/>
          <a:lstStyle/>
          <a:p>
            <a:pPr>
              <a:lnSpc>
                <a:spcPts val="1400"/>
              </a:lnSpc>
            </a:pPr>
            <a:r>
              <a:rPr lang="en-US" sz="700" dirty="0">
                <a:solidFill>
                  <a:srgbClr val="475E75"/>
                </a:solidFill>
                <a:latin typeface="72" panose="020B0503030000000003" pitchFamily="34" charset="0"/>
                <a:ea typeface="72 Black" pitchFamily="34" charset="-122"/>
                <a:cs typeface="72" panose="020B0503030000000003" pitchFamily="34" charset="0"/>
              </a:rPr>
              <a:t>NETWORK</a:t>
            </a:r>
            <a:endParaRPr lang="en-US" sz="700" dirty="0">
              <a:solidFill>
                <a:srgbClr val="475E75"/>
              </a:solidFill>
              <a:latin typeface="72" panose="020B0503030000000003" pitchFamily="34" charset="0"/>
              <a:cs typeface="72" panose="020B0503030000000003" pitchFamily="34" charset="0"/>
            </a:endParaRPr>
          </a:p>
        </p:txBody>
      </p:sp>
      <p:pic>
        <p:nvPicPr>
          <p:cNvPr id="28" name="Graphic 27">
            <a:extLst>
              <a:ext uri="{FF2B5EF4-FFF2-40B4-BE49-F238E27FC236}">
                <a16:creationId xmlns:a16="http://schemas.microsoft.com/office/drawing/2014/main" id="{F2A2612A-BF47-645D-6965-CC4F5A6BF4E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06393" y="5228673"/>
            <a:ext cx="417600" cy="417600"/>
          </a:xfrm>
          <a:prstGeom prst="rect">
            <a:avLst/>
          </a:prstGeom>
        </p:spPr>
      </p:pic>
      <p:sp>
        <p:nvSpPr>
          <p:cNvPr id="29" name="Text 26">
            <a:extLst>
              <a:ext uri="{FF2B5EF4-FFF2-40B4-BE49-F238E27FC236}">
                <a16:creationId xmlns:a16="http://schemas.microsoft.com/office/drawing/2014/main" id="{90BCCCCC-C1C6-3228-D32F-52DF97E8D985}"/>
              </a:ext>
            </a:extLst>
          </p:cNvPr>
          <p:cNvSpPr/>
          <p:nvPr/>
        </p:nvSpPr>
        <p:spPr>
          <a:xfrm>
            <a:off x="2578539" y="5730683"/>
            <a:ext cx="127451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SAP Cloud Identity Service</a:t>
            </a:r>
            <a:endParaRPr lang="en-US" sz="900" dirty="0">
              <a:solidFill>
                <a:srgbClr val="1D2D3E"/>
              </a:solidFill>
            </a:endParaRPr>
          </a:p>
        </p:txBody>
      </p:sp>
      <p:cxnSp>
        <p:nvCxnSpPr>
          <p:cNvPr id="70" name="Straight Arrow Connector 69">
            <a:extLst>
              <a:ext uri="{FF2B5EF4-FFF2-40B4-BE49-F238E27FC236}">
                <a16:creationId xmlns:a16="http://schemas.microsoft.com/office/drawing/2014/main" id="{134ABDCA-FFD7-E95B-C776-CD0FF023A2E2}"/>
              </a:ext>
            </a:extLst>
          </p:cNvPr>
          <p:cNvCxnSpPr>
            <a:cxnSpLocks/>
            <a:endCxn id="141" idx="1"/>
          </p:cNvCxnSpPr>
          <p:nvPr/>
        </p:nvCxnSpPr>
        <p:spPr>
          <a:xfrm flipH="1">
            <a:off x="1651652" y="5882173"/>
            <a:ext cx="808723" cy="0"/>
          </a:xfrm>
          <a:prstGeom prst="straightConnector1">
            <a:avLst/>
          </a:prstGeom>
          <a:ln w="19050">
            <a:solidFill>
              <a:srgbClr val="354A5F"/>
            </a:solidFill>
            <a:prstDash val="dash"/>
            <a:headEnd w="sm" len="sm"/>
            <a:tailEnd type="none" w="med" len="lg"/>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1348512D-A255-4A1C-80D9-965565989C6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60375" y="1311609"/>
            <a:ext cx="551797" cy="153277"/>
          </a:xfrm>
          <a:prstGeom prst="rect">
            <a:avLst/>
          </a:prstGeom>
        </p:spPr>
      </p:pic>
      <p:cxnSp>
        <p:nvCxnSpPr>
          <p:cNvPr id="170" name="Elbow Connector 169">
            <a:extLst>
              <a:ext uri="{FF2B5EF4-FFF2-40B4-BE49-F238E27FC236}">
                <a16:creationId xmlns:a16="http://schemas.microsoft.com/office/drawing/2014/main" id="{55F622F1-A713-BF06-2FA1-55FCE45B0837}"/>
              </a:ext>
            </a:extLst>
          </p:cNvPr>
          <p:cNvCxnSpPr>
            <a:cxnSpLocks/>
            <a:stCxn id="21" idx="3"/>
            <a:endCxn id="23" idx="2"/>
          </p:cNvCxnSpPr>
          <p:nvPr/>
        </p:nvCxnSpPr>
        <p:spPr>
          <a:xfrm flipV="1">
            <a:off x="3999643" y="4807390"/>
            <a:ext cx="5965687" cy="789844"/>
          </a:xfrm>
          <a:prstGeom prst="bentConnector2">
            <a:avLst/>
          </a:prstGeom>
          <a:ln w="19050" cap="rnd">
            <a:solidFill>
              <a:srgbClr val="188918"/>
            </a:solidFill>
            <a:round/>
            <a:headEnd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Rounded Rectangle 19">
            <a:extLst>
              <a:ext uri="{FF2B5EF4-FFF2-40B4-BE49-F238E27FC236}">
                <a16:creationId xmlns:a16="http://schemas.microsoft.com/office/drawing/2014/main" id="{F81821A9-139C-7F3E-79BC-5FF09004FA2B}"/>
              </a:ext>
            </a:extLst>
          </p:cNvPr>
          <p:cNvSpPr/>
          <p:nvPr/>
        </p:nvSpPr>
        <p:spPr>
          <a:xfrm>
            <a:off x="2660514" y="2447129"/>
            <a:ext cx="2394124" cy="1047273"/>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3" name="Graphic 12">
            <a:extLst>
              <a:ext uri="{FF2B5EF4-FFF2-40B4-BE49-F238E27FC236}">
                <a16:creationId xmlns:a16="http://schemas.microsoft.com/office/drawing/2014/main" id="{1B196EAC-1B51-C9D5-E734-0E649A0017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28184" y="2763894"/>
            <a:ext cx="417600" cy="417600"/>
          </a:xfrm>
          <a:prstGeom prst="rect">
            <a:avLst/>
          </a:prstGeom>
        </p:spPr>
      </p:pic>
      <p:sp>
        <p:nvSpPr>
          <p:cNvPr id="14" name="Text 26">
            <a:extLst>
              <a:ext uri="{FF2B5EF4-FFF2-40B4-BE49-F238E27FC236}">
                <a16:creationId xmlns:a16="http://schemas.microsoft.com/office/drawing/2014/main" id="{0B7D93BE-8034-3C9D-303E-78216B33016A}"/>
              </a:ext>
            </a:extLst>
          </p:cNvPr>
          <p:cNvSpPr/>
          <p:nvPr/>
        </p:nvSpPr>
        <p:spPr>
          <a:xfrm>
            <a:off x="5270129" y="3254345"/>
            <a:ext cx="127451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Destination</a:t>
            </a:r>
            <a:endParaRPr lang="en-US" sz="900" dirty="0">
              <a:solidFill>
                <a:srgbClr val="1D2D3E"/>
              </a:solidFill>
            </a:endParaRPr>
          </a:p>
        </p:txBody>
      </p:sp>
      <p:cxnSp>
        <p:nvCxnSpPr>
          <p:cNvPr id="18" name="Straight Arrow Connector 17">
            <a:extLst>
              <a:ext uri="{FF2B5EF4-FFF2-40B4-BE49-F238E27FC236}">
                <a16:creationId xmlns:a16="http://schemas.microsoft.com/office/drawing/2014/main" id="{5D4E84A0-678D-9249-CEBB-6DBFA48E6B1D}"/>
              </a:ext>
            </a:extLst>
          </p:cNvPr>
          <p:cNvCxnSpPr>
            <a:cxnSpLocks/>
            <a:stCxn id="74" idx="3"/>
            <a:endCxn id="13" idx="1"/>
          </p:cNvCxnSpPr>
          <p:nvPr/>
        </p:nvCxnSpPr>
        <p:spPr>
          <a:xfrm>
            <a:off x="5054638" y="2970766"/>
            <a:ext cx="673546" cy="1928"/>
          </a:xfrm>
          <a:prstGeom prst="straightConnector1">
            <a:avLst/>
          </a:prstGeom>
          <a:ln w="19050">
            <a:solidFill>
              <a:srgbClr val="354A5F"/>
            </a:solidFill>
            <a:headEnd w="med"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10" name="Straight Arrow Connector 17">
            <a:extLst>
              <a:ext uri="{FF2B5EF4-FFF2-40B4-BE49-F238E27FC236}">
                <a16:creationId xmlns:a16="http://schemas.microsoft.com/office/drawing/2014/main" id="{7316A430-8DE8-0EA1-8F9F-D9A156626C7B}"/>
              </a:ext>
            </a:extLst>
          </p:cNvPr>
          <p:cNvCxnSpPr>
            <a:cxnSpLocks/>
            <a:stCxn id="13" idx="3"/>
            <a:endCxn id="23" idx="1"/>
          </p:cNvCxnSpPr>
          <p:nvPr/>
        </p:nvCxnSpPr>
        <p:spPr>
          <a:xfrm>
            <a:off x="6145784" y="2972694"/>
            <a:ext cx="2662545" cy="1133"/>
          </a:xfrm>
          <a:prstGeom prst="straightConnector1">
            <a:avLst/>
          </a:prstGeom>
          <a:ln w="19050">
            <a:solidFill>
              <a:srgbClr val="354A5F"/>
            </a:solidFill>
            <a:headEnd w="med" len="med"/>
            <a:tailEnd type="triangle" w="sm" len="med"/>
          </a:ln>
        </p:spPr>
        <p:style>
          <a:lnRef idx="1">
            <a:schemeClr val="accent1"/>
          </a:lnRef>
          <a:fillRef idx="0">
            <a:schemeClr val="accent1"/>
          </a:fillRef>
          <a:effectRef idx="0">
            <a:schemeClr val="accent1"/>
          </a:effectRef>
          <a:fontRef idx="minor">
            <a:schemeClr val="tx1"/>
          </a:fontRef>
        </p:style>
      </p:cxnSp>
      <p:sp>
        <p:nvSpPr>
          <p:cNvPr id="113" name="Text 29">
            <a:extLst>
              <a:ext uri="{FF2B5EF4-FFF2-40B4-BE49-F238E27FC236}">
                <a16:creationId xmlns:a16="http://schemas.microsoft.com/office/drawing/2014/main" id="{AF34BAD7-A468-7938-CCB1-90E0690C2AFB}"/>
              </a:ext>
            </a:extLst>
          </p:cNvPr>
          <p:cNvSpPr/>
          <p:nvPr/>
        </p:nvSpPr>
        <p:spPr>
          <a:xfrm>
            <a:off x="9035714" y="1831612"/>
            <a:ext cx="739609" cy="176014"/>
          </a:xfrm>
          <a:prstGeom prst="rect">
            <a:avLst/>
          </a:prstGeom>
          <a:noFill/>
          <a:ln/>
        </p:spPr>
        <p:txBody>
          <a:bodyPr wrap="square" lIns="0" tIns="0" rIns="0" bIns="0" rtlCol="0" anchor="t"/>
          <a:lstStyle/>
          <a:p>
            <a:pPr marL="0" indent="0" algn="l">
              <a:buNone/>
            </a:pPr>
            <a:r>
              <a:rPr lang="en-US" sz="1000" dirty="0">
                <a:solidFill>
                  <a:srgbClr val="1D2D3E"/>
                </a:solidFill>
                <a:latin typeface="72" panose="020B0503030000000003" pitchFamily="34" charset="0"/>
                <a:cs typeface="72" panose="020B0503030000000003" pitchFamily="34" charset="0"/>
              </a:rPr>
              <a:t>..</a:t>
            </a:r>
          </a:p>
        </p:txBody>
      </p:sp>
      <p:sp>
        <p:nvSpPr>
          <p:cNvPr id="114" name="Text 29">
            <a:extLst>
              <a:ext uri="{FF2B5EF4-FFF2-40B4-BE49-F238E27FC236}">
                <a16:creationId xmlns:a16="http://schemas.microsoft.com/office/drawing/2014/main" id="{DFF3898A-19E7-E64E-6967-3DCEC3376D55}"/>
              </a:ext>
            </a:extLst>
          </p:cNvPr>
          <p:cNvSpPr/>
          <p:nvPr/>
        </p:nvSpPr>
        <p:spPr>
          <a:xfrm>
            <a:off x="9015586" y="2279587"/>
            <a:ext cx="942943" cy="153113"/>
          </a:xfrm>
          <a:prstGeom prst="rect">
            <a:avLst/>
          </a:prstGeom>
          <a:noFill/>
          <a:ln/>
        </p:spPr>
        <p:txBody>
          <a:bodyPr wrap="square" lIns="0" tIns="0" rIns="0" bIns="0" rtlCol="0" anchor="t"/>
          <a:lstStyle/>
          <a:p>
            <a:pPr marL="0" indent="0" algn="l">
              <a:buNone/>
            </a:pPr>
            <a:r>
              <a:rPr lang="en-US" sz="1000">
                <a:solidFill>
                  <a:srgbClr val="1D2D3E"/>
                </a:solidFill>
                <a:latin typeface="72" panose="020B0503030000000003" pitchFamily="34" charset="0"/>
                <a:cs typeface="72" panose="020B0503030000000003" pitchFamily="34" charset="0"/>
              </a:rPr>
              <a:t>..</a:t>
            </a:r>
            <a:endParaRPr lang="en-US" sz="1000" dirty="0">
              <a:solidFill>
                <a:srgbClr val="1D2D3E"/>
              </a:solidFill>
              <a:latin typeface="72" panose="020B0503030000000003" pitchFamily="34" charset="0"/>
              <a:cs typeface="72" panose="020B0503030000000003" pitchFamily="34" charset="0"/>
            </a:endParaRPr>
          </a:p>
        </p:txBody>
      </p:sp>
      <p:grpSp>
        <p:nvGrpSpPr>
          <p:cNvPr id="220" name="Group 219">
            <a:extLst>
              <a:ext uri="{FF2B5EF4-FFF2-40B4-BE49-F238E27FC236}">
                <a16:creationId xmlns:a16="http://schemas.microsoft.com/office/drawing/2014/main" id="{C10369E0-02FA-1FE5-BD88-874D9B82DD2F}"/>
              </a:ext>
            </a:extLst>
          </p:cNvPr>
          <p:cNvGrpSpPr/>
          <p:nvPr/>
        </p:nvGrpSpPr>
        <p:grpSpPr>
          <a:xfrm>
            <a:off x="9452867" y="5867529"/>
            <a:ext cx="1428800" cy="842799"/>
            <a:chOff x="1975412" y="5009002"/>
            <a:chExt cx="1428800" cy="842799"/>
          </a:xfrm>
        </p:grpSpPr>
        <p:sp>
          <p:nvSpPr>
            <p:cNvPr id="210" name="Rectangle 209">
              <a:extLst>
                <a:ext uri="{FF2B5EF4-FFF2-40B4-BE49-F238E27FC236}">
                  <a16:creationId xmlns:a16="http://schemas.microsoft.com/office/drawing/2014/main" id="{E48BC28C-7E70-F0B1-C6EA-F041FC18DD04}"/>
                </a:ext>
              </a:extLst>
            </p:cNvPr>
            <p:cNvSpPr/>
            <p:nvPr/>
          </p:nvSpPr>
          <p:spPr bwMode="gray">
            <a:xfrm>
              <a:off x="1975412" y="5009002"/>
              <a:ext cx="1428800" cy="842799"/>
            </a:xfrm>
            <a:prstGeom prst="rect">
              <a:avLst/>
            </a:prstGeom>
            <a:solidFill>
              <a:srgbClr val="F5F6F8"/>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2" name="Text 29">
              <a:extLst>
                <a:ext uri="{FF2B5EF4-FFF2-40B4-BE49-F238E27FC236}">
                  <a16:creationId xmlns:a16="http://schemas.microsoft.com/office/drawing/2014/main" id="{9F3F889F-618E-8E06-7EDD-00286B5A0E37}"/>
                </a:ext>
              </a:extLst>
            </p:cNvPr>
            <p:cNvSpPr/>
            <p:nvPr/>
          </p:nvSpPr>
          <p:spPr>
            <a:xfrm>
              <a:off x="2059443" y="5071708"/>
              <a:ext cx="588600" cy="120909"/>
            </a:xfrm>
            <a:prstGeom prst="rect">
              <a:avLst/>
            </a:prstGeom>
            <a:noFill/>
            <a:ln/>
          </p:spPr>
          <p:txBody>
            <a:bodyPr wrap="square" lIns="0" tIns="0" rIns="0" bIns="0" rtlCol="0" anchor="t"/>
            <a:lstStyle/>
            <a:p>
              <a:pPr marL="0" indent="0" algn="l">
                <a:buNone/>
              </a:pPr>
              <a:r>
                <a:rPr lang="en-US" sz="800" dirty="0">
                  <a:solidFill>
                    <a:srgbClr val="1D2D3E"/>
                  </a:solidFill>
                  <a:latin typeface="72 Semibold" pitchFamily="34" charset="0"/>
                  <a:ea typeface="72 Semibold" pitchFamily="34" charset="-122"/>
                  <a:cs typeface="72 Semibold" pitchFamily="34" charset="-120"/>
                </a:rPr>
                <a:t>Legend</a:t>
              </a:r>
              <a:endParaRPr lang="en-US" sz="800" dirty="0">
                <a:solidFill>
                  <a:srgbClr val="1D2D3E"/>
                </a:solidFill>
              </a:endParaRPr>
            </a:p>
          </p:txBody>
        </p:sp>
        <p:sp>
          <p:nvSpPr>
            <p:cNvPr id="213" name="Text 32">
              <a:extLst>
                <a:ext uri="{FF2B5EF4-FFF2-40B4-BE49-F238E27FC236}">
                  <a16:creationId xmlns:a16="http://schemas.microsoft.com/office/drawing/2014/main" id="{453C6DAB-4C4A-D348-7CFD-B343B2A6E1E2}"/>
                </a:ext>
              </a:extLst>
            </p:cNvPr>
            <p:cNvSpPr/>
            <p:nvPr/>
          </p:nvSpPr>
          <p:spPr>
            <a:xfrm>
              <a:off x="2494963" y="5369946"/>
              <a:ext cx="868854" cy="120909"/>
            </a:xfrm>
            <a:prstGeom prst="rect">
              <a:avLst/>
            </a:prstGeom>
            <a:noFill/>
            <a:ln/>
          </p:spPr>
          <p:txBody>
            <a:bodyPr wrap="square" lIns="0" tIns="0" rIns="0" bIns="0" rtlCol="0" anchor="t"/>
            <a:lstStyle/>
            <a:p>
              <a:pPr marL="0" indent="0" algn="l">
                <a:buNone/>
              </a:pPr>
              <a:r>
                <a:rPr lang="en-US" sz="700" dirty="0">
                  <a:solidFill>
                    <a:srgbClr val="5B738B">
                      <a:alpha val="100000"/>
                    </a:srgbClr>
                  </a:solidFill>
                  <a:latin typeface="72 Semibold" pitchFamily="34" charset="0"/>
                  <a:ea typeface="72 Semibold" pitchFamily="34" charset="-122"/>
                  <a:cs typeface="72 Semibold" pitchFamily="34" charset="-120"/>
                </a:rPr>
                <a:t>Request - Response</a:t>
              </a:r>
              <a:endParaRPr lang="en-US" sz="700" dirty="0"/>
            </a:p>
          </p:txBody>
        </p:sp>
        <p:cxnSp>
          <p:nvCxnSpPr>
            <p:cNvPr id="215" name="Straight Arrow Connector 214">
              <a:extLst>
                <a:ext uri="{FF2B5EF4-FFF2-40B4-BE49-F238E27FC236}">
                  <a16:creationId xmlns:a16="http://schemas.microsoft.com/office/drawing/2014/main" id="{4D056DBC-6791-F7D6-B5B6-C1D2A533F572}"/>
                </a:ext>
              </a:extLst>
            </p:cNvPr>
            <p:cNvCxnSpPr>
              <a:cxnSpLocks/>
            </p:cNvCxnSpPr>
            <p:nvPr/>
          </p:nvCxnSpPr>
          <p:spPr>
            <a:xfrm>
              <a:off x="2058899" y="5434206"/>
              <a:ext cx="352577" cy="0"/>
            </a:xfrm>
            <a:prstGeom prst="straightConnector1">
              <a:avLst/>
            </a:prstGeom>
            <a:ln w="19050">
              <a:solidFill>
                <a:srgbClr val="354A5F"/>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6A54435F-1ADA-A122-FBAC-0A784BBF3F2A}"/>
                </a:ext>
              </a:extLst>
            </p:cNvPr>
            <p:cNvCxnSpPr>
              <a:cxnSpLocks/>
            </p:cNvCxnSpPr>
            <p:nvPr/>
          </p:nvCxnSpPr>
          <p:spPr>
            <a:xfrm>
              <a:off x="2063989" y="5588530"/>
              <a:ext cx="347487" cy="0"/>
            </a:xfrm>
            <a:prstGeom prst="straightConnector1">
              <a:avLst/>
            </a:prstGeom>
            <a:ln w="19050">
              <a:solidFill>
                <a:srgbClr val="188918"/>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219" name="Text 32">
              <a:extLst>
                <a:ext uri="{FF2B5EF4-FFF2-40B4-BE49-F238E27FC236}">
                  <a16:creationId xmlns:a16="http://schemas.microsoft.com/office/drawing/2014/main" id="{B71DB64C-CD50-0F76-46E2-D97374B69765}"/>
                </a:ext>
              </a:extLst>
            </p:cNvPr>
            <p:cNvSpPr/>
            <p:nvPr/>
          </p:nvSpPr>
          <p:spPr>
            <a:xfrm>
              <a:off x="2494963" y="5528075"/>
              <a:ext cx="868854" cy="120909"/>
            </a:xfrm>
            <a:prstGeom prst="rect">
              <a:avLst/>
            </a:prstGeom>
            <a:noFill/>
            <a:ln/>
          </p:spPr>
          <p:txBody>
            <a:bodyPr wrap="square" lIns="0" tIns="0" rIns="0" bIns="0" rtlCol="0" anchor="t"/>
            <a:lstStyle/>
            <a:p>
              <a:pPr marL="0" indent="0" algn="l">
                <a:buNone/>
              </a:pPr>
              <a:r>
                <a:rPr lang="en-US" sz="700" dirty="0">
                  <a:solidFill>
                    <a:srgbClr val="5B738B">
                      <a:alpha val="100000"/>
                    </a:srgbClr>
                  </a:solidFill>
                  <a:latin typeface="72 Semibold" pitchFamily="34" charset="0"/>
                  <a:ea typeface="72 Semibold" pitchFamily="34" charset="-122"/>
                  <a:cs typeface="72 Semibold" pitchFamily="34" charset="-120"/>
                </a:rPr>
                <a:t>Authenticate</a:t>
              </a:r>
              <a:endParaRPr lang="en-US" sz="700" dirty="0"/>
            </a:p>
          </p:txBody>
        </p:sp>
      </p:grpSp>
      <p:sp>
        <p:nvSpPr>
          <p:cNvPr id="2" name="Titel 1">
            <a:extLst>
              <a:ext uri="{FF2B5EF4-FFF2-40B4-BE49-F238E27FC236}">
                <a16:creationId xmlns:a16="http://schemas.microsoft.com/office/drawing/2014/main" id="{42E08E89-6196-B36A-0A11-BDCACA2FDC4D}"/>
              </a:ext>
            </a:extLst>
          </p:cNvPr>
          <p:cNvSpPr>
            <a:spLocks noGrp="1"/>
          </p:cNvSpPr>
          <p:nvPr>
            <p:ph type="title"/>
          </p:nvPr>
        </p:nvSpPr>
        <p:spPr>
          <a:xfrm>
            <a:off x="504001" y="504000"/>
            <a:ext cx="11186476" cy="369332"/>
          </a:xfrm>
        </p:spPr>
        <p:txBody>
          <a:bodyPr/>
          <a:lstStyle/>
          <a:p>
            <a:r>
              <a:rPr lang="en-US" dirty="0">
                <a:solidFill>
                  <a:srgbClr val="000000"/>
                </a:solidFill>
              </a:rPr>
              <a:t>XP262 – Solution Diagram </a:t>
            </a:r>
            <a:r>
              <a:rPr lang="en-US" dirty="0">
                <a:solidFill>
                  <a:srgbClr val="12171C"/>
                </a:solidFill>
              </a:rPr>
              <a:t>Sales order process extension</a:t>
            </a:r>
            <a:endParaRPr lang="de-DE" dirty="0"/>
          </a:p>
        </p:txBody>
      </p:sp>
      <p:grpSp>
        <p:nvGrpSpPr>
          <p:cNvPr id="205" name="Gruppieren 204">
            <a:extLst>
              <a:ext uri="{FF2B5EF4-FFF2-40B4-BE49-F238E27FC236}">
                <a16:creationId xmlns:a16="http://schemas.microsoft.com/office/drawing/2014/main" id="{19C42E5A-822B-C16F-CF73-663A6F873535}"/>
              </a:ext>
            </a:extLst>
          </p:cNvPr>
          <p:cNvGrpSpPr/>
          <p:nvPr/>
        </p:nvGrpSpPr>
        <p:grpSpPr>
          <a:xfrm>
            <a:off x="2565006" y="2170782"/>
            <a:ext cx="1274516" cy="271938"/>
            <a:chOff x="2510688" y="2134570"/>
            <a:chExt cx="1274516" cy="271938"/>
          </a:xfrm>
        </p:grpSpPr>
        <p:sp>
          <p:nvSpPr>
            <p:cNvPr id="129" name="Text 26">
              <a:extLst>
                <a:ext uri="{FF2B5EF4-FFF2-40B4-BE49-F238E27FC236}">
                  <a16:creationId xmlns:a16="http://schemas.microsoft.com/office/drawing/2014/main" id="{2555C3E5-3EF3-94F9-AED2-6C93562E21E8}"/>
                </a:ext>
              </a:extLst>
            </p:cNvPr>
            <p:cNvSpPr/>
            <p:nvPr/>
          </p:nvSpPr>
          <p:spPr>
            <a:xfrm>
              <a:off x="2510688" y="2173255"/>
              <a:ext cx="127451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SAP Build</a:t>
              </a:r>
            </a:p>
          </p:txBody>
        </p:sp>
        <p:pic>
          <p:nvPicPr>
            <p:cNvPr id="137" name="Grafik 136">
              <a:extLst>
                <a:ext uri="{FF2B5EF4-FFF2-40B4-BE49-F238E27FC236}">
                  <a16:creationId xmlns:a16="http://schemas.microsoft.com/office/drawing/2014/main" id="{7F5D6AAF-43F2-CBB3-2BFD-CDAA244679A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615244" y="2134570"/>
              <a:ext cx="210643" cy="210643"/>
            </a:xfrm>
            <a:prstGeom prst="rect">
              <a:avLst/>
            </a:prstGeom>
          </p:spPr>
        </p:pic>
      </p:grpSp>
      <p:pic>
        <p:nvPicPr>
          <p:cNvPr id="140" name="Picture 26">
            <a:extLst>
              <a:ext uri="{FF2B5EF4-FFF2-40B4-BE49-F238E27FC236}">
                <a16:creationId xmlns:a16="http://schemas.microsoft.com/office/drawing/2014/main" id="{B6CB2CAC-F92B-712A-40C0-0DF769C2394F}"/>
              </a:ext>
            </a:extLst>
          </p:cNvPr>
          <p:cNvPicPr>
            <a:picLocks noChangeAspect="1"/>
          </p:cNvPicPr>
          <p:nvPr/>
        </p:nvPicPr>
        <p:blipFill>
          <a:blip r:embed="rId10"/>
          <a:stretch>
            <a:fillRect/>
          </a:stretch>
        </p:blipFill>
        <p:spPr>
          <a:xfrm>
            <a:off x="8981396" y="1309975"/>
            <a:ext cx="1293659" cy="154800"/>
          </a:xfrm>
          <a:prstGeom prst="rect">
            <a:avLst/>
          </a:prstGeom>
        </p:spPr>
      </p:pic>
      <p:pic>
        <p:nvPicPr>
          <p:cNvPr id="141" name="Graphic 45">
            <a:extLst>
              <a:ext uri="{FF2B5EF4-FFF2-40B4-BE49-F238E27FC236}">
                <a16:creationId xmlns:a16="http://schemas.microsoft.com/office/drawing/2014/main" id="{96475159-914F-F03D-B4B4-63D48C1B907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0800000" flipV="1">
            <a:off x="1234052" y="5673373"/>
            <a:ext cx="417600" cy="417600"/>
          </a:xfrm>
          <a:prstGeom prst="rect">
            <a:avLst/>
          </a:prstGeom>
        </p:spPr>
      </p:pic>
      <p:sp>
        <p:nvSpPr>
          <p:cNvPr id="142" name="Text 32">
            <a:extLst>
              <a:ext uri="{FF2B5EF4-FFF2-40B4-BE49-F238E27FC236}">
                <a16:creationId xmlns:a16="http://schemas.microsoft.com/office/drawing/2014/main" id="{06E949BC-9CEC-155B-67EB-55DE1E39BBB0}"/>
              </a:ext>
            </a:extLst>
          </p:cNvPr>
          <p:cNvSpPr/>
          <p:nvPr/>
        </p:nvSpPr>
        <p:spPr>
          <a:xfrm>
            <a:off x="709436" y="6178717"/>
            <a:ext cx="1371257" cy="220424"/>
          </a:xfrm>
          <a:prstGeom prst="rect">
            <a:avLst/>
          </a:prstGeom>
          <a:noFill/>
          <a:ln/>
        </p:spPr>
        <p:txBody>
          <a:bodyPr wrap="square" lIns="0" tIns="0" rIns="0" bIns="0" rtlCol="0" anchor="t"/>
          <a:lstStyle/>
          <a:p>
            <a:pPr algn="ctr"/>
            <a:r>
              <a:rPr lang="en-US" sz="700" dirty="0">
                <a:solidFill>
                  <a:srgbClr val="5B738B">
                    <a:alpha val="100000"/>
                  </a:srgbClr>
                </a:solidFill>
                <a:latin typeface="72 Semibold" pitchFamily="34" charset="0"/>
                <a:ea typeface="72 Semibold" pitchFamily="34" charset="-122"/>
                <a:cs typeface="72 Semibold" pitchFamily="34" charset="-120"/>
              </a:rPr>
              <a:t>3rd party identity provider /</a:t>
            </a:r>
          </a:p>
          <a:p>
            <a:pPr algn="ctr"/>
            <a:r>
              <a:rPr lang="en-US" sz="700" dirty="0">
                <a:solidFill>
                  <a:srgbClr val="5B738B">
                    <a:alpha val="100000"/>
                  </a:srgbClr>
                </a:solidFill>
                <a:latin typeface="72 Semibold" pitchFamily="34" charset="0"/>
                <a:ea typeface="72 Semibold" pitchFamily="34" charset="-122"/>
                <a:cs typeface="72 Semibold" pitchFamily="34" charset="-120"/>
              </a:rPr>
              <a:t>Identity management</a:t>
            </a:r>
          </a:p>
          <a:p>
            <a:pPr algn="ctr"/>
            <a:endParaRPr lang="en-US" sz="700" dirty="0"/>
          </a:p>
        </p:txBody>
      </p:sp>
      <p:sp>
        <p:nvSpPr>
          <p:cNvPr id="143" name="Text 26">
            <a:extLst>
              <a:ext uri="{FF2B5EF4-FFF2-40B4-BE49-F238E27FC236}">
                <a16:creationId xmlns:a16="http://schemas.microsoft.com/office/drawing/2014/main" id="{F1B7D3B3-5256-2795-143B-E01BD324BDAD}"/>
              </a:ext>
            </a:extLst>
          </p:cNvPr>
          <p:cNvSpPr/>
          <p:nvPr/>
        </p:nvSpPr>
        <p:spPr>
          <a:xfrm>
            <a:off x="746492" y="3210983"/>
            <a:ext cx="1371257" cy="218017"/>
          </a:xfrm>
          <a:prstGeom prst="rect">
            <a:avLst/>
          </a:prstGeom>
          <a:noFill/>
          <a:ln/>
        </p:spPr>
        <p:txBody>
          <a:bodyPr wrap="square" lIns="0" tIns="0" rIns="0" bIns="0" rtlCol="0" anchor="t"/>
          <a:lstStyle/>
          <a:p>
            <a:pPr marL="0" indent="0" algn="ctr">
              <a:lnSpc>
                <a:spcPts val="1100"/>
              </a:lnSpc>
              <a:buNone/>
            </a:pPr>
            <a:r>
              <a:rPr lang="en-US" sz="1100" dirty="0">
                <a:solidFill>
                  <a:srgbClr val="1D2D3E"/>
                </a:solidFill>
                <a:latin typeface="72 Bold" pitchFamily="34" charset="0"/>
                <a:ea typeface="72 Bold" pitchFamily="34" charset="-122"/>
                <a:cs typeface="72 Bold" pitchFamily="34" charset="-120"/>
              </a:rPr>
              <a:t>Application Clients</a:t>
            </a:r>
            <a:endParaRPr lang="en-US" sz="1100" dirty="0">
              <a:solidFill>
                <a:srgbClr val="1D2D3E"/>
              </a:solidFill>
            </a:endParaRPr>
          </a:p>
        </p:txBody>
      </p:sp>
      <p:sp>
        <p:nvSpPr>
          <p:cNvPr id="144" name="Text 26">
            <a:extLst>
              <a:ext uri="{FF2B5EF4-FFF2-40B4-BE49-F238E27FC236}">
                <a16:creationId xmlns:a16="http://schemas.microsoft.com/office/drawing/2014/main" id="{34C0A365-3A19-4C74-9FA1-7F9C486584AF}"/>
              </a:ext>
            </a:extLst>
          </p:cNvPr>
          <p:cNvSpPr/>
          <p:nvPr/>
        </p:nvSpPr>
        <p:spPr>
          <a:xfrm>
            <a:off x="1014247" y="2142924"/>
            <a:ext cx="835746" cy="141456"/>
          </a:xfrm>
          <a:prstGeom prst="rect">
            <a:avLst/>
          </a:prstGeom>
          <a:noFill/>
          <a:ln/>
        </p:spPr>
        <p:txBody>
          <a:bodyPr wrap="square" lIns="0" tIns="0" rIns="0" bIns="0" rtlCol="0" anchor="t"/>
          <a:lstStyle/>
          <a:p>
            <a:pPr marL="0" indent="0" algn="ctr">
              <a:lnSpc>
                <a:spcPts val="1100"/>
              </a:lnSpc>
              <a:buNone/>
            </a:pPr>
            <a:r>
              <a:rPr lang="en-US" sz="1000" dirty="0">
                <a:solidFill>
                  <a:srgbClr val="1D2D3E"/>
                </a:solidFill>
                <a:latin typeface="72 Bold" pitchFamily="34" charset="0"/>
                <a:ea typeface="72 Bold" pitchFamily="34" charset="-122"/>
                <a:cs typeface="72 Bold" pitchFamily="34" charset="-120"/>
              </a:rPr>
              <a:t>End User</a:t>
            </a:r>
            <a:endParaRPr lang="en-US" sz="1000" dirty="0">
              <a:solidFill>
                <a:srgbClr val="1D2D3E"/>
              </a:solidFill>
            </a:endParaRPr>
          </a:p>
        </p:txBody>
      </p:sp>
      <p:cxnSp>
        <p:nvCxnSpPr>
          <p:cNvPr id="145" name="Straight Arrow Connector 93">
            <a:extLst>
              <a:ext uri="{FF2B5EF4-FFF2-40B4-BE49-F238E27FC236}">
                <a16:creationId xmlns:a16="http://schemas.microsoft.com/office/drawing/2014/main" id="{1AA217DD-7997-F6CC-3059-B8C66F02462C}"/>
              </a:ext>
            </a:extLst>
          </p:cNvPr>
          <p:cNvCxnSpPr>
            <a:cxnSpLocks/>
            <a:stCxn id="144" idx="2"/>
            <a:endCxn id="147" idx="0"/>
          </p:cNvCxnSpPr>
          <p:nvPr/>
        </p:nvCxnSpPr>
        <p:spPr>
          <a:xfrm>
            <a:off x="1432120" y="2284380"/>
            <a:ext cx="0" cy="479514"/>
          </a:xfrm>
          <a:prstGeom prst="straightConnector1">
            <a:avLst/>
          </a:prstGeom>
          <a:ln w="19050">
            <a:solidFill>
              <a:srgbClr val="354A5F"/>
            </a:solidFill>
            <a:headEnd w="med" len="med"/>
            <a:tailEnd type="triangle" w="sm" len="med"/>
          </a:ln>
        </p:spPr>
        <p:style>
          <a:lnRef idx="1">
            <a:schemeClr val="accent1"/>
          </a:lnRef>
          <a:fillRef idx="0">
            <a:schemeClr val="accent1"/>
          </a:fillRef>
          <a:effectRef idx="0">
            <a:schemeClr val="accent1"/>
          </a:effectRef>
          <a:fontRef idx="minor">
            <a:schemeClr val="tx1"/>
          </a:fontRef>
        </p:style>
      </p:cxnSp>
      <p:sp>
        <p:nvSpPr>
          <p:cNvPr id="146" name="Text 32">
            <a:extLst>
              <a:ext uri="{FF2B5EF4-FFF2-40B4-BE49-F238E27FC236}">
                <a16:creationId xmlns:a16="http://schemas.microsoft.com/office/drawing/2014/main" id="{6F2788D2-7A54-53FD-2F1C-4307E4599A6C}"/>
              </a:ext>
            </a:extLst>
          </p:cNvPr>
          <p:cNvSpPr/>
          <p:nvPr/>
        </p:nvSpPr>
        <p:spPr>
          <a:xfrm>
            <a:off x="1004478" y="3365441"/>
            <a:ext cx="855285" cy="139700"/>
          </a:xfrm>
          <a:prstGeom prst="rect">
            <a:avLst/>
          </a:prstGeom>
          <a:noFill/>
          <a:ln/>
        </p:spPr>
        <p:txBody>
          <a:bodyPr wrap="square" lIns="0" tIns="0" rIns="0" bIns="0" rtlCol="0" anchor="t"/>
          <a:lstStyle/>
          <a:p>
            <a:pPr algn="ctr"/>
            <a:r>
              <a:rPr lang="en-US" sz="700" dirty="0">
                <a:solidFill>
                  <a:srgbClr val="5B738B">
                    <a:alpha val="100000"/>
                  </a:srgbClr>
                </a:solidFill>
                <a:latin typeface="72 Semibold" pitchFamily="34" charset="0"/>
                <a:ea typeface="72 Semibold" pitchFamily="34" charset="-122"/>
                <a:cs typeface="72 Semibold" pitchFamily="34" charset="-120"/>
              </a:rPr>
              <a:t>Mobile or Desktop</a:t>
            </a:r>
            <a:endParaRPr lang="en-US" sz="700" dirty="0"/>
          </a:p>
        </p:txBody>
      </p:sp>
      <p:pic>
        <p:nvPicPr>
          <p:cNvPr id="147" name="Graphic 121">
            <a:extLst>
              <a:ext uri="{FF2B5EF4-FFF2-40B4-BE49-F238E27FC236}">
                <a16:creationId xmlns:a16="http://schemas.microsoft.com/office/drawing/2014/main" id="{0B7BBCF7-D97A-9467-EFD1-545CF60A6BA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23320" y="2763894"/>
            <a:ext cx="417600" cy="417600"/>
          </a:xfrm>
          <a:prstGeom prst="rect">
            <a:avLst/>
          </a:prstGeom>
        </p:spPr>
      </p:pic>
      <p:pic>
        <p:nvPicPr>
          <p:cNvPr id="149" name="Graphic 122">
            <a:extLst>
              <a:ext uri="{FF2B5EF4-FFF2-40B4-BE49-F238E27FC236}">
                <a16:creationId xmlns:a16="http://schemas.microsoft.com/office/drawing/2014/main" id="{9595B635-C7BC-ED72-35EB-F06D45CDE50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228208" y="1657584"/>
            <a:ext cx="417600" cy="417600"/>
          </a:xfrm>
          <a:prstGeom prst="rect">
            <a:avLst/>
          </a:prstGeom>
        </p:spPr>
      </p:pic>
      <p:cxnSp>
        <p:nvCxnSpPr>
          <p:cNvPr id="153" name="Straight Arrow Connector 17">
            <a:extLst>
              <a:ext uri="{FF2B5EF4-FFF2-40B4-BE49-F238E27FC236}">
                <a16:creationId xmlns:a16="http://schemas.microsoft.com/office/drawing/2014/main" id="{2CB6DA5D-4446-6DF4-17B4-0ADB221A2BFB}"/>
              </a:ext>
            </a:extLst>
          </p:cNvPr>
          <p:cNvCxnSpPr>
            <a:cxnSpLocks/>
            <a:stCxn id="147" idx="3"/>
            <a:endCxn id="74" idx="1"/>
          </p:cNvCxnSpPr>
          <p:nvPr/>
        </p:nvCxnSpPr>
        <p:spPr>
          <a:xfrm flipV="1">
            <a:off x="1640920" y="2970766"/>
            <a:ext cx="1019594" cy="1928"/>
          </a:xfrm>
          <a:prstGeom prst="straightConnector1">
            <a:avLst/>
          </a:prstGeom>
          <a:ln w="19050">
            <a:solidFill>
              <a:srgbClr val="354A5F"/>
            </a:solidFill>
            <a:headEnd w="med"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68" name="Elbow Connector 123">
            <a:extLst>
              <a:ext uri="{FF2B5EF4-FFF2-40B4-BE49-F238E27FC236}">
                <a16:creationId xmlns:a16="http://schemas.microsoft.com/office/drawing/2014/main" id="{4CA7BF8D-AE51-8658-98F9-EF72E35F4821}"/>
              </a:ext>
            </a:extLst>
          </p:cNvPr>
          <p:cNvCxnSpPr>
            <a:cxnSpLocks/>
            <a:stCxn id="146" idx="2"/>
            <a:endCxn id="21" idx="1"/>
          </p:cNvCxnSpPr>
          <p:nvPr/>
        </p:nvCxnSpPr>
        <p:spPr>
          <a:xfrm rot="16200000" flipH="1">
            <a:off x="895487" y="4041774"/>
            <a:ext cx="2092093" cy="1018825"/>
          </a:xfrm>
          <a:prstGeom prst="bentConnector2">
            <a:avLst/>
          </a:prstGeom>
          <a:ln w="19050" cap="rnd">
            <a:solidFill>
              <a:srgbClr val="188918"/>
            </a:solidFill>
            <a:roun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3" name="Straight Arrow Connector 147">
            <a:extLst>
              <a:ext uri="{FF2B5EF4-FFF2-40B4-BE49-F238E27FC236}">
                <a16:creationId xmlns:a16="http://schemas.microsoft.com/office/drawing/2014/main" id="{C56FDC7B-1691-0F6D-33B7-2CA3E406388B}"/>
              </a:ext>
            </a:extLst>
          </p:cNvPr>
          <p:cNvCxnSpPr>
            <a:cxnSpLocks/>
            <a:stCxn id="21" idx="0"/>
          </p:cNvCxnSpPr>
          <p:nvPr/>
        </p:nvCxnSpPr>
        <p:spPr>
          <a:xfrm flipV="1">
            <a:off x="3225295" y="3992578"/>
            <a:ext cx="0" cy="1119761"/>
          </a:xfrm>
          <a:prstGeom prst="straightConnector1">
            <a:avLst/>
          </a:prstGeom>
          <a:ln w="19050">
            <a:solidFill>
              <a:srgbClr val="188918"/>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4046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0C2FB5-8F97-D185-B35D-AF337F45F02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B2CE991-9740-7F9E-0BFE-191213478AEE}"/>
              </a:ext>
            </a:extLst>
          </p:cNvPr>
          <p:cNvSpPr>
            <a:spLocks noGrp="1"/>
          </p:cNvSpPr>
          <p:nvPr>
            <p:ph type="ctrTitle"/>
          </p:nvPr>
        </p:nvSpPr>
        <p:spPr/>
        <p:txBody>
          <a:bodyPr/>
          <a:lstStyle/>
          <a:p>
            <a:r>
              <a:rPr lang="en-US" noProof="0"/>
              <a:t>⚠️ Spoiler alert ⚠️</a:t>
            </a:r>
            <a:br>
              <a:rPr lang="en-US" noProof="0"/>
            </a:br>
            <a:br>
              <a:rPr lang="en-US" noProof="0"/>
            </a:br>
            <a:r>
              <a:rPr lang="en-US" noProof="0"/>
              <a:t>Example Solution</a:t>
            </a:r>
            <a:br>
              <a:rPr lang="en-US" noProof="0"/>
            </a:br>
            <a:endParaRPr lang="en-US" noProof="0"/>
          </a:p>
        </p:txBody>
      </p:sp>
    </p:spTree>
    <p:extLst>
      <p:ext uri="{BB962C8B-B14F-4D97-AF65-F5344CB8AC3E}">
        <p14:creationId xmlns:p14="http://schemas.microsoft.com/office/powerpoint/2010/main" val="6248013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2" name="Titel 11">
            <a:extLst>
              <a:ext uri="{FF2B5EF4-FFF2-40B4-BE49-F238E27FC236}">
                <a16:creationId xmlns:a16="http://schemas.microsoft.com/office/drawing/2014/main" id="{E14C9C34-2B28-A735-A308-2B7CAE2FE2DF}"/>
              </a:ext>
            </a:extLst>
          </p:cNvPr>
          <p:cNvSpPr>
            <a:spLocks noGrp="1"/>
          </p:cNvSpPr>
          <p:nvPr>
            <p:ph type="title"/>
          </p:nvPr>
        </p:nvSpPr>
        <p:spPr>
          <a:xfrm>
            <a:off x="504001" y="504000"/>
            <a:ext cx="11186476" cy="615553"/>
          </a:xfrm>
        </p:spPr>
        <p:txBody>
          <a:bodyPr/>
          <a:lstStyle/>
          <a:p>
            <a:r>
              <a:rPr lang="en-US" sz="2000" dirty="0"/>
              <a:t>Extension Technology per Extension Task Mapping - Scene 01: Sales Order data entry </a:t>
            </a:r>
            <a:br>
              <a:rPr lang="en-US" sz="2000" dirty="0"/>
            </a:br>
            <a:endParaRPr lang="en-US" sz="2000" dirty="0"/>
          </a:p>
        </p:txBody>
      </p:sp>
      <p:sp>
        <p:nvSpPr>
          <p:cNvPr id="171" name="Rechteck 28">
            <a:extLst>
              <a:ext uri="{FF2B5EF4-FFF2-40B4-BE49-F238E27FC236}">
                <a16:creationId xmlns:a16="http://schemas.microsoft.com/office/drawing/2014/main" id="{04F78E30-C02D-24C3-9B1D-60966299B728}"/>
              </a:ext>
            </a:extLst>
          </p:cNvPr>
          <p:cNvSpPr/>
          <p:nvPr/>
        </p:nvSpPr>
        <p:spPr bwMode="gray">
          <a:xfrm>
            <a:off x="1340321"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1</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72" name="Gefaltete Ecke 13">
            <a:extLst>
              <a:ext uri="{FF2B5EF4-FFF2-40B4-BE49-F238E27FC236}">
                <a16:creationId xmlns:a16="http://schemas.microsoft.com/office/drawing/2014/main" id="{F560DC32-12C7-0F8B-9945-AFC0E4855B4C}"/>
              </a:ext>
            </a:extLst>
          </p:cNvPr>
          <p:cNvSpPr/>
          <p:nvPr/>
        </p:nvSpPr>
        <p:spPr bwMode="gray">
          <a:xfrm>
            <a:off x="1484320" y="1574264"/>
            <a:ext cx="3061607"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dirty="0">
                <a:latin typeface="72 Brand" panose="020B0504030603020204" pitchFamily="34" charset="0"/>
                <a:ea typeface="Arial Unicode MS" pitchFamily="34" charset="-128"/>
                <a:cs typeface="Arial Unicode MS" pitchFamily="34" charset="-128"/>
              </a:rPr>
              <a:t>Scene 01:</a:t>
            </a:r>
          </a:p>
          <a:p>
            <a:pPr algn="ctr" defTabSz="914400" fontAlgn="base">
              <a:spcBef>
                <a:spcPct val="50000"/>
              </a:spcBef>
              <a:spcAft>
                <a:spcPct val="0"/>
              </a:spcAft>
              <a:buClr>
                <a:srgbClr val="F0AB00"/>
              </a:buClr>
              <a:buSzPct val="80000"/>
            </a:pPr>
            <a:r>
              <a:rPr lang="en-US" sz="900" b="1" kern="0" dirty="0">
                <a:latin typeface="72 Brand" panose="020B0504030603020204" pitchFamily="34" charset="0"/>
                <a:ea typeface="Arial Unicode MS" pitchFamily="34" charset="-128"/>
                <a:cs typeface="Arial Unicode MS" pitchFamily="34" charset="-128"/>
              </a:rPr>
              <a:t>Sales Order data entry </a:t>
            </a:r>
          </a:p>
        </p:txBody>
      </p:sp>
      <p:sp>
        <p:nvSpPr>
          <p:cNvPr id="195" name="Gefaltete Ecke 6">
            <a:extLst>
              <a:ext uri="{FF2B5EF4-FFF2-40B4-BE49-F238E27FC236}">
                <a16:creationId xmlns:a16="http://schemas.microsoft.com/office/drawing/2014/main" id="{0DAD419A-5070-48BA-565A-5E3619A2D487}"/>
              </a:ext>
            </a:extLst>
          </p:cNvPr>
          <p:cNvSpPr/>
          <p:nvPr/>
        </p:nvSpPr>
        <p:spPr bwMode="gray">
          <a:xfrm>
            <a:off x="3094044"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Display material data on UI</a:t>
            </a:r>
          </a:p>
        </p:txBody>
      </p:sp>
      <p:sp>
        <p:nvSpPr>
          <p:cNvPr id="193" name="Gefaltete Ecke 6">
            <a:extLst>
              <a:ext uri="{FF2B5EF4-FFF2-40B4-BE49-F238E27FC236}">
                <a16:creationId xmlns:a16="http://schemas.microsoft.com/office/drawing/2014/main" id="{310C31AC-37EF-666D-6FE1-B72E9F274CB2}"/>
              </a:ext>
            </a:extLst>
          </p:cNvPr>
          <p:cNvSpPr/>
          <p:nvPr/>
        </p:nvSpPr>
        <p:spPr bwMode="gray">
          <a:xfrm>
            <a:off x="152619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endParaRPr lang="en-US" sz="1050" dirty="0">
              <a:solidFill>
                <a:srgbClr val="12171C"/>
              </a:solidFill>
              <a:latin typeface="72 Brand" panose="020B0504030603020204" pitchFamily="34" charset="0"/>
              <a:cs typeface="Times New Roman"/>
            </a:endParaRPr>
          </a:p>
        </p:txBody>
      </p:sp>
      <p:sp>
        <p:nvSpPr>
          <p:cNvPr id="191" name="Gefaltete Ecke 6">
            <a:extLst>
              <a:ext uri="{FF2B5EF4-FFF2-40B4-BE49-F238E27FC236}">
                <a16:creationId xmlns:a16="http://schemas.microsoft.com/office/drawing/2014/main" id="{CE322B43-F417-3B14-51A1-A566B72BD9D2}"/>
              </a:ext>
            </a:extLst>
          </p:cNvPr>
          <p:cNvSpPr/>
          <p:nvPr/>
        </p:nvSpPr>
        <p:spPr bwMode="gray">
          <a:xfrm>
            <a:off x="309404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Read material data from SAP S/4HANA</a:t>
            </a:r>
          </a:p>
        </p:txBody>
      </p:sp>
      <p:sp>
        <p:nvSpPr>
          <p:cNvPr id="189" name="Gefaltete Ecke 6">
            <a:extLst>
              <a:ext uri="{FF2B5EF4-FFF2-40B4-BE49-F238E27FC236}">
                <a16:creationId xmlns:a16="http://schemas.microsoft.com/office/drawing/2014/main" id="{F2D8DE96-6640-9AE4-B84C-0A3C92F75B9A}"/>
              </a:ext>
            </a:extLst>
          </p:cNvPr>
          <p:cNvSpPr/>
          <p:nvPr/>
        </p:nvSpPr>
        <p:spPr bwMode="gray">
          <a:xfrm>
            <a:off x="1526191"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7" name="Gefaltete Ecke 6">
            <a:extLst>
              <a:ext uri="{FF2B5EF4-FFF2-40B4-BE49-F238E27FC236}">
                <a16:creationId xmlns:a16="http://schemas.microsoft.com/office/drawing/2014/main" id="{02DEB3F2-D5E0-58E6-FCBC-EE04BF52DC12}"/>
              </a:ext>
            </a:extLst>
          </p:cNvPr>
          <p:cNvSpPr/>
          <p:nvPr/>
        </p:nvSpPr>
        <p:spPr bwMode="gray">
          <a:xfrm>
            <a:off x="3094044"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S/4HANA Cloud Public Edition</a:t>
            </a:r>
          </a:p>
        </p:txBody>
      </p:sp>
      <p:sp>
        <p:nvSpPr>
          <p:cNvPr id="184" name="Gefaltete Ecke 6">
            <a:extLst>
              <a:ext uri="{FF2B5EF4-FFF2-40B4-BE49-F238E27FC236}">
                <a16:creationId xmlns:a16="http://schemas.microsoft.com/office/drawing/2014/main" id="{D950C2C2-6997-E956-DABB-7D870A42DF22}"/>
              </a:ext>
            </a:extLst>
          </p:cNvPr>
          <p:cNvSpPr/>
          <p:nvPr/>
        </p:nvSpPr>
        <p:spPr bwMode="gray">
          <a:xfrm>
            <a:off x="1485927"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5" name="Gefaltete Ecke 6">
            <a:extLst>
              <a:ext uri="{FF2B5EF4-FFF2-40B4-BE49-F238E27FC236}">
                <a16:creationId xmlns:a16="http://schemas.microsoft.com/office/drawing/2014/main" id="{09661DC6-D7C8-D36A-B198-4567D74A78C8}"/>
              </a:ext>
            </a:extLst>
          </p:cNvPr>
          <p:cNvSpPr/>
          <p:nvPr/>
        </p:nvSpPr>
        <p:spPr bwMode="gray">
          <a:xfrm>
            <a:off x="1526191"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a:t>
            </a:r>
          </a:p>
        </p:txBody>
      </p:sp>
      <p:sp>
        <p:nvSpPr>
          <p:cNvPr id="182" name="Gefaltete Ecke 6">
            <a:extLst>
              <a:ext uri="{FF2B5EF4-FFF2-40B4-BE49-F238E27FC236}">
                <a16:creationId xmlns:a16="http://schemas.microsoft.com/office/drawing/2014/main" id="{E5B507A2-C3AE-8002-FD60-8982DFA2CF2F}"/>
              </a:ext>
            </a:extLst>
          </p:cNvPr>
          <p:cNvSpPr/>
          <p:nvPr/>
        </p:nvSpPr>
        <p:spPr bwMode="gray">
          <a:xfrm>
            <a:off x="3053780"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3" name="Gefaltete Ecke 6">
            <a:extLst>
              <a:ext uri="{FF2B5EF4-FFF2-40B4-BE49-F238E27FC236}">
                <a16:creationId xmlns:a16="http://schemas.microsoft.com/office/drawing/2014/main" id="{7C9C5A5B-9DD0-10D3-4BA9-C872C6BC73CA}"/>
              </a:ext>
            </a:extLst>
          </p:cNvPr>
          <p:cNvSpPr/>
          <p:nvPr/>
        </p:nvSpPr>
        <p:spPr bwMode="gray">
          <a:xfrm>
            <a:off x="3094044"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Material master</a:t>
            </a:r>
          </a:p>
        </p:txBody>
      </p:sp>
      <p:sp>
        <p:nvSpPr>
          <p:cNvPr id="198" name="Rechteck 28">
            <a:extLst>
              <a:ext uri="{FF2B5EF4-FFF2-40B4-BE49-F238E27FC236}">
                <a16:creationId xmlns:a16="http://schemas.microsoft.com/office/drawing/2014/main" id="{CB84E8FC-9484-FC0F-C76F-6F0F56B129CB}"/>
              </a:ext>
            </a:extLst>
          </p:cNvPr>
          <p:cNvSpPr/>
          <p:nvPr/>
        </p:nvSpPr>
        <p:spPr bwMode="gray">
          <a:xfrm>
            <a:off x="4848834"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2</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99" name="Gefaltete Ecke 13">
            <a:extLst>
              <a:ext uri="{FF2B5EF4-FFF2-40B4-BE49-F238E27FC236}">
                <a16:creationId xmlns:a16="http://schemas.microsoft.com/office/drawing/2014/main" id="{222A82DD-B7D4-1D64-BFC5-81296DA5B710}"/>
              </a:ext>
            </a:extLst>
          </p:cNvPr>
          <p:cNvSpPr/>
          <p:nvPr/>
        </p:nvSpPr>
        <p:spPr bwMode="gray">
          <a:xfrm>
            <a:off x="4992834"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Extension tasks</a:t>
            </a:r>
          </a:p>
        </p:txBody>
      </p:sp>
      <p:sp>
        <p:nvSpPr>
          <p:cNvPr id="200" name="Gefaltete Ecke 13">
            <a:extLst>
              <a:ext uri="{FF2B5EF4-FFF2-40B4-BE49-F238E27FC236}">
                <a16:creationId xmlns:a16="http://schemas.microsoft.com/office/drawing/2014/main" id="{24ADC8BA-CF62-29E1-D5CB-916FE1F4A9F8}"/>
              </a:ext>
            </a:extLst>
          </p:cNvPr>
          <p:cNvSpPr/>
          <p:nvPr/>
        </p:nvSpPr>
        <p:spPr bwMode="gray">
          <a:xfrm>
            <a:off x="8501347"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Technical extension building blocks</a:t>
            </a:r>
          </a:p>
        </p:txBody>
      </p:sp>
      <p:sp>
        <p:nvSpPr>
          <p:cNvPr id="201" name="Rechteck 28">
            <a:extLst>
              <a:ext uri="{FF2B5EF4-FFF2-40B4-BE49-F238E27FC236}">
                <a16:creationId xmlns:a16="http://schemas.microsoft.com/office/drawing/2014/main" id="{F60EA8E0-BBF9-24D4-1890-FD864C843B7F}"/>
              </a:ext>
            </a:extLst>
          </p:cNvPr>
          <p:cNvSpPr/>
          <p:nvPr/>
        </p:nvSpPr>
        <p:spPr bwMode="gray">
          <a:xfrm>
            <a:off x="8357347"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3</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249" name="Gefaltete Ecke 6">
            <a:extLst>
              <a:ext uri="{FF2B5EF4-FFF2-40B4-BE49-F238E27FC236}">
                <a16:creationId xmlns:a16="http://schemas.microsoft.com/office/drawing/2014/main" id="{C28B82AF-A1E1-D26F-C929-1370567F8AA5}"/>
              </a:ext>
            </a:extLst>
          </p:cNvPr>
          <p:cNvSpPr/>
          <p:nvPr/>
        </p:nvSpPr>
        <p:spPr bwMode="gray">
          <a:xfrm>
            <a:off x="5033098"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latin typeface="72 Brand" panose="020B0504030603020204" pitchFamily="34" charset="0"/>
                <a:cs typeface="72" panose="020B0503030000000003" pitchFamily="34" charset="0"/>
              </a:rPr>
              <a:t>Create custom UI</a:t>
            </a:r>
          </a:p>
          <a:p>
            <a:pPr algn="ctr" defTabSz="1088558"/>
            <a:endParaRPr lang="en-US" sz="1050" dirty="0">
              <a:solidFill>
                <a:srgbClr val="12171C"/>
              </a:solidFill>
              <a:latin typeface="72 Brand" panose="020B0504030603020204" pitchFamily="34" charset="0"/>
              <a:cs typeface="Times New Roman"/>
            </a:endParaRPr>
          </a:p>
        </p:txBody>
      </p:sp>
      <p:sp>
        <p:nvSpPr>
          <p:cNvPr id="243" name="Gefaltete Ecke 6">
            <a:extLst>
              <a:ext uri="{FF2B5EF4-FFF2-40B4-BE49-F238E27FC236}">
                <a16:creationId xmlns:a16="http://schemas.microsoft.com/office/drawing/2014/main" id="{94602B29-3057-6626-094C-288275D06526}"/>
              </a:ext>
            </a:extLst>
          </p:cNvPr>
          <p:cNvSpPr/>
          <p:nvPr/>
        </p:nvSpPr>
        <p:spPr bwMode="gray">
          <a:xfrm>
            <a:off x="5033099" y="3230647"/>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latin typeface="72 Brand" panose="020B0504030603020204" pitchFamily="34" charset="0"/>
                <a:cs typeface="72" panose="020B0503030000000003" pitchFamily="34" charset="0"/>
              </a:rPr>
              <a:t>Consume API</a:t>
            </a:r>
          </a:p>
        </p:txBody>
      </p:sp>
      <p:sp>
        <p:nvSpPr>
          <p:cNvPr id="274" name="Gefaltete Ecke 6">
            <a:extLst>
              <a:ext uri="{FF2B5EF4-FFF2-40B4-BE49-F238E27FC236}">
                <a16:creationId xmlns:a16="http://schemas.microsoft.com/office/drawing/2014/main" id="{1B4089A1-7A5F-980D-A105-A1BBDCF17340}"/>
              </a:ext>
            </a:extLst>
          </p:cNvPr>
          <p:cNvSpPr/>
          <p:nvPr/>
        </p:nvSpPr>
        <p:spPr bwMode="gray">
          <a:xfrm>
            <a:off x="8541611"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SAP Build Apps</a:t>
            </a:r>
          </a:p>
        </p:txBody>
      </p:sp>
      <p:sp>
        <p:nvSpPr>
          <p:cNvPr id="268" name="Gefaltete Ecke 6">
            <a:extLst>
              <a:ext uri="{FF2B5EF4-FFF2-40B4-BE49-F238E27FC236}">
                <a16:creationId xmlns:a16="http://schemas.microsoft.com/office/drawing/2014/main" id="{6F53B60D-E875-E00F-B289-74352F2E9F59}"/>
              </a:ext>
            </a:extLst>
          </p:cNvPr>
          <p:cNvSpPr/>
          <p:nvPr/>
        </p:nvSpPr>
        <p:spPr bwMode="gray">
          <a:xfrm>
            <a:off x="8541612" y="3230647"/>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Consume SAP remote API - SAP Business Accelerator Hub (Clean Core Level A)</a:t>
            </a:r>
          </a:p>
        </p:txBody>
      </p:sp>
      <p:sp>
        <p:nvSpPr>
          <p:cNvPr id="31" name="Gefaltete Ecke 7">
            <a:extLst>
              <a:ext uri="{FF2B5EF4-FFF2-40B4-BE49-F238E27FC236}">
                <a16:creationId xmlns:a16="http://schemas.microsoft.com/office/drawing/2014/main" id="{69A4BFEE-467C-A804-4415-CF61326F94F8}"/>
              </a:ext>
            </a:extLst>
          </p:cNvPr>
          <p:cNvSpPr>
            <a:spLocks/>
          </p:cNvSpPr>
          <p:nvPr/>
        </p:nvSpPr>
        <p:spPr bwMode="gray">
          <a:xfrm>
            <a:off x="501651" y="2273212"/>
            <a:ext cx="722700" cy="898971"/>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Actions</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9" name="Gefaltete Ecke 8">
            <a:extLst>
              <a:ext uri="{FF2B5EF4-FFF2-40B4-BE49-F238E27FC236}">
                <a16:creationId xmlns:a16="http://schemas.microsoft.com/office/drawing/2014/main" id="{DF4516E6-37A7-D757-215D-40B7D1292166}"/>
              </a:ext>
            </a:extLst>
          </p:cNvPr>
          <p:cNvSpPr>
            <a:spLocks/>
          </p:cNvSpPr>
          <p:nvPr/>
        </p:nvSpPr>
        <p:spPr bwMode="gray">
          <a:xfrm>
            <a:off x="501650" y="3229618"/>
            <a:ext cx="722699" cy="897944"/>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Application Logic</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7" name="Gefaltete Ecke 9">
            <a:extLst>
              <a:ext uri="{FF2B5EF4-FFF2-40B4-BE49-F238E27FC236}">
                <a16:creationId xmlns:a16="http://schemas.microsoft.com/office/drawing/2014/main" id="{A2BF1AD5-CEDC-3555-A497-E3E61B14D045}"/>
              </a:ext>
            </a:extLst>
          </p:cNvPr>
          <p:cNvSpPr>
            <a:spLocks/>
          </p:cNvSpPr>
          <p:nvPr/>
        </p:nvSpPr>
        <p:spPr bwMode="gray">
          <a:xfrm>
            <a:off x="501650" y="4184997"/>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System</a:t>
            </a:r>
            <a:endParaRPr kumimoji="0" lang="en-US" sz="700" u="none" strike="noStrike" kern="0" cap="none" spc="0" normalizeH="0" baseline="0" noProof="0" err="1">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5" name="Gefaltete Ecke 10">
            <a:extLst>
              <a:ext uri="{FF2B5EF4-FFF2-40B4-BE49-F238E27FC236}">
                <a16:creationId xmlns:a16="http://schemas.microsoft.com/office/drawing/2014/main" id="{80E90A66-45F9-02CA-0D3C-F26F389C1BF9}"/>
              </a:ext>
            </a:extLst>
          </p:cNvPr>
          <p:cNvSpPr>
            <a:spLocks/>
          </p:cNvSpPr>
          <p:nvPr/>
        </p:nvSpPr>
        <p:spPr bwMode="gray">
          <a:xfrm>
            <a:off x="501650" y="5140375"/>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Required </a:t>
            </a:r>
            <a:br>
              <a:rPr lang="en-US" sz="700" kern="0">
                <a:solidFill>
                  <a:srgbClr val="12171C"/>
                </a:solidFill>
                <a:latin typeface="72 Brand Medium" panose="020B0504030603020204" pitchFamily="34" charset="0"/>
                <a:ea typeface="Arial Unicode MS" pitchFamily="34" charset="-128"/>
                <a:cs typeface="72" panose="020B0503030000000003" pitchFamily="34" charset="0"/>
              </a:rPr>
            </a:br>
            <a:r>
              <a:rPr lang="en-US" sz="700" kern="0">
                <a:solidFill>
                  <a:srgbClr val="12171C"/>
                </a:solidFill>
                <a:latin typeface="72 Brand Medium" panose="020B0504030603020204" pitchFamily="34" charset="0"/>
                <a:ea typeface="Arial Unicode MS" pitchFamily="34" charset="-128"/>
                <a:cs typeface="72" panose="020B0503030000000003" pitchFamily="34" charset="0"/>
              </a:rPr>
              <a:t>Data</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6" name="Gefaltete Ecke 6">
            <a:extLst>
              <a:ext uri="{FF2B5EF4-FFF2-40B4-BE49-F238E27FC236}">
                <a16:creationId xmlns:a16="http://schemas.microsoft.com/office/drawing/2014/main" id="{539D0320-7496-92F2-A8D5-6FC2ABA8A7C4}"/>
              </a:ext>
            </a:extLst>
          </p:cNvPr>
          <p:cNvSpPr/>
          <p:nvPr/>
        </p:nvSpPr>
        <p:spPr bwMode="gray">
          <a:xfrm>
            <a:off x="501650" y="5140907"/>
            <a:ext cx="58853" cy="896917"/>
          </a:xfrm>
          <a:prstGeom prst="rect">
            <a:avLst/>
          </a:prstGeom>
          <a:solidFill>
            <a:srgbClr val="7858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grpSp>
        <p:nvGrpSpPr>
          <p:cNvPr id="9" name="Group 8">
            <a:extLst>
              <a:ext uri="{FF2B5EF4-FFF2-40B4-BE49-F238E27FC236}">
                <a16:creationId xmlns:a16="http://schemas.microsoft.com/office/drawing/2014/main" id="{7617DC8C-1F22-BD6A-C255-06F013B3D82B}"/>
              </a:ext>
            </a:extLst>
          </p:cNvPr>
          <p:cNvGrpSpPr/>
          <p:nvPr/>
        </p:nvGrpSpPr>
        <p:grpSpPr>
          <a:xfrm>
            <a:off x="1485927" y="2273213"/>
            <a:ext cx="1492147" cy="900000"/>
            <a:chOff x="1485927" y="2273213"/>
            <a:chExt cx="1492147" cy="900000"/>
          </a:xfrm>
        </p:grpSpPr>
        <p:sp>
          <p:nvSpPr>
            <p:cNvPr id="197" name="Gefaltete Ecke 6">
              <a:extLst>
                <a:ext uri="{FF2B5EF4-FFF2-40B4-BE49-F238E27FC236}">
                  <a16:creationId xmlns:a16="http://schemas.microsoft.com/office/drawing/2014/main" id="{C29A72F3-B9D0-3CD1-287E-F998964A82BE}"/>
                </a:ext>
              </a:extLst>
            </p:cNvPr>
            <p:cNvSpPr/>
            <p:nvPr/>
          </p:nvSpPr>
          <p:spPr bwMode="gray">
            <a:xfrm>
              <a:off x="1526191"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Internal sales rep enters sales order </a:t>
              </a:r>
              <a:br>
                <a:rPr lang="en-US" sz="1050" dirty="0">
                  <a:solidFill>
                    <a:srgbClr val="12171C"/>
                  </a:solidFill>
                  <a:latin typeface="72 Brand" panose="020B0504030603020204" pitchFamily="34" charset="0"/>
                  <a:cs typeface="Times New Roman"/>
                </a:rPr>
              </a:br>
              <a:r>
                <a:rPr lang="en-US" sz="1050" dirty="0">
                  <a:solidFill>
                    <a:srgbClr val="12171C"/>
                  </a:solidFill>
                  <a:latin typeface="72 Brand" panose="020B0504030603020204" pitchFamily="34" charset="0"/>
                  <a:cs typeface="Times New Roman"/>
                </a:rPr>
                <a:t>data</a:t>
              </a:r>
            </a:p>
          </p:txBody>
        </p:sp>
        <p:sp>
          <p:nvSpPr>
            <p:cNvPr id="196" name="Gefaltete Ecke 6">
              <a:extLst>
                <a:ext uri="{FF2B5EF4-FFF2-40B4-BE49-F238E27FC236}">
                  <a16:creationId xmlns:a16="http://schemas.microsoft.com/office/drawing/2014/main" id="{9A4F6F21-3D98-8356-333A-C63E38481A37}"/>
                </a:ext>
              </a:extLst>
            </p:cNvPr>
            <p:cNvSpPr/>
            <p:nvPr/>
          </p:nvSpPr>
          <p:spPr bwMode="gray">
            <a:xfrm>
              <a:off x="148592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grpSp>
      <p:sp>
        <p:nvSpPr>
          <p:cNvPr id="194" name="Gefaltete Ecke 6">
            <a:extLst>
              <a:ext uri="{FF2B5EF4-FFF2-40B4-BE49-F238E27FC236}">
                <a16:creationId xmlns:a16="http://schemas.microsoft.com/office/drawing/2014/main" id="{86AEB828-5A2D-8949-3614-065D2CD5F225}"/>
              </a:ext>
            </a:extLst>
          </p:cNvPr>
          <p:cNvSpPr/>
          <p:nvPr/>
        </p:nvSpPr>
        <p:spPr bwMode="gray">
          <a:xfrm>
            <a:off x="3053780"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8" name="Gefaltete Ecke 6">
            <a:extLst>
              <a:ext uri="{FF2B5EF4-FFF2-40B4-BE49-F238E27FC236}">
                <a16:creationId xmlns:a16="http://schemas.microsoft.com/office/drawing/2014/main" id="{977DD7A0-1BF9-ED97-737B-2CD870D4533A}"/>
              </a:ext>
            </a:extLst>
          </p:cNvPr>
          <p:cNvSpPr/>
          <p:nvPr/>
        </p:nvSpPr>
        <p:spPr bwMode="gray">
          <a:xfrm>
            <a:off x="4992834"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73" name="Gefaltete Ecke 6">
            <a:extLst>
              <a:ext uri="{FF2B5EF4-FFF2-40B4-BE49-F238E27FC236}">
                <a16:creationId xmlns:a16="http://schemas.microsoft.com/office/drawing/2014/main" id="{8854B295-C31E-3AC1-C348-DC9777D18202}"/>
              </a:ext>
            </a:extLst>
          </p:cNvPr>
          <p:cNvSpPr/>
          <p:nvPr/>
        </p:nvSpPr>
        <p:spPr bwMode="gray">
          <a:xfrm>
            <a:off x="850134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2" name="Gefaltete Ecke 6">
            <a:extLst>
              <a:ext uri="{FF2B5EF4-FFF2-40B4-BE49-F238E27FC236}">
                <a16:creationId xmlns:a16="http://schemas.microsoft.com/office/drawing/2014/main" id="{69AB8B67-EC63-B882-5B56-61FAF980FC23}"/>
              </a:ext>
            </a:extLst>
          </p:cNvPr>
          <p:cNvSpPr/>
          <p:nvPr/>
        </p:nvSpPr>
        <p:spPr bwMode="gray">
          <a:xfrm>
            <a:off x="501650" y="2273213"/>
            <a:ext cx="58853" cy="897944"/>
          </a:xfrm>
          <a:prstGeom prst="rect">
            <a:avLst/>
          </a:prstGeom>
          <a:solidFill>
            <a:srgbClr val="97DD40"/>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92" name="Gefaltete Ecke 6">
            <a:extLst>
              <a:ext uri="{FF2B5EF4-FFF2-40B4-BE49-F238E27FC236}">
                <a16:creationId xmlns:a16="http://schemas.microsoft.com/office/drawing/2014/main" id="{2018958D-AED7-90AC-BCDD-37661AD59C61}"/>
              </a:ext>
            </a:extLst>
          </p:cNvPr>
          <p:cNvSpPr/>
          <p:nvPr/>
        </p:nvSpPr>
        <p:spPr bwMode="gray">
          <a:xfrm>
            <a:off x="148592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90" name="Gefaltete Ecke 6">
            <a:extLst>
              <a:ext uri="{FF2B5EF4-FFF2-40B4-BE49-F238E27FC236}">
                <a16:creationId xmlns:a16="http://schemas.microsoft.com/office/drawing/2014/main" id="{170D05F8-C84C-7C23-AA83-0DBC03B2341B}"/>
              </a:ext>
            </a:extLst>
          </p:cNvPr>
          <p:cNvSpPr/>
          <p:nvPr/>
        </p:nvSpPr>
        <p:spPr bwMode="gray">
          <a:xfrm>
            <a:off x="305378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4" name="Gefaltete Ecke 6">
            <a:extLst>
              <a:ext uri="{FF2B5EF4-FFF2-40B4-BE49-F238E27FC236}">
                <a16:creationId xmlns:a16="http://schemas.microsoft.com/office/drawing/2014/main" id="{309D1218-A99D-24B0-3FF2-503B8831D969}"/>
              </a:ext>
            </a:extLst>
          </p:cNvPr>
          <p:cNvSpPr/>
          <p:nvPr/>
        </p:nvSpPr>
        <p:spPr bwMode="gray">
          <a:xfrm>
            <a:off x="4992834"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9" name="Gefaltete Ecke 6">
            <a:extLst>
              <a:ext uri="{FF2B5EF4-FFF2-40B4-BE49-F238E27FC236}">
                <a16:creationId xmlns:a16="http://schemas.microsoft.com/office/drawing/2014/main" id="{7D2679B7-0817-9925-438F-0AC496A6F196}"/>
              </a:ext>
            </a:extLst>
          </p:cNvPr>
          <p:cNvSpPr/>
          <p:nvPr/>
        </p:nvSpPr>
        <p:spPr bwMode="gray">
          <a:xfrm>
            <a:off x="850134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0" name="Gefaltete Ecke 6">
            <a:extLst>
              <a:ext uri="{FF2B5EF4-FFF2-40B4-BE49-F238E27FC236}">
                <a16:creationId xmlns:a16="http://schemas.microsoft.com/office/drawing/2014/main" id="{CF291873-F6E7-20A1-B09D-C53D50179824}"/>
              </a:ext>
            </a:extLst>
          </p:cNvPr>
          <p:cNvSpPr/>
          <p:nvPr/>
        </p:nvSpPr>
        <p:spPr bwMode="gray">
          <a:xfrm>
            <a:off x="501650" y="3230128"/>
            <a:ext cx="58853" cy="896919"/>
          </a:xfrm>
          <a:prstGeom prst="rect">
            <a:avLst/>
          </a:prstGeom>
          <a:solidFill>
            <a:srgbClr val="FFC933"/>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88" name="Gefaltete Ecke 6">
            <a:extLst>
              <a:ext uri="{FF2B5EF4-FFF2-40B4-BE49-F238E27FC236}">
                <a16:creationId xmlns:a16="http://schemas.microsoft.com/office/drawing/2014/main" id="{B3AAE617-5556-2636-D942-FC9DC09043FF}"/>
              </a:ext>
            </a:extLst>
          </p:cNvPr>
          <p:cNvSpPr/>
          <p:nvPr/>
        </p:nvSpPr>
        <p:spPr bwMode="gray">
          <a:xfrm>
            <a:off x="1485927"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6" name="Gefaltete Ecke 6">
            <a:extLst>
              <a:ext uri="{FF2B5EF4-FFF2-40B4-BE49-F238E27FC236}">
                <a16:creationId xmlns:a16="http://schemas.microsoft.com/office/drawing/2014/main" id="{C7AEA1EE-1F5F-8DF2-30E7-98675196D9EB}"/>
              </a:ext>
            </a:extLst>
          </p:cNvPr>
          <p:cNvSpPr/>
          <p:nvPr/>
        </p:nvSpPr>
        <p:spPr bwMode="gray">
          <a:xfrm>
            <a:off x="3053780"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8" name="Gefaltete Ecke 6">
            <a:extLst>
              <a:ext uri="{FF2B5EF4-FFF2-40B4-BE49-F238E27FC236}">
                <a16:creationId xmlns:a16="http://schemas.microsoft.com/office/drawing/2014/main" id="{D0254FC9-8378-FF2A-3F56-6865744C0D76}"/>
              </a:ext>
            </a:extLst>
          </p:cNvPr>
          <p:cNvSpPr/>
          <p:nvPr/>
        </p:nvSpPr>
        <p:spPr bwMode="gray">
          <a:xfrm>
            <a:off x="502344" y="4185517"/>
            <a:ext cx="58853" cy="896917"/>
          </a:xfrm>
          <a:prstGeom prst="rect">
            <a:avLst/>
          </a:prstGeom>
          <a:solidFill>
            <a:srgbClr val="1B90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pic>
        <p:nvPicPr>
          <p:cNvPr id="11" name="Picture 10">
            <a:hlinkClick r:id="rId3"/>
            <a:extLst>
              <a:ext uri="{FF2B5EF4-FFF2-40B4-BE49-F238E27FC236}">
                <a16:creationId xmlns:a16="http://schemas.microsoft.com/office/drawing/2014/main" id="{571789DD-7FEF-E43D-7A93-934CF0C0FD7E}"/>
              </a:ext>
            </a:extLst>
          </p:cNvPr>
          <p:cNvPicPr>
            <a:picLocks noChangeAspect="1"/>
          </p:cNvPicPr>
          <p:nvPr/>
        </p:nvPicPr>
        <p:blipFill>
          <a:blip r:embed="rId4"/>
          <a:stretch>
            <a:fillRect/>
          </a:stretch>
        </p:blipFill>
        <p:spPr>
          <a:xfrm>
            <a:off x="10109464" y="4149229"/>
            <a:ext cx="1337348" cy="231464"/>
          </a:xfrm>
          <a:prstGeom prst="rect">
            <a:avLst/>
          </a:prstGeom>
        </p:spPr>
      </p:pic>
      <p:sp>
        <p:nvSpPr>
          <p:cNvPr id="13" name="Rounded Rectangle 2">
            <a:extLst>
              <a:ext uri="{FF2B5EF4-FFF2-40B4-BE49-F238E27FC236}">
                <a16:creationId xmlns:a16="http://schemas.microsoft.com/office/drawing/2014/main" id="{E3992368-9017-CBF7-9A80-86B2C7E4AC3A}"/>
              </a:ext>
            </a:extLst>
          </p:cNvPr>
          <p:cNvSpPr/>
          <p:nvPr/>
        </p:nvSpPr>
        <p:spPr bwMode="gray">
          <a:xfrm>
            <a:off x="4992834"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1.3</a:t>
            </a:r>
          </a:p>
        </p:txBody>
      </p:sp>
      <p:sp>
        <p:nvSpPr>
          <p:cNvPr id="14" name="Rounded Rectangle 2">
            <a:extLst>
              <a:ext uri="{FF2B5EF4-FFF2-40B4-BE49-F238E27FC236}">
                <a16:creationId xmlns:a16="http://schemas.microsoft.com/office/drawing/2014/main" id="{269930EF-9F9A-5F1C-234B-34EB04B9A019}"/>
              </a:ext>
            </a:extLst>
          </p:cNvPr>
          <p:cNvSpPr/>
          <p:nvPr/>
        </p:nvSpPr>
        <p:spPr bwMode="gray">
          <a:xfrm>
            <a:off x="8501347"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1.4</a:t>
            </a:r>
          </a:p>
        </p:txBody>
      </p:sp>
      <p:sp>
        <p:nvSpPr>
          <p:cNvPr id="15" name="Rounded Rectangle 2">
            <a:extLst>
              <a:ext uri="{FF2B5EF4-FFF2-40B4-BE49-F238E27FC236}">
                <a16:creationId xmlns:a16="http://schemas.microsoft.com/office/drawing/2014/main" id="{3B32D5E7-7195-0A54-B6ED-A80033EBF8B4}"/>
              </a:ext>
            </a:extLst>
          </p:cNvPr>
          <p:cNvSpPr/>
          <p:nvPr/>
        </p:nvSpPr>
        <p:spPr bwMode="gray">
          <a:xfrm>
            <a:off x="1484319" y="974710"/>
            <a:ext cx="3061607"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1.2</a:t>
            </a:r>
          </a:p>
        </p:txBody>
      </p:sp>
      <p:sp>
        <p:nvSpPr>
          <p:cNvPr id="16" name="Rounded Rectangle 2">
            <a:extLst>
              <a:ext uri="{FF2B5EF4-FFF2-40B4-BE49-F238E27FC236}">
                <a16:creationId xmlns:a16="http://schemas.microsoft.com/office/drawing/2014/main" id="{FA81E031-E0AE-D1B9-C818-A006D04EADDC}"/>
              </a:ext>
            </a:extLst>
          </p:cNvPr>
          <p:cNvSpPr/>
          <p:nvPr/>
        </p:nvSpPr>
        <p:spPr bwMode="gray">
          <a:xfrm>
            <a:off x="513050" y="810962"/>
            <a:ext cx="1054885" cy="233316"/>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a:solidFill>
                  <a:schemeClr val="bg1"/>
                </a:solidFill>
                <a:latin typeface="72 Brand" panose="020B0504030603020204" pitchFamily="34" charset="0"/>
                <a:ea typeface="Arial Unicode MS" pitchFamily="34" charset="-128"/>
                <a:cs typeface="Arial Unicode MS" pitchFamily="34" charset="-128"/>
                <a:sym typeface="Arial"/>
              </a:rPr>
              <a:t>Example</a:t>
            </a:r>
          </a:p>
        </p:txBody>
      </p:sp>
    </p:spTree>
    <p:extLst>
      <p:ext uri="{BB962C8B-B14F-4D97-AF65-F5344CB8AC3E}">
        <p14:creationId xmlns:p14="http://schemas.microsoft.com/office/powerpoint/2010/main" val="14636980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79467AA-0FEB-B8A3-5902-0408B25816B5}"/>
            </a:ext>
          </a:extLst>
        </p:cNvPr>
        <p:cNvGrpSpPr/>
        <p:nvPr/>
      </p:nvGrpSpPr>
      <p:grpSpPr>
        <a:xfrm>
          <a:off x="0" y="0"/>
          <a:ext cx="0" cy="0"/>
          <a:chOff x="0" y="0"/>
          <a:chExt cx="0" cy="0"/>
        </a:xfrm>
      </p:grpSpPr>
      <p:sp>
        <p:nvSpPr>
          <p:cNvPr id="12" name="Titel 11">
            <a:extLst>
              <a:ext uri="{FF2B5EF4-FFF2-40B4-BE49-F238E27FC236}">
                <a16:creationId xmlns:a16="http://schemas.microsoft.com/office/drawing/2014/main" id="{3E0FF2BA-CD8D-94D3-A76F-2129C69F9361}"/>
              </a:ext>
            </a:extLst>
          </p:cNvPr>
          <p:cNvSpPr>
            <a:spLocks noGrp="1"/>
          </p:cNvSpPr>
          <p:nvPr>
            <p:ph type="title"/>
          </p:nvPr>
        </p:nvSpPr>
        <p:spPr>
          <a:xfrm>
            <a:off x="504001" y="504000"/>
            <a:ext cx="11186476" cy="307777"/>
          </a:xfrm>
        </p:spPr>
        <p:txBody>
          <a:bodyPr/>
          <a:lstStyle/>
          <a:p>
            <a:r>
              <a:rPr lang="en-US" sz="2000" dirty="0"/>
              <a:t>Extension Technology per Extension Task Mapping - Scene 02: Sales Order sent for approval </a:t>
            </a:r>
          </a:p>
        </p:txBody>
      </p:sp>
      <p:sp>
        <p:nvSpPr>
          <p:cNvPr id="171" name="Rechteck 28">
            <a:extLst>
              <a:ext uri="{FF2B5EF4-FFF2-40B4-BE49-F238E27FC236}">
                <a16:creationId xmlns:a16="http://schemas.microsoft.com/office/drawing/2014/main" id="{CC71435B-2B16-0B7C-2A8F-918BD267F9D9}"/>
              </a:ext>
            </a:extLst>
          </p:cNvPr>
          <p:cNvSpPr/>
          <p:nvPr/>
        </p:nvSpPr>
        <p:spPr bwMode="gray">
          <a:xfrm>
            <a:off x="1340321"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1</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72" name="Gefaltete Ecke 13">
            <a:extLst>
              <a:ext uri="{FF2B5EF4-FFF2-40B4-BE49-F238E27FC236}">
                <a16:creationId xmlns:a16="http://schemas.microsoft.com/office/drawing/2014/main" id="{43CFDA68-2BBC-6D54-AE86-1F0660E57BFA}"/>
              </a:ext>
            </a:extLst>
          </p:cNvPr>
          <p:cNvSpPr/>
          <p:nvPr/>
        </p:nvSpPr>
        <p:spPr bwMode="gray">
          <a:xfrm>
            <a:off x="1484320" y="1574264"/>
            <a:ext cx="3061607"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dirty="0">
                <a:latin typeface="72 Brand" panose="020B0504030603020204" pitchFamily="34" charset="0"/>
                <a:ea typeface="Arial Unicode MS" pitchFamily="34" charset="-128"/>
                <a:cs typeface="Arial Unicode MS" pitchFamily="34" charset="-128"/>
              </a:rPr>
              <a:t>Scene 02:</a:t>
            </a:r>
          </a:p>
          <a:p>
            <a:pPr algn="ctr" defTabSz="914400" fontAlgn="base">
              <a:spcBef>
                <a:spcPct val="50000"/>
              </a:spcBef>
              <a:spcAft>
                <a:spcPct val="0"/>
              </a:spcAft>
              <a:buClr>
                <a:srgbClr val="F0AB00"/>
              </a:buClr>
              <a:buSzPct val="80000"/>
            </a:pPr>
            <a:r>
              <a:rPr lang="en-US" sz="900" b="1" kern="0" dirty="0">
                <a:latin typeface="72 Brand" panose="020B0504030603020204" pitchFamily="34" charset="0"/>
                <a:ea typeface="Arial Unicode MS" pitchFamily="34" charset="-128"/>
                <a:cs typeface="Arial Unicode MS" pitchFamily="34" charset="-128"/>
              </a:rPr>
              <a:t>Sales Order sent for approval </a:t>
            </a:r>
          </a:p>
        </p:txBody>
      </p:sp>
      <p:sp>
        <p:nvSpPr>
          <p:cNvPr id="195" name="Gefaltete Ecke 6">
            <a:extLst>
              <a:ext uri="{FF2B5EF4-FFF2-40B4-BE49-F238E27FC236}">
                <a16:creationId xmlns:a16="http://schemas.microsoft.com/office/drawing/2014/main" id="{769DF3F8-AA09-A7B3-4BA4-8FA80148FA91}"/>
              </a:ext>
            </a:extLst>
          </p:cNvPr>
          <p:cNvSpPr/>
          <p:nvPr/>
        </p:nvSpPr>
        <p:spPr bwMode="gray">
          <a:xfrm>
            <a:off x="3094044"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dirty="0">
              <a:latin typeface="72 Brand" panose="020B0504030603020204" pitchFamily="34" charset="0"/>
              <a:cs typeface="Arial" panose="020B0604020202020204" pitchFamily="34" charset="0"/>
            </a:endParaRPr>
          </a:p>
        </p:txBody>
      </p:sp>
      <p:sp>
        <p:nvSpPr>
          <p:cNvPr id="193" name="Gefaltete Ecke 6">
            <a:extLst>
              <a:ext uri="{FF2B5EF4-FFF2-40B4-BE49-F238E27FC236}">
                <a16:creationId xmlns:a16="http://schemas.microsoft.com/office/drawing/2014/main" id="{E4CEC8DE-1962-8538-F935-8AD3ABFF90CF}"/>
              </a:ext>
            </a:extLst>
          </p:cNvPr>
          <p:cNvSpPr/>
          <p:nvPr/>
        </p:nvSpPr>
        <p:spPr bwMode="gray">
          <a:xfrm>
            <a:off x="152619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Quantity &gt; 10 OR</a:t>
            </a:r>
          </a:p>
          <a:p>
            <a:pPr algn="ctr" defTabSz="1088558">
              <a:defRPr/>
            </a:pPr>
            <a:r>
              <a:rPr lang="en-US" sz="1050" dirty="0">
                <a:latin typeface="72 Brand" panose="020B0504030603020204" pitchFamily="34" charset="0"/>
                <a:cs typeface="Arial" panose="020B0604020202020204" pitchFamily="34" charset="0"/>
              </a:rPr>
              <a:t>special product line OR new customer</a:t>
            </a:r>
          </a:p>
        </p:txBody>
      </p:sp>
      <p:sp>
        <p:nvSpPr>
          <p:cNvPr id="191" name="Gefaltete Ecke 6">
            <a:extLst>
              <a:ext uri="{FF2B5EF4-FFF2-40B4-BE49-F238E27FC236}">
                <a16:creationId xmlns:a16="http://schemas.microsoft.com/office/drawing/2014/main" id="{54097254-18EA-97F7-C424-59F4D9116439}"/>
              </a:ext>
            </a:extLst>
          </p:cNvPr>
          <p:cNvSpPr/>
          <p:nvPr/>
        </p:nvSpPr>
        <p:spPr bwMode="gray">
          <a:xfrm>
            <a:off x="309404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Get Sales Manager from SAP S/4HANA </a:t>
            </a:r>
            <a:br>
              <a:rPr lang="en-US" sz="1050" dirty="0">
                <a:latin typeface="72 Brand" panose="020B0504030603020204" pitchFamily="34" charset="0"/>
                <a:cs typeface="Arial" panose="020B0604020202020204" pitchFamily="34" charset="0"/>
              </a:rPr>
            </a:br>
            <a:r>
              <a:rPr lang="en-US" sz="1050" dirty="0">
                <a:latin typeface="72 Brand" panose="020B0504030603020204" pitchFamily="34" charset="0"/>
                <a:cs typeface="Arial" panose="020B0604020202020204" pitchFamily="34" charset="0"/>
              </a:rPr>
              <a:t>(Who needs to approve)</a:t>
            </a:r>
          </a:p>
        </p:txBody>
      </p:sp>
      <p:sp>
        <p:nvSpPr>
          <p:cNvPr id="189" name="Gefaltete Ecke 6">
            <a:extLst>
              <a:ext uri="{FF2B5EF4-FFF2-40B4-BE49-F238E27FC236}">
                <a16:creationId xmlns:a16="http://schemas.microsoft.com/office/drawing/2014/main" id="{7729EA98-C2BA-A90F-B998-82FECE17E930}"/>
              </a:ext>
            </a:extLst>
          </p:cNvPr>
          <p:cNvSpPr/>
          <p:nvPr/>
        </p:nvSpPr>
        <p:spPr bwMode="gray">
          <a:xfrm>
            <a:off x="1526191"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7" name="Gefaltete Ecke 6">
            <a:extLst>
              <a:ext uri="{FF2B5EF4-FFF2-40B4-BE49-F238E27FC236}">
                <a16:creationId xmlns:a16="http://schemas.microsoft.com/office/drawing/2014/main" id="{00134F64-908A-2665-7A52-EB3F8911A29D}"/>
              </a:ext>
            </a:extLst>
          </p:cNvPr>
          <p:cNvSpPr/>
          <p:nvPr/>
        </p:nvSpPr>
        <p:spPr bwMode="gray">
          <a:xfrm>
            <a:off x="3094044"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S/4HANA Cloud Public Edition</a:t>
            </a:r>
          </a:p>
        </p:txBody>
      </p:sp>
      <p:sp>
        <p:nvSpPr>
          <p:cNvPr id="184" name="Gefaltete Ecke 6">
            <a:extLst>
              <a:ext uri="{FF2B5EF4-FFF2-40B4-BE49-F238E27FC236}">
                <a16:creationId xmlns:a16="http://schemas.microsoft.com/office/drawing/2014/main" id="{AB3AB204-7DA5-F143-E532-0542BCB395AF}"/>
              </a:ext>
            </a:extLst>
          </p:cNvPr>
          <p:cNvSpPr/>
          <p:nvPr/>
        </p:nvSpPr>
        <p:spPr bwMode="gray">
          <a:xfrm>
            <a:off x="1485927"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5" name="Gefaltete Ecke 6">
            <a:extLst>
              <a:ext uri="{FF2B5EF4-FFF2-40B4-BE49-F238E27FC236}">
                <a16:creationId xmlns:a16="http://schemas.microsoft.com/office/drawing/2014/main" id="{23031766-E8C7-6173-292F-26F02D183D90}"/>
              </a:ext>
            </a:extLst>
          </p:cNvPr>
          <p:cNvSpPr/>
          <p:nvPr/>
        </p:nvSpPr>
        <p:spPr bwMode="gray">
          <a:xfrm>
            <a:off x="1526191"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dirty="0">
              <a:latin typeface="72 Brand" panose="020B0504030603020204" pitchFamily="34" charset="0"/>
              <a:cs typeface="Arial" panose="020B0604020202020204" pitchFamily="34" charset="0"/>
            </a:endParaRPr>
          </a:p>
        </p:txBody>
      </p:sp>
      <p:sp>
        <p:nvSpPr>
          <p:cNvPr id="182" name="Gefaltete Ecke 6">
            <a:extLst>
              <a:ext uri="{FF2B5EF4-FFF2-40B4-BE49-F238E27FC236}">
                <a16:creationId xmlns:a16="http://schemas.microsoft.com/office/drawing/2014/main" id="{C38B2DEC-E161-5281-7526-949854480E92}"/>
              </a:ext>
            </a:extLst>
          </p:cNvPr>
          <p:cNvSpPr/>
          <p:nvPr/>
        </p:nvSpPr>
        <p:spPr bwMode="gray">
          <a:xfrm>
            <a:off x="3053780"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3" name="Gefaltete Ecke 6">
            <a:extLst>
              <a:ext uri="{FF2B5EF4-FFF2-40B4-BE49-F238E27FC236}">
                <a16:creationId xmlns:a16="http://schemas.microsoft.com/office/drawing/2014/main" id="{E6240303-D60C-9470-94CA-74C3E86602EC}"/>
              </a:ext>
            </a:extLst>
          </p:cNvPr>
          <p:cNvSpPr/>
          <p:nvPr/>
        </p:nvSpPr>
        <p:spPr bwMode="gray">
          <a:xfrm>
            <a:off x="3094044"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Business partner</a:t>
            </a:r>
          </a:p>
        </p:txBody>
      </p:sp>
      <p:sp>
        <p:nvSpPr>
          <p:cNvPr id="198" name="Rechteck 28">
            <a:extLst>
              <a:ext uri="{FF2B5EF4-FFF2-40B4-BE49-F238E27FC236}">
                <a16:creationId xmlns:a16="http://schemas.microsoft.com/office/drawing/2014/main" id="{5C0E6E84-E92B-FB1D-2902-5665305117ED}"/>
              </a:ext>
            </a:extLst>
          </p:cNvPr>
          <p:cNvSpPr/>
          <p:nvPr/>
        </p:nvSpPr>
        <p:spPr bwMode="gray">
          <a:xfrm>
            <a:off x="4848834"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2</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99" name="Gefaltete Ecke 13">
            <a:extLst>
              <a:ext uri="{FF2B5EF4-FFF2-40B4-BE49-F238E27FC236}">
                <a16:creationId xmlns:a16="http://schemas.microsoft.com/office/drawing/2014/main" id="{2DCE048A-15C6-1285-7622-B8BE4C75F7B4}"/>
              </a:ext>
            </a:extLst>
          </p:cNvPr>
          <p:cNvSpPr/>
          <p:nvPr/>
        </p:nvSpPr>
        <p:spPr bwMode="gray">
          <a:xfrm>
            <a:off x="4992834"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Extension tasks</a:t>
            </a:r>
          </a:p>
        </p:txBody>
      </p:sp>
      <p:sp>
        <p:nvSpPr>
          <p:cNvPr id="200" name="Gefaltete Ecke 13">
            <a:extLst>
              <a:ext uri="{FF2B5EF4-FFF2-40B4-BE49-F238E27FC236}">
                <a16:creationId xmlns:a16="http://schemas.microsoft.com/office/drawing/2014/main" id="{2EAB792B-D90F-003B-9E85-F029024462F7}"/>
              </a:ext>
            </a:extLst>
          </p:cNvPr>
          <p:cNvSpPr/>
          <p:nvPr/>
        </p:nvSpPr>
        <p:spPr bwMode="gray">
          <a:xfrm>
            <a:off x="8501347"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Technical extension building blocks</a:t>
            </a:r>
          </a:p>
        </p:txBody>
      </p:sp>
      <p:sp>
        <p:nvSpPr>
          <p:cNvPr id="201" name="Rechteck 28">
            <a:extLst>
              <a:ext uri="{FF2B5EF4-FFF2-40B4-BE49-F238E27FC236}">
                <a16:creationId xmlns:a16="http://schemas.microsoft.com/office/drawing/2014/main" id="{5964FA7C-4B0A-C229-9A23-6FFE049AAEFE}"/>
              </a:ext>
            </a:extLst>
          </p:cNvPr>
          <p:cNvSpPr/>
          <p:nvPr/>
        </p:nvSpPr>
        <p:spPr bwMode="gray">
          <a:xfrm>
            <a:off x="8357347"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3</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249" name="Gefaltete Ecke 6">
            <a:extLst>
              <a:ext uri="{FF2B5EF4-FFF2-40B4-BE49-F238E27FC236}">
                <a16:creationId xmlns:a16="http://schemas.microsoft.com/office/drawing/2014/main" id="{9E0CDA30-8869-4C51-ADCB-2BF9C3074BFC}"/>
              </a:ext>
            </a:extLst>
          </p:cNvPr>
          <p:cNvSpPr/>
          <p:nvPr/>
        </p:nvSpPr>
        <p:spPr bwMode="gray">
          <a:xfrm>
            <a:off x="5033098"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latin typeface="72 Brand" panose="020B0504030603020204" pitchFamily="34" charset="0"/>
                <a:cs typeface="72" panose="020B0503030000000003" pitchFamily="34" charset="0"/>
              </a:rPr>
              <a:t>Create custom UI</a:t>
            </a:r>
          </a:p>
          <a:p>
            <a:pPr algn="ctr" defTabSz="1088558"/>
            <a:endParaRPr lang="en-US" sz="1050" dirty="0">
              <a:solidFill>
                <a:srgbClr val="12171C"/>
              </a:solidFill>
              <a:latin typeface="72 Brand" panose="020B0504030603020204" pitchFamily="34" charset="0"/>
              <a:cs typeface="Times New Roman"/>
            </a:endParaRPr>
          </a:p>
        </p:txBody>
      </p:sp>
      <p:sp>
        <p:nvSpPr>
          <p:cNvPr id="245" name="Gefaltete Ecke 6">
            <a:extLst>
              <a:ext uri="{FF2B5EF4-FFF2-40B4-BE49-F238E27FC236}">
                <a16:creationId xmlns:a16="http://schemas.microsoft.com/office/drawing/2014/main" id="{DB3D2D5F-B16C-F512-234E-799B5DFD280D}"/>
              </a:ext>
            </a:extLst>
          </p:cNvPr>
          <p:cNvSpPr/>
          <p:nvPr/>
        </p:nvSpPr>
        <p:spPr bwMode="gray">
          <a:xfrm>
            <a:off x="5033098"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Create application logic</a:t>
            </a:r>
          </a:p>
        </p:txBody>
      </p:sp>
      <p:sp>
        <p:nvSpPr>
          <p:cNvPr id="243" name="Gefaltete Ecke 6">
            <a:extLst>
              <a:ext uri="{FF2B5EF4-FFF2-40B4-BE49-F238E27FC236}">
                <a16:creationId xmlns:a16="http://schemas.microsoft.com/office/drawing/2014/main" id="{718E5834-CC44-73C0-C2DC-16C1AAC4C571}"/>
              </a:ext>
            </a:extLst>
          </p:cNvPr>
          <p:cNvSpPr/>
          <p:nvPr/>
        </p:nvSpPr>
        <p:spPr bwMode="gray">
          <a:xfrm>
            <a:off x="660095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latin typeface="72 Brand" panose="020B0504030603020204" pitchFamily="34" charset="0"/>
                <a:cs typeface="72" panose="020B0503030000000003" pitchFamily="34" charset="0"/>
              </a:rPr>
              <a:t>Consume API</a:t>
            </a:r>
          </a:p>
        </p:txBody>
      </p:sp>
      <p:sp>
        <p:nvSpPr>
          <p:cNvPr id="274" name="Gefaltete Ecke 6">
            <a:extLst>
              <a:ext uri="{FF2B5EF4-FFF2-40B4-BE49-F238E27FC236}">
                <a16:creationId xmlns:a16="http://schemas.microsoft.com/office/drawing/2014/main" id="{5AD1D955-D2F7-8FEF-1860-86E2CBF5B1AE}"/>
              </a:ext>
            </a:extLst>
          </p:cNvPr>
          <p:cNvSpPr/>
          <p:nvPr/>
        </p:nvSpPr>
        <p:spPr bwMode="gray">
          <a:xfrm>
            <a:off x="8541611"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SAP Build Apps</a:t>
            </a:r>
          </a:p>
        </p:txBody>
      </p:sp>
      <p:sp>
        <p:nvSpPr>
          <p:cNvPr id="270" name="Gefaltete Ecke 6">
            <a:extLst>
              <a:ext uri="{FF2B5EF4-FFF2-40B4-BE49-F238E27FC236}">
                <a16:creationId xmlns:a16="http://schemas.microsoft.com/office/drawing/2014/main" id="{6860A3C9-E17A-B4FB-6510-7F85CB7D34D9}"/>
              </a:ext>
            </a:extLst>
          </p:cNvPr>
          <p:cNvSpPr/>
          <p:nvPr/>
        </p:nvSpPr>
        <p:spPr bwMode="gray">
          <a:xfrm>
            <a:off x="854161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SAP Build Process Automation</a:t>
            </a:r>
          </a:p>
        </p:txBody>
      </p:sp>
      <p:sp>
        <p:nvSpPr>
          <p:cNvPr id="268" name="Gefaltete Ecke 6">
            <a:extLst>
              <a:ext uri="{FF2B5EF4-FFF2-40B4-BE49-F238E27FC236}">
                <a16:creationId xmlns:a16="http://schemas.microsoft.com/office/drawing/2014/main" id="{EF979CB6-8E41-5092-7E06-FC01EB69829E}"/>
              </a:ext>
            </a:extLst>
          </p:cNvPr>
          <p:cNvSpPr/>
          <p:nvPr/>
        </p:nvSpPr>
        <p:spPr bwMode="gray">
          <a:xfrm>
            <a:off x="1010946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Consume SAP remote API - SAP Business Accelerator Hub (Clean Core Level A)</a:t>
            </a:r>
          </a:p>
        </p:txBody>
      </p:sp>
      <p:sp>
        <p:nvSpPr>
          <p:cNvPr id="31" name="Gefaltete Ecke 7">
            <a:extLst>
              <a:ext uri="{FF2B5EF4-FFF2-40B4-BE49-F238E27FC236}">
                <a16:creationId xmlns:a16="http://schemas.microsoft.com/office/drawing/2014/main" id="{9FF5D793-217E-6C5B-7A67-9FBDBBFDCA09}"/>
              </a:ext>
            </a:extLst>
          </p:cNvPr>
          <p:cNvSpPr>
            <a:spLocks/>
          </p:cNvSpPr>
          <p:nvPr/>
        </p:nvSpPr>
        <p:spPr bwMode="gray">
          <a:xfrm>
            <a:off x="501651" y="2273212"/>
            <a:ext cx="722700" cy="898971"/>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Actions</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9" name="Gefaltete Ecke 8">
            <a:extLst>
              <a:ext uri="{FF2B5EF4-FFF2-40B4-BE49-F238E27FC236}">
                <a16:creationId xmlns:a16="http://schemas.microsoft.com/office/drawing/2014/main" id="{EE659B95-CAE6-8C33-B1AE-AD0ACBE84B3B}"/>
              </a:ext>
            </a:extLst>
          </p:cNvPr>
          <p:cNvSpPr>
            <a:spLocks/>
          </p:cNvSpPr>
          <p:nvPr/>
        </p:nvSpPr>
        <p:spPr bwMode="gray">
          <a:xfrm>
            <a:off x="501650" y="3229618"/>
            <a:ext cx="722699" cy="897944"/>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Application Logic</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7" name="Gefaltete Ecke 9">
            <a:extLst>
              <a:ext uri="{FF2B5EF4-FFF2-40B4-BE49-F238E27FC236}">
                <a16:creationId xmlns:a16="http://schemas.microsoft.com/office/drawing/2014/main" id="{C0F1376A-6409-4705-FB98-52CB12A9A9E4}"/>
              </a:ext>
            </a:extLst>
          </p:cNvPr>
          <p:cNvSpPr>
            <a:spLocks/>
          </p:cNvSpPr>
          <p:nvPr/>
        </p:nvSpPr>
        <p:spPr bwMode="gray">
          <a:xfrm>
            <a:off x="501650" y="4184997"/>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System</a:t>
            </a:r>
            <a:endParaRPr kumimoji="0" lang="en-US" sz="700" u="none" strike="noStrike" kern="0" cap="none" spc="0" normalizeH="0" baseline="0" noProof="0" err="1">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5" name="Gefaltete Ecke 10">
            <a:extLst>
              <a:ext uri="{FF2B5EF4-FFF2-40B4-BE49-F238E27FC236}">
                <a16:creationId xmlns:a16="http://schemas.microsoft.com/office/drawing/2014/main" id="{04BDB949-DCDE-7463-7B41-CD56C814DF88}"/>
              </a:ext>
            </a:extLst>
          </p:cNvPr>
          <p:cNvSpPr>
            <a:spLocks/>
          </p:cNvSpPr>
          <p:nvPr/>
        </p:nvSpPr>
        <p:spPr bwMode="gray">
          <a:xfrm>
            <a:off x="501650" y="5140375"/>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Required </a:t>
            </a:r>
            <a:br>
              <a:rPr lang="en-US" sz="700" kern="0">
                <a:solidFill>
                  <a:srgbClr val="12171C"/>
                </a:solidFill>
                <a:latin typeface="72 Brand Medium" panose="020B0504030603020204" pitchFamily="34" charset="0"/>
                <a:ea typeface="Arial Unicode MS" pitchFamily="34" charset="-128"/>
                <a:cs typeface="72" panose="020B0503030000000003" pitchFamily="34" charset="0"/>
              </a:rPr>
            </a:br>
            <a:r>
              <a:rPr lang="en-US" sz="700" kern="0">
                <a:solidFill>
                  <a:srgbClr val="12171C"/>
                </a:solidFill>
                <a:latin typeface="72 Brand Medium" panose="020B0504030603020204" pitchFamily="34" charset="0"/>
                <a:ea typeface="Arial Unicode MS" pitchFamily="34" charset="-128"/>
                <a:cs typeface="72" panose="020B0503030000000003" pitchFamily="34" charset="0"/>
              </a:rPr>
              <a:t>Data</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6" name="Gefaltete Ecke 6">
            <a:extLst>
              <a:ext uri="{FF2B5EF4-FFF2-40B4-BE49-F238E27FC236}">
                <a16:creationId xmlns:a16="http://schemas.microsoft.com/office/drawing/2014/main" id="{D5BF9E12-F43D-0492-9CC2-79A6EA4435A7}"/>
              </a:ext>
            </a:extLst>
          </p:cNvPr>
          <p:cNvSpPr/>
          <p:nvPr/>
        </p:nvSpPr>
        <p:spPr bwMode="gray">
          <a:xfrm>
            <a:off x="501650" y="5140907"/>
            <a:ext cx="58853" cy="896917"/>
          </a:xfrm>
          <a:prstGeom prst="rect">
            <a:avLst/>
          </a:prstGeom>
          <a:solidFill>
            <a:srgbClr val="7858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grpSp>
        <p:nvGrpSpPr>
          <p:cNvPr id="9" name="Group 8">
            <a:extLst>
              <a:ext uri="{FF2B5EF4-FFF2-40B4-BE49-F238E27FC236}">
                <a16:creationId xmlns:a16="http://schemas.microsoft.com/office/drawing/2014/main" id="{9A1C0640-EB76-EF55-2CBF-E4350D349CC3}"/>
              </a:ext>
            </a:extLst>
          </p:cNvPr>
          <p:cNvGrpSpPr/>
          <p:nvPr/>
        </p:nvGrpSpPr>
        <p:grpSpPr>
          <a:xfrm>
            <a:off x="1485927" y="2273213"/>
            <a:ext cx="1492147" cy="900000"/>
            <a:chOff x="1485927" y="2273213"/>
            <a:chExt cx="1492147" cy="900000"/>
          </a:xfrm>
        </p:grpSpPr>
        <p:sp>
          <p:nvSpPr>
            <p:cNvPr id="197" name="Gefaltete Ecke 6">
              <a:extLst>
                <a:ext uri="{FF2B5EF4-FFF2-40B4-BE49-F238E27FC236}">
                  <a16:creationId xmlns:a16="http://schemas.microsoft.com/office/drawing/2014/main" id="{3CA59EF6-EBE6-FADE-A371-C3852B2FECCF}"/>
                </a:ext>
              </a:extLst>
            </p:cNvPr>
            <p:cNvSpPr/>
            <p:nvPr/>
          </p:nvSpPr>
          <p:spPr bwMode="gray">
            <a:xfrm>
              <a:off x="1526191"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Internal sales rep triggers approval process</a:t>
              </a:r>
            </a:p>
          </p:txBody>
        </p:sp>
        <p:sp>
          <p:nvSpPr>
            <p:cNvPr id="196" name="Gefaltete Ecke 6">
              <a:extLst>
                <a:ext uri="{FF2B5EF4-FFF2-40B4-BE49-F238E27FC236}">
                  <a16:creationId xmlns:a16="http://schemas.microsoft.com/office/drawing/2014/main" id="{0ED1818B-9065-5270-4057-5A86F46FA87E}"/>
                </a:ext>
              </a:extLst>
            </p:cNvPr>
            <p:cNvSpPr/>
            <p:nvPr/>
          </p:nvSpPr>
          <p:spPr bwMode="gray">
            <a:xfrm>
              <a:off x="148592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grpSp>
      <p:sp>
        <p:nvSpPr>
          <p:cNvPr id="194" name="Gefaltete Ecke 6">
            <a:extLst>
              <a:ext uri="{FF2B5EF4-FFF2-40B4-BE49-F238E27FC236}">
                <a16:creationId xmlns:a16="http://schemas.microsoft.com/office/drawing/2014/main" id="{274A4DA9-8249-A404-39BC-3373648CBFDE}"/>
              </a:ext>
            </a:extLst>
          </p:cNvPr>
          <p:cNvSpPr/>
          <p:nvPr/>
        </p:nvSpPr>
        <p:spPr bwMode="gray">
          <a:xfrm>
            <a:off x="3053780"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8" name="Gefaltete Ecke 6">
            <a:extLst>
              <a:ext uri="{FF2B5EF4-FFF2-40B4-BE49-F238E27FC236}">
                <a16:creationId xmlns:a16="http://schemas.microsoft.com/office/drawing/2014/main" id="{7A0E4181-B549-5596-1223-1AC1C4F3A10A}"/>
              </a:ext>
            </a:extLst>
          </p:cNvPr>
          <p:cNvSpPr/>
          <p:nvPr/>
        </p:nvSpPr>
        <p:spPr bwMode="gray">
          <a:xfrm>
            <a:off x="4992834"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73" name="Gefaltete Ecke 6">
            <a:extLst>
              <a:ext uri="{FF2B5EF4-FFF2-40B4-BE49-F238E27FC236}">
                <a16:creationId xmlns:a16="http://schemas.microsoft.com/office/drawing/2014/main" id="{36FE3741-C7AE-7A78-C7CE-A2B45AB421A2}"/>
              </a:ext>
            </a:extLst>
          </p:cNvPr>
          <p:cNvSpPr/>
          <p:nvPr/>
        </p:nvSpPr>
        <p:spPr bwMode="gray">
          <a:xfrm>
            <a:off x="850134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2" name="Gefaltete Ecke 6">
            <a:extLst>
              <a:ext uri="{FF2B5EF4-FFF2-40B4-BE49-F238E27FC236}">
                <a16:creationId xmlns:a16="http://schemas.microsoft.com/office/drawing/2014/main" id="{44A5AF0F-5E97-2819-726D-AE8BAACB23C8}"/>
              </a:ext>
            </a:extLst>
          </p:cNvPr>
          <p:cNvSpPr/>
          <p:nvPr/>
        </p:nvSpPr>
        <p:spPr bwMode="gray">
          <a:xfrm>
            <a:off x="501650" y="2273213"/>
            <a:ext cx="58853" cy="897944"/>
          </a:xfrm>
          <a:prstGeom prst="rect">
            <a:avLst/>
          </a:prstGeom>
          <a:solidFill>
            <a:srgbClr val="97DD40"/>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92" name="Gefaltete Ecke 6">
            <a:extLst>
              <a:ext uri="{FF2B5EF4-FFF2-40B4-BE49-F238E27FC236}">
                <a16:creationId xmlns:a16="http://schemas.microsoft.com/office/drawing/2014/main" id="{F2701DAB-3881-95DF-7E95-0BAC47A57CFC}"/>
              </a:ext>
            </a:extLst>
          </p:cNvPr>
          <p:cNvSpPr/>
          <p:nvPr/>
        </p:nvSpPr>
        <p:spPr bwMode="gray">
          <a:xfrm>
            <a:off x="148592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90" name="Gefaltete Ecke 6">
            <a:extLst>
              <a:ext uri="{FF2B5EF4-FFF2-40B4-BE49-F238E27FC236}">
                <a16:creationId xmlns:a16="http://schemas.microsoft.com/office/drawing/2014/main" id="{CDC327ED-9941-AAC5-1D3D-C29944C32CF2}"/>
              </a:ext>
            </a:extLst>
          </p:cNvPr>
          <p:cNvSpPr/>
          <p:nvPr/>
        </p:nvSpPr>
        <p:spPr bwMode="gray">
          <a:xfrm>
            <a:off x="305378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4" name="Gefaltete Ecke 6">
            <a:extLst>
              <a:ext uri="{FF2B5EF4-FFF2-40B4-BE49-F238E27FC236}">
                <a16:creationId xmlns:a16="http://schemas.microsoft.com/office/drawing/2014/main" id="{60FEC625-21F8-BCB9-CC57-CED1259855DE}"/>
              </a:ext>
            </a:extLst>
          </p:cNvPr>
          <p:cNvSpPr/>
          <p:nvPr/>
        </p:nvSpPr>
        <p:spPr bwMode="gray">
          <a:xfrm>
            <a:off x="4992834"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2" name="Gefaltete Ecke 6">
            <a:extLst>
              <a:ext uri="{FF2B5EF4-FFF2-40B4-BE49-F238E27FC236}">
                <a16:creationId xmlns:a16="http://schemas.microsoft.com/office/drawing/2014/main" id="{7084BEA5-D79B-0100-8A01-3CB82B635FE5}"/>
              </a:ext>
            </a:extLst>
          </p:cNvPr>
          <p:cNvSpPr/>
          <p:nvPr/>
        </p:nvSpPr>
        <p:spPr bwMode="gray">
          <a:xfrm>
            <a:off x="656068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9" name="Gefaltete Ecke 6">
            <a:extLst>
              <a:ext uri="{FF2B5EF4-FFF2-40B4-BE49-F238E27FC236}">
                <a16:creationId xmlns:a16="http://schemas.microsoft.com/office/drawing/2014/main" id="{7EAD8817-3DEA-A4F7-BBBD-DE80836D3EFA}"/>
              </a:ext>
            </a:extLst>
          </p:cNvPr>
          <p:cNvSpPr/>
          <p:nvPr/>
        </p:nvSpPr>
        <p:spPr bwMode="gray">
          <a:xfrm>
            <a:off x="850134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7" name="Gefaltete Ecke 6">
            <a:extLst>
              <a:ext uri="{FF2B5EF4-FFF2-40B4-BE49-F238E27FC236}">
                <a16:creationId xmlns:a16="http://schemas.microsoft.com/office/drawing/2014/main" id="{225B410C-4153-5086-BA2D-A77F658A6A59}"/>
              </a:ext>
            </a:extLst>
          </p:cNvPr>
          <p:cNvSpPr/>
          <p:nvPr/>
        </p:nvSpPr>
        <p:spPr bwMode="gray">
          <a:xfrm>
            <a:off x="1006920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0" name="Gefaltete Ecke 6">
            <a:extLst>
              <a:ext uri="{FF2B5EF4-FFF2-40B4-BE49-F238E27FC236}">
                <a16:creationId xmlns:a16="http://schemas.microsoft.com/office/drawing/2014/main" id="{93E4EC4F-6C32-CBD7-2FFE-8E44BCA66BAE}"/>
              </a:ext>
            </a:extLst>
          </p:cNvPr>
          <p:cNvSpPr/>
          <p:nvPr/>
        </p:nvSpPr>
        <p:spPr bwMode="gray">
          <a:xfrm>
            <a:off x="501650" y="3230128"/>
            <a:ext cx="58853" cy="896919"/>
          </a:xfrm>
          <a:prstGeom prst="rect">
            <a:avLst/>
          </a:prstGeom>
          <a:solidFill>
            <a:srgbClr val="FFC933"/>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88" name="Gefaltete Ecke 6">
            <a:extLst>
              <a:ext uri="{FF2B5EF4-FFF2-40B4-BE49-F238E27FC236}">
                <a16:creationId xmlns:a16="http://schemas.microsoft.com/office/drawing/2014/main" id="{0506C294-8536-4627-B6E5-3127F4F7CBB5}"/>
              </a:ext>
            </a:extLst>
          </p:cNvPr>
          <p:cNvSpPr/>
          <p:nvPr/>
        </p:nvSpPr>
        <p:spPr bwMode="gray">
          <a:xfrm>
            <a:off x="1485927"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6" name="Gefaltete Ecke 6">
            <a:extLst>
              <a:ext uri="{FF2B5EF4-FFF2-40B4-BE49-F238E27FC236}">
                <a16:creationId xmlns:a16="http://schemas.microsoft.com/office/drawing/2014/main" id="{58BA5BD9-D2DC-A679-EE52-B16679A392E3}"/>
              </a:ext>
            </a:extLst>
          </p:cNvPr>
          <p:cNvSpPr/>
          <p:nvPr/>
        </p:nvSpPr>
        <p:spPr bwMode="gray">
          <a:xfrm>
            <a:off x="3053780"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8" name="Gefaltete Ecke 6">
            <a:extLst>
              <a:ext uri="{FF2B5EF4-FFF2-40B4-BE49-F238E27FC236}">
                <a16:creationId xmlns:a16="http://schemas.microsoft.com/office/drawing/2014/main" id="{FE32CA2B-7F09-36B7-55EC-E783222CEE1D}"/>
              </a:ext>
            </a:extLst>
          </p:cNvPr>
          <p:cNvSpPr/>
          <p:nvPr/>
        </p:nvSpPr>
        <p:spPr bwMode="gray">
          <a:xfrm>
            <a:off x="502344" y="4185517"/>
            <a:ext cx="58853" cy="896917"/>
          </a:xfrm>
          <a:prstGeom prst="rect">
            <a:avLst/>
          </a:prstGeom>
          <a:solidFill>
            <a:srgbClr val="1B90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0" name="Rounded Rectangle 2">
            <a:extLst>
              <a:ext uri="{FF2B5EF4-FFF2-40B4-BE49-F238E27FC236}">
                <a16:creationId xmlns:a16="http://schemas.microsoft.com/office/drawing/2014/main" id="{912C34B9-628F-CD77-80B4-AEC1DF2D0A63}"/>
              </a:ext>
            </a:extLst>
          </p:cNvPr>
          <p:cNvSpPr/>
          <p:nvPr/>
        </p:nvSpPr>
        <p:spPr bwMode="gray">
          <a:xfrm>
            <a:off x="513050" y="810962"/>
            <a:ext cx="1054885" cy="233316"/>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a:solidFill>
                  <a:schemeClr val="bg1"/>
                </a:solidFill>
                <a:latin typeface="72 Brand" panose="020B0504030603020204" pitchFamily="34" charset="0"/>
                <a:ea typeface="Arial Unicode MS" pitchFamily="34" charset="-128"/>
                <a:cs typeface="Arial Unicode MS" pitchFamily="34" charset="-128"/>
                <a:sym typeface="Arial"/>
              </a:rPr>
              <a:t>Example</a:t>
            </a:r>
          </a:p>
        </p:txBody>
      </p:sp>
      <p:sp>
        <p:nvSpPr>
          <p:cNvPr id="11" name="Rounded Rectangle 2">
            <a:extLst>
              <a:ext uri="{FF2B5EF4-FFF2-40B4-BE49-F238E27FC236}">
                <a16:creationId xmlns:a16="http://schemas.microsoft.com/office/drawing/2014/main" id="{68ADED4E-B99C-CE09-3FA0-0D8150B1D67D}"/>
              </a:ext>
            </a:extLst>
          </p:cNvPr>
          <p:cNvSpPr/>
          <p:nvPr/>
        </p:nvSpPr>
        <p:spPr bwMode="gray">
          <a:xfrm>
            <a:off x="4992834"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1.3</a:t>
            </a:r>
          </a:p>
        </p:txBody>
      </p:sp>
      <p:sp>
        <p:nvSpPr>
          <p:cNvPr id="13" name="Rounded Rectangle 2">
            <a:extLst>
              <a:ext uri="{FF2B5EF4-FFF2-40B4-BE49-F238E27FC236}">
                <a16:creationId xmlns:a16="http://schemas.microsoft.com/office/drawing/2014/main" id="{C4F43BA5-56CC-5ED1-9B74-B9E17CC818DA}"/>
              </a:ext>
            </a:extLst>
          </p:cNvPr>
          <p:cNvSpPr/>
          <p:nvPr/>
        </p:nvSpPr>
        <p:spPr bwMode="gray">
          <a:xfrm>
            <a:off x="8501347"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1.4</a:t>
            </a:r>
          </a:p>
        </p:txBody>
      </p:sp>
      <p:sp>
        <p:nvSpPr>
          <p:cNvPr id="14" name="Rounded Rectangle 2">
            <a:extLst>
              <a:ext uri="{FF2B5EF4-FFF2-40B4-BE49-F238E27FC236}">
                <a16:creationId xmlns:a16="http://schemas.microsoft.com/office/drawing/2014/main" id="{4BEED8E8-1192-460B-22AA-E0B8056BC95D}"/>
              </a:ext>
            </a:extLst>
          </p:cNvPr>
          <p:cNvSpPr/>
          <p:nvPr/>
        </p:nvSpPr>
        <p:spPr bwMode="gray">
          <a:xfrm>
            <a:off x="1484319" y="974710"/>
            <a:ext cx="3061607"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1.2</a:t>
            </a:r>
          </a:p>
        </p:txBody>
      </p:sp>
    </p:spTree>
    <p:extLst>
      <p:ext uri="{BB962C8B-B14F-4D97-AF65-F5344CB8AC3E}">
        <p14:creationId xmlns:p14="http://schemas.microsoft.com/office/powerpoint/2010/main" val="4848735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8CE422F-F2E2-E1B3-6F63-0DDC8847705D}"/>
            </a:ext>
          </a:extLst>
        </p:cNvPr>
        <p:cNvGrpSpPr/>
        <p:nvPr/>
      </p:nvGrpSpPr>
      <p:grpSpPr>
        <a:xfrm>
          <a:off x="0" y="0"/>
          <a:ext cx="0" cy="0"/>
          <a:chOff x="0" y="0"/>
          <a:chExt cx="0" cy="0"/>
        </a:xfrm>
      </p:grpSpPr>
      <p:sp>
        <p:nvSpPr>
          <p:cNvPr id="12" name="Titel 11">
            <a:extLst>
              <a:ext uri="{FF2B5EF4-FFF2-40B4-BE49-F238E27FC236}">
                <a16:creationId xmlns:a16="http://schemas.microsoft.com/office/drawing/2014/main" id="{994F21FD-AEB9-9916-5973-C1C75108C7EB}"/>
              </a:ext>
            </a:extLst>
          </p:cNvPr>
          <p:cNvSpPr>
            <a:spLocks noGrp="1"/>
          </p:cNvSpPr>
          <p:nvPr>
            <p:ph type="title"/>
          </p:nvPr>
        </p:nvSpPr>
        <p:spPr>
          <a:xfrm>
            <a:off x="504001" y="504000"/>
            <a:ext cx="11186476" cy="307777"/>
          </a:xfrm>
        </p:spPr>
        <p:txBody>
          <a:bodyPr/>
          <a:lstStyle/>
          <a:p>
            <a:pPr defTabSz="914400" fontAlgn="base">
              <a:spcBef>
                <a:spcPct val="50000"/>
              </a:spcBef>
              <a:spcAft>
                <a:spcPct val="0"/>
              </a:spcAft>
              <a:buClr>
                <a:srgbClr val="F0AB00"/>
              </a:buClr>
              <a:buSzPct val="80000"/>
            </a:pPr>
            <a:r>
              <a:rPr lang="en-US" sz="2000" dirty="0"/>
              <a:t>Extension Technology per Extension Task Mapping - Scene 03: Sales Order approval</a:t>
            </a:r>
          </a:p>
        </p:txBody>
      </p:sp>
      <p:sp>
        <p:nvSpPr>
          <p:cNvPr id="171" name="Rechteck 28">
            <a:extLst>
              <a:ext uri="{FF2B5EF4-FFF2-40B4-BE49-F238E27FC236}">
                <a16:creationId xmlns:a16="http://schemas.microsoft.com/office/drawing/2014/main" id="{4EDC9256-49F9-FDA5-AD6D-A75AB12C6920}"/>
              </a:ext>
            </a:extLst>
          </p:cNvPr>
          <p:cNvSpPr/>
          <p:nvPr/>
        </p:nvSpPr>
        <p:spPr bwMode="gray">
          <a:xfrm>
            <a:off x="1340321"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1</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72" name="Gefaltete Ecke 13">
            <a:extLst>
              <a:ext uri="{FF2B5EF4-FFF2-40B4-BE49-F238E27FC236}">
                <a16:creationId xmlns:a16="http://schemas.microsoft.com/office/drawing/2014/main" id="{4F9C869E-70E4-AFD2-1F50-27C83A206685}"/>
              </a:ext>
            </a:extLst>
          </p:cNvPr>
          <p:cNvSpPr/>
          <p:nvPr/>
        </p:nvSpPr>
        <p:spPr bwMode="gray">
          <a:xfrm>
            <a:off x="1484320" y="1574264"/>
            <a:ext cx="3061607"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dirty="0">
                <a:latin typeface="72 Brand" panose="020B0504030603020204" pitchFamily="34" charset="0"/>
                <a:ea typeface="Arial Unicode MS" pitchFamily="34" charset="-128"/>
                <a:cs typeface="Arial Unicode MS" pitchFamily="34" charset="-128"/>
              </a:rPr>
              <a:t>Scene 03:</a:t>
            </a:r>
          </a:p>
          <a:p>
            <a:pPr algn="ctr" defTabSz="914400" fontAlgn="base">
              <a:spcBef>
                <a:spcPct val="50000"/>
              </a:spcBef>
              <a:spcAft>
                <a:spcPct val="0"/>
              </a:spcAft>
              <a:buClr>
                <a:srgbClr val="F0AB00"/>
              </a:buClr>
              <a:buSzPct val="80000"/>
            </a:pPr>
            <a:r>
              <a:rPr lang="en-US" sz="900" b="1" kern="0" dirty="0">
                <a:latin typeface="72 Brand" panose="020B0504030603020204" pitchFamily="34" charset="0"/>
                <a:ea typeface="Arial Unicode MS" pitchFamily="34" charset="-128"/>
                <a:cs typeface="Arial Unicode MS" pitchFamily="34" charset="-128"/>
              </a:rPr>
              <a:t>Sales Order approval process </a:t>
            </a:r>
          </a:p>
        </p:txBody>
      </p:sp>
      <p:sp>
        <p:nvSpPr>
          <p:cNvPr id="195" name="Gefaltete Ecke 6">
            <a:extLst>
              <a:ext uri="{FF2B5EF4-FFF2-40B4-BE49-F238E27FC236}">
                <a16:creationId xmlns:a16="http://schemas.microsoft.com/office/drawing/2014/main" id="{12DF710F-45FB-7F74-D5CA-0778C3AC46B5}"/>
              </a:ext>
            </a:extLst>
          </p:cNvPr>
          <p:cNvSpPr/>
          <p:nvPr/>
        </p:nvSpPr>
        <p:spPr bwMode="gray">
          <a:xfrm>
            <a:off x="3094044"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manager approves or rejects sales order</a:t>
            </a:r>
          </a:p>
        </p:txBody>
      </p:sp>
      <p:sp>
        <p:nvSpPr>
          <p:cNvPr id="193" name="Gefaltete Ecke 6">
            <a:extLst>
              <a:ext uri="{FF2B5EF4-FFF2-40B4-BE49-F238E27FC236}">
                <a16:creationId xmlns:a16="http://schemas.microsoft.com/office/drawing/2014/main" id="{6D1B364D-2C73-E5AC-250E-2F98E14E62F8}"/>
              </a:ext>
            </a:extLst>
          </p:cNvPr>
          <p:cNvSpPr/>
          <p:nvPr/>
        </p:nvSpPr>
        <p:spPr bwMode="gray">
          <a:xfrm>
            <a:off x="152619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dirty="0">
              <a:latin typeface="72 Brand" panose="020B0504030603020204" pitchFamily="34" charset="0"/>
              <a:cs typeface="Arial" panose="020B0604020202020204" pitchFamily="34" charset="0"/>
            </a:endParaRPr>
          </a:p>
        </p:txBody>
      </p:sp>
      <p:sp>
        <p:nvSpPr>
          <p:cNvPr id="191" name="Gefaltete Ecke 6">
            <a:extLst>
              <a:ext uri="{FF2B5EF4-FFF2-40B4-BE49-F238E27FC236}">
                <a16:creationId xmlns:a16="http://schemas.microsoft.com/office/drawing/2014/main" id="{409D2752-384D-8E89-73BF-F33AB69911C7}"/>
              </a:ext>
            </a:extLst>
          </p:cNvPr>
          <p:cNvSpPr/>
          <p:nvPr/>
        </p:nvSpPr>
        <p:spPr bwMode="gray">
          <a:xfrm>
            <a:off x="309404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defRPr/>
            </a:pPr>
            <a:r>
              <a:rPr lang="en-US" sz="1050" dirty="0">
                <a:latin typeface="72 Brand" panose="020B0504030603020204" pitchFamily="34" charset="0"/>
                <a:cs typeface="Arial" panose="020B0604020202020204" pitchFamily="34" charset="0"/>
              </a:rPr>
              <a:t>Sales order approve or reject form</a:t>
            </a:r>
          </a:p>
        </p:txBody>
      </p:sp>
      <p:sp>
        <p:nvSpPr>
          <p:cNvPr id="189" name="Gefaltete Ecke 6">
            <a:extLst>
              <a:ext uri="{FF2B5EF4-FFF2-40B4-BE49-F238E27FC236}">
                <a16:creationId xmlns:a16="http://schemas.microsoft.com/office/drawing/2014/main" id="{7FF04B30-E41D-AA44-666E-B13D92188176}"/>
              </a:ext>
            </a:extLst>
          </p:cNvPr>
          <p:cNvSpPr/>
          <p:nvPr/>
        </p:nvSpPr>
        <p:spPr bwMode="gray">
          <a:xfrm>
            <a:off x="1526191"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7" name="Gefaltete Ecke 6">
            <a:extLst>
              <a:ext uri="{FF2B5EF4-FFF2-40B4-BE49-F238E27FC236}">
                <a16:creationId xmlns:a16="http://schemas.microsoft.com/office/drawing/2014/main" id="{775C6F62-0DF4-A675-672F-25D31B5DC3B1}"/>
              </a:ext>
            </a:extLst>
          </p:cNvPr>
          <p:cNvSpPr/>
          <p:nvPr/>
        </p:nvSpPr>
        <p:spPr bwMode="gray">
          <a:xfrm>
            <a:off x="3094044"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BTP</a:t>
            </a:r>
          </a:p>
        </p:txBody>
      </p:sp>
      <p:sp>
        <p:nvSpPr>
          <p:cNvPr id="184" name="Gefaltete Ecke 6">
            <a:extLst>
              <a:ext uri="{FF2B5EF4-FFF2-40B4-BE49-F238E27FC236}">
                <a16:creationId xmlns:a16="http://schemas.microsoft.com/office/drawing/2014/main" id="{1142703F-341A-43FB-9679-4679DC37B0C2}"/>
              </a:ext>
            </a:extLst>
          </p:cNvPr>
          <p:cNvSpPr/>
          <p:nvPr/>
        </p:nvSpPr>
        <p:spPr bwMode="gray">
          <a:xfrm>
            <a:off x="1485927"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5" name="Gefaltete Ecke 6">
            <a:extLst>
              <a:ext uri="{FF2B5EF4-FFF2-40B4-BE49-F238E27FC236}">
                <a16:creationId xmlns:a16="http://schemas.microsoft.com/office/drawing/2014/main" id="{B724CE9F-3E6B-784E-C166-5DBFEF827C40}"/>
              </a:ext>
            </a:extLst>
          </p:cNvPr>
          <p:cNvSpPr/>
          <p:nvPr/>
        </p:nvSpPr>
        <p:spPr bwMode="gray">
          <a:xfrm>
            <a:off x="1526191"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endParaRPr lang="en-US" sz="1050" dirty="0">
              <a:latin typeface="72 Brand" panose="020B0504030603020204" pitchFamily="34" charset="0"/>
              <a:cs typeface="Arial" panose="020B0604020202020204" pitchFamily="34" charset="0"/>
            </a:endParaRPr>
          </a:p>
        </p:txBody>
      </p:sp>
      <p:sp>
        <p:nvSpPr>
          <p:cNvPr id="182" name="Gefaltete Ecke 6">
            <a:extLst>
              <a:ext uri="{FF2B5EF4-FFF2-40B4-BE49-F238E27FC236}">
                <a16:creationId xmlns:a16="http://schemas.microsoft.com/office/drawing/2014/main" id="{D24EAB48-B24A-691F-C4E5-382898BF4639}"/>
              </a:ext>
            </a:extLst>
          </p:cNvPr>
          <p:cNvSpPr/>
          <p:nvPr/>
        </p:nvSpPr>
        <p:spPr bwMode="gray">
          <a:xfrm>
            <a:off x="3053780"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3" name="Gefaltete Ecke 6">
            <a:extLst>
              <a:ext uri="{FF2B5EF4-FFF2-40B4-BE49-F238E27FC236}">
                <a16:creationId xmlns:a16="http://schemas.microsoft.com/office/drawing/2014/main" id="{6B4EB551-1D2A-C340-4C3A-2A0691D44BAD}"/>
              </a:ext>
            </a:extLst>
          </p:cNvPr>
          <p:cNvSpPr/>
          <p:nvPr/>
        </p:nvSpPr>
        <p:spPr bwMode="gray">
          <a:xfrm>
            <a:off x="3094044"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a:t>
            </a:r>
          </a:p>
        </p:txBody>
      </p:sp>
      <p:sp>
        <p:nvSpPr>
          <p:cNvPr id="198" name="Rechteck 28">
            <a:extLst>
              <a:ext uri="{FF2B5EF4-FFF2-40B4-BE49-F238E27FC236}">
                <a16:creationId xmlns:a16="http://schemas.microsoft.com/office/drawing/2014/main" id="{34E2F96C-508A-D547-68B6-B1D2E3096DEC}"/>
              </a:ext>
            </a:extLst>
          </p:cNvPr>
          <p:cNvSpPr/>
          <p:nvPr/>
        </p:nvSpPr>
        <p:spPr bwMode="gray">
          <a:xfrm>
            <a:off x="4848834"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2</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99" name="Gefaltete Ecke 13">
            <a:extLst>
              <a:ext uri="{FF2B5EF4-FFF2-40B4-BE49-F238E27FC236}">
                <a16:creationId xmlns:a16="http://schemas.microsoft.com/office/drawing/2014/main" id="{BC40E503-CF19-044B-3C09-B25984479D5A}"/>
              </a:ext>
            </a:extLst>
          </p:cNvPr>
          <p:cNvSpPr/>
          <p:nvPr/>
        </p:nvSpPr>
        <p:spPr bwMode="gray">
          <a:xfrm>
            <a:off x="4992834"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Extension tasks</a:t>
            </a:r>
          </a:p>
        </p:txBody>
      </p:sp>
      <p:sp>
        <p:nvSpPr>
          <p:cNvPr id="200" name="Gefaltete Ecke 13">
            <a:extLst>
              <a:ext uri="{FF2B5EF4-FFF2-40B4-BE49-F238E27FC236}">
                <a16:creationId xmlns:a16="http://schemas.microsoft.com/office/drawing/2014/main" id="{337041BA-C098-6050-7DFA-9F9D2A866D94}"/>
              </a:ext>
            </a:extLst>
          </p:cNvPr>
          <p:cNvSpPr/>
          <p:nvPr/>
        </p:nvSpPr>
        <p:spPr bwMode="gray">
          <a:xfrm>
            <a:off x="8501347"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Technical extension building blocks</a:t>
            </a:r>
          </a:p>
        </p:txBody>
      </p:sp>
      <p:sp>
        <p:nvSpPr>
          <p:cNvPr id="201" name="Rechteck 28">
            <a:extLst>
              <a:ext uri="{FF2B5EF4-FFF2-40B4-BE49-F238E27FC236}">
                <a16:creationId xmlns:a16="http://schemas.microsoft.com/office/drawing/2014/main" id="{170CBEA2-9379-A113-26D2-ACDC8A204DE7}"/>
              </a:ext>
            </a:extLst>
          </p:cNvPr>
          <p:cNvSpPr/>
          <p:nvPr/>
        </p:nvSpPr>
        <p:spPr bwMode="gray">
          <a:xfrm>
            <a:off x="8357347"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3</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245" name="Gefaltete Ecke 6">
            <a:extLst>
              <a:ext uri="{FF2B5EF4-FFF2-40B4-BE49-F238E27FC236}">
                <a16:creationId xmlns:a16="http://schemas.microsoft.com/office/drawing/2014/main" id="{F638F0E5-9EB6-C1A9-EDD5-61B6899BDAE4}"/>
              </a:ext>
            </a:extLst>
          </p:cNvPr>
          <p:cNvSpPr/>
          <p:nvPr/>
        </p:nvSpPr>
        <p:spPr bwMode="gray">
          <a:xfrm>
            <a:off x="5033098"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latin typeface="72 Brand" panose="020B0504030603020204" pitchFamily="34" charset="0"/>
                <a:cs typeface="72" panose="020B0503030000000003" pitchFamily="34" charset="0"/>
              </a:rPr>
              <a:t>Create application logic</a:t>
            </a:r>
          </a:p>
        </p:txBody>
      </p:sp>
      <p:sp>
        <p:nvSpPr>
          <p:cNvPr id="243" name="Gefaltete Ecke 6">
            <a:extLst>
              <a:ext uri="{FF2B5EF4-FFF2-40B4-BE49-F238E27FC236}">
                <a16:creationId xmlns:a16="http://schemas.microsoft.com/office/drawing/2014/main" id="{43E83215-14A6-F6D9-9933-323B4A0921FB}"/>
              </a:ext>
            </a:extLst>
          </p:cNvPr>
          <p:cNvSpPr/>
          <p:nvPr/>
        </p:nvSpPr>
        <p:spPr bwMode="gray">
          <a:xfrm>
            <a:off x="660095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latin typeface="72 Brand" panose="020B0504030603020204" pitchFamily="34" charset="0"/>
                <a:cs typeface="72" panose="020B0503030000000003" pitchFamily="34" charset="0"/>
              </a:rPr>
              <a:t>Create workflow</a:t>
            </a:r>
          </a:p>
        </p:txBody>
      </p:sp>
      <p:sp>
        <p:nvSpPr>
          <p:cNvPr id="274" name="Gefaltete Ecke 6">
            <a:extLst>
              <a:ext uri="{FF2B5EF4-FFF2-40B4-BE49-F238E27FC236}">
                <a16:creationId xmlns:a16="http://schemas.microsoft.com/office/drawing/2014/main" id="{62B440E7-986A-067F-D828-319AA53122F2}"/>
              </a:ext>
            </a:extLst>
          </p:cNvPr>
          <p:cNvSpPr/>
          <p:nvPr/>
        </p:nvSpPr>
        <p:spPr bwMode="gray">
          <a:xfrm>
            <a:off x="8541611"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SAP Build Apps</a:t>
            </a:r>
          </a:p>
        </p:txBody>
      </p:sp>
      <p:sp>
        <p:nvSpPr>
          <p:cNvPr id="270" name="Gefaltete Ecke 6">
            <a:extLst>
              <a:ext uri="{FF2B5EF4-FFF2-40B4-BE49-F238E27FC236}">
                <a16:creationId xmlns:a16="http://schemas.microsoft.com/office/drawing/2014/main" id="{1DC2A588-A55C-8CFC-287F-B0239159A490}"/>
              </a:ext>
            </a:extLst>
          </p:cNvPr>
          <p:cNvSpPr/>
          <p:nvPr/>
        </p:nvSpPr>
        <p:spPr bwMode="gray">
          <a:xfrm>
            <a:off x="854161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SAP Build Process Automation</a:t>
            </a:r>
          </a:p>
        </p:txBody>
      </p:sp>
      <p:sp>
        <p:nvSpPr>
          <p:cNvPr id="268" name="Gefaltete Ecke 6">
            <a:extLst>
              <a:ext uri="{FF2B5EF4-FFF2-40B4-BE49-F238E27FC236}">
                <a16:creationId xmlns:a16="http://schemas.microsoft.com/office/drawing/2014/main" id="{52B9D724-DE19-915B-52DF-330311FEA092}"/>
              </a:ext>
            </a:extLst>
          </p:cNvPr>
          <p:cNvSpPr/>
          <p:nvPr/>
        </p:nvSpPr>
        <p:spPr bwMode="gray">
          <a:xfrm>
            <a:off x="10109464"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SAP Build Process Automation</a:t>
            </a:r>
          </a:p>
        </p:txBody>
      </p:sp>
      <p:sp>
        <p:nvSpPr>
          <p:cNvPr id="31" name="Gefaltete Ecke 7">
            <a:extLst>
              <a:ext uri="{FF2B5EF4-FFF2-40B4-BE49-F238E27FC236}">
                <a16:creationId xmlns:a16="http://schemas.microsoft.com/office/drawing/2014/main" id="{FA1A8335-2A79-3A78-F16B-96970A05E749}"/>
              </a:ext>
            </a:extLst>
          </p:cNvPr>
          <p:cNvSpPr>
            <a:spLocks/>
          </p:cNvSpPr>
          <p:nvPr/>
        </p:nvSpPr>
        <p:spPr bwMode="gray">
          <a:xfrm>
            <a:off x="501651" y="2273212"/>
            <a:ext cx="722700" cy="898971"/>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Actions</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9" name="Gefaltete Ecke 8">
            <a:extLst>
              <a:ext uri="{FF2B5EF4-FFF2-40B4-BE49-F238E27FC236}">
                <a16:creationId xmlns:a16="http://schemas.microsoft.com/office/drawing/2014/main" id="{4AE9FD00-10D3-E2B5-E93F-384CB795C819}"/>
              </a:ext>
            </a:extLst>
          </p:cNvPr>
          <p:cNvSpPr>
            <a:spLocks/>
          </p:cNvSpPr>
          <p:nvPr/>
        </p:nvSpPr>
        <p:spPr bwMode="gray">
          <a:xfrm>
            <a:off x="501650" y="3229618"/>
            <a:ext cx="722699" cy="897944"/>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Application Logic</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7" name="Gefaltete Ecke 9">
            <a:extLst>
              <a:ext uri="{FF2B5EF4-FFF2-40B4-BE49-F238E27FC236}">
                <a16:creationId xmlns:a16="http://schemas.microsoft.com/office/drawing/2014/main" id="{B1C1E252-67E1-03B2-7156-B2F1546437BC}"/>
              </a:ext>
            </a:extLst>
          </p:cNvPr>
          <p:cNvSpPr>
            <a:spLocks/>
          </p:cNvSpPr>
          <p:nvPr/>
        </p:nvSpPr>
        <p:spPr bwMode="gray">
          <a:xfrm>
            <a:off x="501650" y="4184997"/>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System</a:t>
            </a:r>
            <a:endParaRPr kumimoji="0" lang="en-US" sz="700" u="none" strike="noStrike" kern="0" cap="none" spc="0" normalizeH="0" baseline="0" noProof="0" err="1">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5" name="Gefaltete Ecke 10">
            <a:extLst>
              <a:ext uri="{FF2B5EF4-FFF2-40B4-BE49-F238E27FC236}">
                <a16:creationId xmlns:a16="http://schemas.microsoft.com/office/drawing/2014/main" id="{D7A107D4-E45A-B781-BFFB-AC65C67F73FB}"/>
              </a:ext>
            </a:extLst>
          </p:cNvPr>
          <p:cNvSpPr>
            <a:spLocks/>
          </p:cNvSpPr>
          <p:nvPr/>
        </p:nvSpPr>
        <p:spPr bwMode="gray">
          <a:xfrm>
            <a:off x="501650" y="5140375"/>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Required </a:t>
            </a:r>
            <a:br>
              <a:rPr lang="en-US" sz="700" kern="0">
                <a:solidFill>
                  <a:srgbClr val="12171C"/>
                </a:solidFill>
                <a:latin typeface="72 Brand Medium" panose="020B0504030603020204" pitchFamily="34" charset="0"/>
                <a:ea typeface="Arial Unicode MS" pitchFamily="34" charset="-128"/>
                <a:cs typeface="72" panose="020B0503030000000003" pitchFamily="34" charset="0"/>
              </a:rPr>
            </a:br>
            <a:r>
              <a:rPr lang="en-US" sz="700" kern="0">
                <a:solidFill>
                  <a:srgbClr val="12171C"/>
                </a:solidFill>
                <a:latin typeface="72 Brand Medium" panose="020B0504030603020204" pitchFamily="34" charset="0"/>
                <a:ea typeface="Arial Unicode MS" pitchFamily="34" charset="-128"/>
                <a:cs typeface="72" panose="020B0503030000000003" pitchFamily="34" charset="0"/>
              </a:rPr>
              <a:t>Data</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6" name="Gefaltete Ecke 6">
            <a:extLst>
              <a:ext uri="{FF2B5EF4-FFF2-40B4-BE49-F238E27FC236}">
                <a16:creationId xmlns:a16="http://schemas.microsoft.com/office/drawing/2014/main" id="{1C553FC0-CED4-0CC6-263A-EFAB1960CD65}"/>
              </a:ext>
            </a:extLst>
          </p:cNvPr>
          <p:cNvSpPr/>
          <p:nvPr/>
        </p:nvSpPr>
        <p:spPr bwMode="gray">
          <a:xfrm>
            <a:off x="501650" y="5140907"/>
            <a:ext cx="58853" cy="896917"/>
          </a:xfrm>
          <a:prstGeom prst="rect">
            <a:avLst/>
          </a:prstGeom>
          <a:solidFill>
            <a:srgbClr val="7858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grpSp>
        <p:nvGrpSpPr>
          <p:cNvPr id="9" name="Group 8">
            <a:extLst>
              <a:ext uri="{FF2B5EF4-FFF2-40B4-BE49-F238E27FC236}">
                <a16:creationId xmlns:a16="http://schemas.microsoft.com/office/drawing/2014/main" id="{5674A7BC-F3FC-668B-36AE-8FBECD3C0ED0}"/>
              </a:ext>
            </a:extLst>
          </p:cNvPr>
          <p:cNvGrpSpPr/>
          <p:nvPr/>
        </p:nvGrpSpPr>
        <p:grpSpPr>
          <a:xfrm>
            <a:off x="1485927" y="2273213"/>
            <a:ext cx="1492147" cy="900000"/>
            <a:chOff x="1485927" y="2273213"/>
            <a:chExt cx="1492147" cy="900000"/>
          </a:xfrm>
        </p:grpSpPr>
        <p:sp>
          <p:nvSpPr>
            <p:cNvPr id="197" name="Gefaltete Ecke 6">
              <a:extLst>
                <a:ext uri="{FF2B5EF4-FFF2-40B4-BE49-F238E27FC236}">
                  <a16:creationId xmlns:a16="http://schemas.microsoft.com/office/drawing/2014/main" id="{10436BA9-F8C2-B11E-A034-47F73FE6EA12}"/>
                </a:ext>
              </a:extLst>
            </p:cNvPr>
            <p:cNvSpPr/>
            <p:nvPr/>
          </p:nvSpPr>
          <p:spPr bwMode="gray">
            <a:xfrm>
              <a:off x="1526191" y="227424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defRPr/>
              </a:pPr>
              <a:r>
                <a:rPr lang="en-US" sz="1050" dirty="0">
                  <a:latin typeface="72 Brand" panose="020B0504030603020204" pitchFamily="34" charset="0"/>
                  <a:cs typeface="Arial" panose="020B0604020202020204" pitchFamily="34" charset="0"/>
                </a:rPr>
                <a:t>Sales manager enters free-text message to buyer</a:t>
              </a:r>
            </a:p>
          </p:txBody>
        </p:sp>
        <p:sp>
          <p:nvSpPr>
            <p:cNvPr id="196" name="Gefaltete Ecke 6">
              <a:extLst>
                <a:ext uri="{FF2B5EF4-FFF2-40B4-BE49-F238E27FC236}">
                  <a16:creationId xmlns:a16="http://schemas.microsoft.com/office/drawing/2014/main" id="{8F6BD084-0B88-49D4-3406-C36351D417E9}"/>
                </a:ext>
              </a:extLst>
            </p:cNvPr>
            <p:cNvSpPr/>
            <p:nvPr/>
          </p:nvSpPr>
          <p:spPr bwMode="gray">
            <a:xfrm>
              <a:off x="148592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grpSp>
      <p:sp>
        <p:nvSpPr>
          <p:cNvPr id="194" name="Gefaltete Ecke 6">
            <a:extLst>
              <a:ext uri="{FF2B5EF4-FFF2-40B4-BE49-F238E27FC236}">
                <a16:creationId xmlns:a16="http://schemas.microsoft.com/office/drawing/2014/main" id="{A328BC3F-7927-ACFE-27D5-FCA7E10A8176}"/>
              </a:ext>
            </a:extLst>
          </p:cNvPr>
          <p:cNvSpPr/>
          <p:nvPr/>
        </p:nvSpPr>
        <p:spPr bwMode="gray">
          <a:xfrm>
            <a:off x="3053780"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73" name="Gefaltete Ecke 6">
            <a:extLst>
              <a:ext uri="{FF2B5EF4-FFF2-40B4-BE49-F238E27FC236}">
                <a16:creationId xmlns:a16="http://schemas.microsoft.com/office/drawing/2014/main" id="{83C7086B-3F1B-F8E8-6196-E65D0B3BB7D5}"/>
              </a:ext>
            </a:extLst>
          </p:cNvPr>
          <p:cNvSpPr/>
          <p:nvPr/>
        </p:nvSpPr>
        <p:spPr bwMode="gray">
          <a:xfrm>
            <a:off x="8501347"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2" name="Gefaltete Ecke 6">
            <a:extLst>
              <a:ext uri="{FF2B5EF4-FFF2-40B4-BE49-F238E27FC236}">
                <a16:creationId xmlns:a16="http://schemas.microsoft.com/office/drawing/2014/main" id="{A4C90C4A-4EA0-448E-B85D-036E7F81DC69}"/>
              </a:ext>
            </a:extLst>
          </p:cNvPr>
          <p:cNvSpPr/>
          <p:nvPr/>
        </p:nvSpPr>
        <p:spPr bwMode="gray">
          <a:xfrm>
            <a:off x="501650" y="2273213"/>
            <a:ext cx="58853" cy="897944"/>
          </a:xfrm>
          <a:prstGeom prst="rect">
            <a:avLst/>
          </a:prstGeom>
          <a:solidFill>
            <a:srgbClr val="97DD40"/>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92" name="Gefaltete Ecke 6">
            <a:extLst>
              <a:ext uri="{FF2B5EF4-FFF2-40B4-BE49-F238E27FC236}">
                <a16:creationId xmlns:a16="http://schemas.microsoft.com/office/drawing/2014/main" id="{612E5724-1864-0C77-234A-CA67823E7EDD}"/>
              </a:ext>
            </a:extLst>
          </p:cNvPr>
          <p:cNvSpPr/>
          <p:nvPr/>
        </p:nvSpPr>
        <p:spPr bwMode="gray">
          <a:xfrm>
            <a:off x="148592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90" name="Gefaltete Ecke 6">
            <a:extLst>
              <a:ext uri="{FF2B5EF4-FFF2-40B4-BE49-F238E27FC236}">
                <a16:creationId xmlns:a16="http://schemas.microsoft.com/office/drawing/2014/main" id="{E343800F-02B9-A25D-FE68-3C2815738722}"/>
              </a:ext>
            </a:extLst>
          </p:cNvPr>
          <p:cNvSpPr/>
          <p:nvPr/>
        </p:nvSpPr>
        <p:spPr bwMode="gray">
          <a:xfrm>
            <a:off x="305378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4" name="Gefaltete Ecke 6">
            <a:extLst>
              <a:ext uri="{FF2B5EF4-FFF2-40B4-BE49-F238E27FC236}">
                <a16:creationId xmlns:a16="http://schemas.microsoft.com/office/drawing/2014/main" id="{7F494173-9B14-A44B-6D57-77C28D625DFC}"/>
              </a:ext>
            </a:extLst>
          </p:cNvPr>
          <p:cNvSpPr/>
          <p:nvPr/>
        </p:nvSpPr>
        <p:spPr bwMode="gray">
          <a:xfrm>
            <a:off x="4992834"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2" name="Gefaltete Ecke 6">
            <a:extLst>
              <a:ext uri="{FF2B5EF4-FFF2-40B4-BE49-F238E27FC236}">
                <a16:creationId xmlns:a16="http://schemas.microsoft.com/office/drawing/2014/main" id="{C47BFDCF-5F98-6FD1-A55C-036E015D3541}"/>
              </a:ext>
            </a:extLst>
          </p:cNvPr>
          <p:cNvSpPr/>
          <p:nvPr/>
        </p:nvSpPr>
        <p:spPr bwMode="gray">
          <a:xfrm>
            <a:off x="656068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9" name="Gefaltete Ecke 6">
            <a:extLst>
              <a:ext uri="{FF2B5EF4-FFF2-40B4-BE49-F238E27FC236}">
                <a16:creationId xmlns:a16="http://schemas.microsoft.com/office/drawing/2014/main" id="{3E52539C-3520-C8D2-6ADC-F3B32BF0204A}"/>
              </a:ext>
            </a:extLst>
          </p:cNvPr>
          <p:cNvSpPr/>
          <p:nvPr/>
        </p:nvSpPr>
        <p:spPr bwMode="gray">
          <a:xfrm>
            <a:off x="850134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7" name="Gefaltete Ecke 6">
            <a:extLst>
              <a:ext uri="{FF2B5EF4-FFF2-40B4-BE49-F238E27FC236}">
                <a16:creationId xmlns:a16="http://schemas.microsoft.com/office/drawing/2014/main" id="{E0D7D7FA-F1D9-6DA1-4024-656A31CE5684}"/>
              </a:ext>
            </a:extLst>
          </p:cNvPr>
          <p:cNvSpPr/>
          <p:nvPr/>
        </p:nvSpPr>
        <p:spPr bwMode="gray">
          <a:xfrm>
            <a:off x="10069200"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0" name="Gefaltete Ecke 6">
            <a:extLst>
              <a:ext uri="{FF2B5EF4-FFF2-40B4-BE49-F238E27FC236}">
                <a16:creationId xmlns:a16="http://schemas.microsoft.com/office/drawing/2014/main" id="{93CDE469-E791-53DA-2294-B1489D3073FC}"/>
              </a:ext>
            </a:extLst>
          </p:cNvPr>
          <p:cNvSpPr/>
          <p:nvPr/>
        </p:nvSpPr>
        <p:spPr bwMode="gray">
          <a:xfrm>
            <a:off x="501650" y="3230128"/>
            <a:ext cx="58853" cy="896919"/>
          </a:xfrm>
          <a:prstGeom prst="rect">
            <a:avLst/>
          </a:prstGeom>
          <a:solidFill>
            <a:srgbClr val="FFC933"/>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88" name="Gefaltete Ecke 6">
            <a:extLst>
              <a:ext uri="{FF2B5EF4-FFF2-40B4-BE49-F238E27FC236}">
                <a16:creationId xmlns:a16="http://schemas.microsoft.com/office/drawing/2014/main" id="{A6949719-66A2-DAFB-6B04-CC7F3E836117}"/>
              </a:ext>
            </a:extLst>
          </p:cNvPr>
          <p:cNvSpPr/>
          <p:nvPr/>
        </p:nvSpPr>
        <p:spPr bwMode="gray">
          <a:xfrm>
            <a:off x="1485927"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6" name="Gefaltete Ecke 6">
            <a:extLst>
              <a:ext uri="{FF2B5EF4-FFF2-40B4-BE49-F238E27FC236}">
                <a16:creationId xmlns:a16="http://schemas.microsoft.com/office/drawing/2014/main" id="{0465586A-7AEF-3C2F-6B8C-A5F45C801382}"/>
              </a:ext>
            </a:extLst>
          </p:cNvPr>
          <p:cNvSpPr/>
          <p:nvPr/>
        </p:nvSpPr>
        <p:spPr bwMode="gray">
          <a:xfrm>
            <a:off x="3053780"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8" name="Gefaltete Ecke 6">
            <a:extLst>
              <a:ext uri="{FF2B5EF4-FFF2-40B4-BE49-F238E27FC236}">
                <a16:creationId xmlns:a16="http://schemas.microsoft.com/office/drawing/2014/main" id="{00022714-6164-772A-A749-FC37595D123E}"/>
              </a:ext>
            </a:extLst>
          </p:cNvPr>
          <p:cNvSpPr/>
          <p:nvPr/>
        </p:nvSpPr>
        <p:spPr bwMode="gray">
          <a:xfrm>
            <a:off x="502344" y="4185517"/>
            <a:ext cx="58853" cy="896917"/>
          </a:xfrm>
          <a:prstGeom prst="rect">
            <a:avLst/>
          </a:prstGeom>
          <a:solidFill>
            <a:srgbClr val="1B90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8" name="Rounded Rectangle 2">
            <a:extLst>
              <a:ext uri="{FF2B5EF4-FFF2-40B4-BE49-F238E27FC236}">
                <a16:creationId xmlns:a16="http://schemas.microsoft.com/office/drawing/2014/main" id="{4650492D-E6C7-52AA-76E8-0861E0D8D469}"/>
              </a:ext>
            </a:extLst>
          </p:cNvPr>
          <p:cNvSpPr/>
          <p:nvPr/>
        </p:nvSpPr>
        <p:spPr bwMode="gray">
          <a:xfrm>
            <a:off x="513050" y="810962"/>
            <a:ext cx="1054885" cy="233316"/>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a:solidFill>
                  <a:schemeClr val="bg1"/>
                </a:solidFill>
                <a:latin typeface="72 Brand" panose="020B0504030603020204" pitchFamily="34" charset="0"/>
                <a:ea typeface="Arial Unicode MS" pitchFamily="34" charset="-128"/>
                <a:cs typeface="Arial Unicode MS" pitchFamily="34" charset="-128"/>
                <a:sym typeface="Arial"/>
              </a:rPr>
              <a:t>Example</a:t>
            </a:r>
          </a:p>
        </p:txBody>
      </p:sp>
      <p:sp>
        <p:nvSpPr>
          <p:cNvPr id="10" name="Rounded Rectangle 2">
            <a:extLst>
              <a:ext uri="{FF2B5EF4-FFF2-40B4-BE49-F238E27FC236}">
                <a16:creationId xmlns:a16="http://schemas.microsoft.com/office/drawing/2014/main" id="{D4BA222C-C113-C372-1FB6-6CADB610CBAE}"/>
              </a:ext>
            </a:extLst>
          </p:cNvPr>
          <p:cNvSpPr/>
          <p:nvPr/>
        </p:nvSpPr>
        <p:spPr bwMode="gray">
          <a:xfrm>
            <a:off x="4992834"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1.3</a:t>
            </a:r>
          </a:p>
        </p:txBody>
      </p:sp>
      <p:sp>
        <p:nvSpPr>
          <p:cNvPr id="11" name="Rounded Rectangle 2">
            <a:extLst>
              <a:ext uri="{FF2B5EF4-FFF2-40B4-BE49-F238E27FC236}">
                <a16:creationId xmlns:a16="http://schemas.microsoft.com/office/drawing/2014/main" id="{3167541E-898D-42B6-DD2E-7560E9215BB5}"/>
              </a:ext>
            </a:extLst>
          </p:cNvPr>
          <p:cNvSpPr/>
          <p:nvPr/>
        </p:nvSpPr>
        <p:spPr bwMode="gray">
          <a:xfrm>
            <a:off x="8501347"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1.4</a:t>
            </a:r>
          </a:p>
        </p:txBody>
      </p:sp>
      <p:sp>
        <p:nvSpPr>
          <p:cNvPr id="13" name="Rounded Rectangle 2">
            <a:extLst>
              <a:ext uri="{FF2B5EF4-FFF2-40B4-BE49-F238E27FC236}">
                <a16:creationId xmlns:a16="http://schemas.microsoft.com/office/drawing/2014/main" id="{32F1E9DA-960D-00F0-DCA4-F84AD10CD52C}"/>
              </a:ext>
            </a:extLst>
          </p:cNvPr>
          <p:cNvSpPr/>
          <p:nvPr/>
        </p:nvSpPr>
        <p:spPr bwMode="gray">
          <a:xfrm>
            <a:off x="1484319" y="974710"/>
            <a:ext cx="3061607"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1.2</a:t>
            </a:r>
          </a:p>
        </p:txBody>
      </p:sp>
      <p:sp>
        <p:nvSpPr>
          <p:cNvPr id="14" name="Gefaltete Ecke 6">
            <a:extLst>
              <a:ext uri="{FF2B5EF4-FFF2-40B4-BE49-F238E27FC236}">
                <a16:creationId xmlns:a16="http://schemas.microsoft.com/office/drawing/2014/main" id="{81DD934F-E9F7-0113-43B2-CE595B6FE358}"/>
              </a:ext>
            </a:extLst>
          </p:cNvPr>
          <p:cNvSpPr/>
          <p:nvPr/>
        </p:nvSpPr>
        <p:spPr bwMode="gray">
          <a:xfrm>
            <a:off x="5033098" y="2274242"/>
            <a:ext cx="3019736"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latin typeface="72 Brand" panose="020B0504030603020204" pitchFamily="34" charset="0"/>
                <a:cs typeface="72" panose="020B0503030000000003" pitchFamily="34" charset="0"/>
              </a:rPr>
              <a:t>Create custom UI</a:t>
            </a:r>
          </a:p>
          <a:p>
            <a:pPr algn="ctr" defTabSz="1088558"/>
            <a:endParaRPr lang="en-US" sz="1050" dirty="0">
              <a:solidFill>
                <a:srgbClr val="12171C"/>
              </a:solidFill>
              <a:latin typeface="72 Brand" panose="020B0504030603020204" pitchFamily="34" charset="0"/>
              <a:cs typeface="Times New Roman"/>
            </a:endParaRPr>
          </a:p>
        </p:txBody>
      </p:sp>
      <p:sp>
        <p:nvSpPr>
          <p:cNvPr id="15" name="Gefaltete Ecke 6">
            <a:extLst>
              <a:ext uri="{FF2B5EF4-FFF2-40B4-BE49-F238E27FC236}">
                <a16:creationId xmlns:a16="http://schemas.microsoft.com/office/drawing/2014/main" id="{EFE6516B-34AA-28CF-0C7A-833DBBD7E12B}"/>
              </a:ext>
            </a:extLst>
          </p:cNvPr>
          <p:cNvSpPr/>
          <p:nvPr/>
        </p:nvSpPr>
        <p:spPr bwMode="gray">
          <a:xfrm>
            <a:off x="4992834" y="2273213"/>
            <a:ext cx="45125" cy="898971"/>
          </a:xfrm>
          <a:prstGeom prst="rect">
            <a:avLst/>
          </a:prstGeom>
          <a:solidFill>
            <a:srgbClr val="97DD40"/>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Tree>
    <p:extLst>
      <p:ext uri="{BB962C8B-B14F-4D97-AF65-F5344CB8AC3E}">
        <p14:creationId xmlns:p14="http://schemas.microsoft.com/office/powerpoint/2010/main" val="104583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687534-37F0-4F1F-9768-F593DA7323D9}"/>
            </a:ext>
          </a:extLst>
        </p:cNvPr>
        <p:cNvGrpSpPr/>
        <p:nvPr/>
      </p:nvGrpSpPr>
      <p:grpSpPr>
        <a:xfrm>
          <a:off x="0" y="0"/>
          <a:ext cx="0" cy="0"/>
          <a:chOff x="0" y="0"/>
          <a:chExt cx="0" cy="0"/>
        </a:xfrm>
      </p:grpSpPr>
      <p:sp>
        <p:nvSpPr>
          <p:cNvPr id="12" name="Titel 11">
            <a:extLst>
              <a:ext uri="{FF2B5EF4-FFF2-40B4-BE49-F238E27FC236}">
                <a16:creationId xmlns:a16="http://schemas.microsoft.com/office/drawing/2014/main" id="{7D331FF0-1222-8BAA-2DF5-B17C76F834CB}"/>
              </a:ext>
            </a:extLst>
          </p:cNvPr>
          <p:cNvSpPr>
            <a:spLocks noGrp="1"/>
          </p:cNvSpPr>
          <p:nvPr>
            <p:ph type="title"/>
          </p:nvPr>
        </p:nvSpPr>
        <p:spPr>
          <a:xfrm>
            <a:off x="504001" y="504000"/>
            <a:ext cx="11186476" cy="1231106"/>
          </a:xfrm>
        </p:spPr>
        <p:txBody>
          <a:bodyPr/>
          <a:lstStyle/>
          <a:p>
            <a:r>
              <a:rPr lang="en-US" sz="2000" dirty="0"/>
              <a:t>Extension Technology per Extension Task Mapping – Scene 04 Sales Order post into Cloud ERP</a:t>
            </a:r>
            <a:br>
              <a:rPr lang="en-US" sz="2000" b="1" kern="0" dirty="0">
                <a:highlight>
                  <a:srgbClr val="FF00FF"/>
                </a:highlight>
                <a:latin typeface="72 Brand" panose="020B0504030603020204" pitchFamily="34" charset="0"/>
                <a:ea typeface="Arial Unicode MS" pitchFamily="34" charset="-128"/>
                <a:cs typeface="Arial Unicode MS" pitchFamily="34" charset="-128"/>
              </a:rPr>
            </a:br>
            <a:br>
              <a:rPr lang="en-US" sz="2000" dirty="0"/>
            </a:br>
            <a:br>
              <a:rPr lang="en-US" sz="2000" dirty="0"/>
            </a:br>
            <a:endParaRPr lang="en-US" sz="2000" dirty="0"/>
          </a:p>
        </p:txBody>
      </p:sp>
      <p:sp>
        <p:nvSpPr>
          <p:cNvPr id="171" name="Rechteck 28">
            <a:extLst>
              <a:ext uri="{FF2B5EF4-FFF2-40B4-BE49-F238E27FC236}">
                <a16:creationId xmlns:a16="http://schemas.microsoft.com/office/drawing/2014/main" id="{6581F3E5-2B8B-AC36-CB44-5C401705902A}"/>
              </a:ext>
            </a:extLst>
          </p:cNvPr>
          <p:cNvSpPr/>
          <p:nvPr/>
        </p:nvSpPr>
        <p:spPr bwMode="gray">
          <a:xfrm>
            <a:off x="1340321"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1</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72" name="Gefaltete Ecke 13">
            <a:extLst>
              <a:ext uri="{FF2B5EF4-FFF2-40B4-BE49-F238E27FC236}">
                <a16:creationId xmlns:a16="http://schemas.microsoft.com/office/drawing/2014/main" id="{219F5B05-804D-A935-72A4-A56E0F02275B}"/>
              </a:ext>
            </a:extLst>
          </p:cNvPr>
          <p:cNvSpPr/>
          <p:nvPr/>
        </p:nvSpPr>
        <p:spPr bwMode="gray">
          <a:xfrm>
            <a:off x="1484320" y="1574264"/>
            <a:ext cx="3061607"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dirty="0">
                <a:latin typeface="72 Brand" panose="020B0504030603020204" pitchFamily="34" charset="0"/>
                <a:ea typeface="Arial Unicode MS" pitchFamily="34" charset="-128"/>
                <a:cs typeface="Arial Unicode MS" pitchFamily="34" charset="-128"/>
              </a:rPr>
              <a:t>Scene 04:</a:t>
            </a:r>
          </a:p>
          <a:p>
            <a:pPr algn="ctr" defTabSz="914400" fontAlgn="base">
              <a:spcBef>
                <a:spcPct val="50000"/>
              </a:spcBef>
              <a:spcAft>
                <a:spcPct val="0"/>
              </a:spcAft>
              <a:buClr>
                <a:srgbClr val="F0AB00"/>
              </a:buClr>
              <a:buSzPct val="80000"/>
            </a:pPr>
            <a:r>
              <a:rPr lang="en-US" sz="900" b="1" kern="0" dirty="0">
                <a:latin typeface="72 Brand" panose="020B0504030603020204" pitchFamily="34" charset="0"/>
                <a:ea typeface="Arial Unicode MS" pitchFamily="34" charset="-128"/>
                <a:cs typeface="Arial Unicode MS" pitchFamily="34" charset="-128"/>
              </a:rPr>
              <a:t>Sales Order post into Cloud ERP </a:t>
            </a:r>
          </a:p>
        </p:txBody>
      </p:sp>
      <p:sp>
        <p:nvSpPr>
          <p:cNvPr id="193" name="Gefaltete Ecke 6">
            <a:extLst>
              <a:ext uri="{FF2B5EF4-FFF2-40B4-BE49-F238E27FC236}">
                <a16:creationId xmlns:a16="http://schemas.microsoft.com/office/drawing/2014/main" id="{EF62E1F7-63CD-902F-2480-539B3D1ACCDC}"/>
              </a:ext>
            </a:extLst>
          </p:cNvPr>
          <p:cNvSpPr/>
          <p:nvPr/>
        </p:nvSpPr>
        <p:spPr bwMode="gray">
          <a:xfrm>
            <a:off x="152619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Post sales order</a:t>
            </a:r>
          </a:p>
        </p:txBody>
      </p:sp>
      <p:sp>
        <p:nvSpPr>
          <p:cNvPr id="189" name="Gefaltete Ecke 6">
            <a:extLst>
              <a:ext uri="{FF2B5EF4-FFF2-40B4-BE49-F238E27FC236}">
                <a16:creationId xmlns:a16="http://schemas.microsoft.com/office/drawing/2014/main" id="{0B06AD78-2DD7-B139-6903-24155F6216AE}"/>
              </a:ext>
            </a:extLst>
          </p:cNvPr>
          <p:cNvSpPr/>
          <p:nvPr/>
        </p:nvSpPr>
        <p:spPr bwMode="gray">
          <a:xfrm>
            <a:off x="1526191" y="4187052"/>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SAP S/4HANA Cloud Public Edition</a:t>
            </a:r>
          </a:p>
        </p:txBody>
      </p:sp>
      <p:sp>
        <p:nvSpPr>
          <p:cNvPr id="184" name="Gefaltete Ecke 6">
            <a:extLst>
              <a:ext uri="{FF2B5EF4-FFF2-40B4-BE49-F238E27FC236}">
                <a16:creationId xmlns:a16="http://schemas.microsoft.com/office/drawing/2014/main" id="{7435FAFC-3663-7F71-18CC-D56E1542BC0D}"/>
              </a:ext>
            </a:extLst>
          </p:cNvPr>
          <p:cNvSpPr/>
          <p:nvPr/>
        </p:nvSpPr>
        <p:spPr bwMode="gray">
          <a:xfrm>
            <a:off x="1485927" y="5142428"/>
            <a:ext cx="45125" cy="898971"/>
          </a:xfrm>
          <a:prstGeom prst="rect">
            <a:avLst/>
          </a:prstGeom>
          <a:solidFill>
            <a:srgbClr val="7858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185" name="Gefaltete Ecke 6">
            <a:extLst>
              <a:ext uri="{FF2B5EF4-FFF2-40B4-BE49-F238E27FC236}">
                <a16:creationId xmlns:a16="http://schemas.microsoft.com/office/drawing/2014/main" id="{443B06D1-3AA5-3E32-742A-02C117F6E087}"/>
              </a:ext>
            </a:extLst>
          </p:cNvPr>
          <p:cNvSpPr/>
          <p:nvPr/>
        </p:nvSpPr>
        <p:spPr bwMode="gray">
          <a:xfrm>
            <a:off x="1526191" y="514345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lvl="0" algn="ctr" defTabSz="1088558">
              <a:defRPr/>
            </a:pPr>
            <a:r>
              <a:rPr lang="en-US" sz="1050" dirty="0">
                <a:latin typeface="72 Brand" panose="020B0504030603020204" pitchFamily="34" charset="0"/>
                <a:cs typeface="Arial" panose="020B0604020202020204" pitchFamily="34" charset="0"/>
              </a:rPr>
              <a:t>Sales order</a:t>
            </a:r>
          </a:p>
        </p:txBody>
      </p:sp>
      <p:sp>
        <p:nvSpPr>
          <p:cNvPr id="198" name="Rechteck 28">
            <a:extLst>
              <a:ext uri="{FF2B5EF4-FFF2-40B4-BE49-F238E27FC236}">
                <a16:creationId xmlns:a16="http://schemas.microsoft.com/office/drawing/2014/main" id="{22EA9049-A354-BD1D-8125-84DFB90FF875}"/>
              </a:ext>
            </a:extLst>
          </p:cNvPr>
          <p:cNvSpPr/>
          <p:nvPr/>
        </p:nvSpPr>
        <p:spPr bwMode="gray">
          <a:xfrm>
            <a:off x="4848834"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2</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199" name="Gefaltete Ecke 13">
            <a:extLst>
              <a:ext uri="{FF2B5EF4-FFF2-40B4-BE49-F238E27FC236}">
                <a16:creationId xmlns:a16="http://schemas.microsoft.com/office/drawing/2014/main" id="{6E57FDFA-DA63-08EF-D6DF-497C37832687}"/>
              </a:ext>
            </a:extLst>
          </p:cNvPr>
          <p:cNvSpPr/>
          <p:nvPr/>
        </p:nvSpPr>
        <p:spPr bwMode="gray">
          <a:xfrm>
            <a:off x="4992834"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Extension tasks</a:t>
            </a:r>
          </a:p>
        </p:txBody>
      </p:sp>
      <p:sp>
        <p:nvSpPr>
          <p:cNvPr id="200" name="Gefaltete Ecke 13">
            <a:extLst>
              <a:ext uri="{FF2B5EF4-FFF2-40B4-BE49-F238E27FC236}">
                <a16:creationId xmlns:a16="http://schemas.microsoft.com/office/drawing/2014/main" id="{40E6460C-88AE-7EC9-F543-644234651E32}"/>
              </a:ext>
            </a:extLst>
          </p:cNvPr>
          <p:cNvSpPr/>
          <p:nvPr/>
        </p:nvSpPr>
        <p:spPr bwMode="gray">
          <a:xfrm>
            <a:off x="8501347" y="1574264"/>
            <a:ext cx="3060000" cy="634069"/>
          </a:xfrm>
          <a:prstGeom prst="rect">
            <a:avLst/>
          </a:prstGeom>
          <a:solidFill>
            <a:srgbClr val="EAECEE"/>
          </a:solidFill>
          <a:ln w="25400" algn="ctr">
            <a:noFill/>
            <a:miter lim="800000"/>
            <a:headEnd/>
            <a:tailEnd/>
          </a:ln>
        </p:spPr>
        <p:txBody>
          <a:bodyPr lIns="0" tIns="0" rIns="0" bIns="0" rtlCol="0" anchor="ctr" anchorCtr="0"/>
          <a:lstStyle/>
          <a:p>
            <a:pPr algn="ctr" defTabSz="914400" fontAlgn="base">
              <a:spcBef>
                <a:spcPct val="50000"/>
              </a:spcBef>
              <a:spcAft>
                <a:spcPct val="0"/>
              </a:spcAft>
              <a:buClr>
                <a:srgbClr val="F0AB00"/>
              </a:buClr>
              <a:buSzPct val="80000"/>
            </a:pPr>
            <a:r>
              <a:rPr lang="en-US" sz="900" kern="0">
                <a:solidFill>
                  <a:srgbClr val="12171C"/>
                </a:solidFill>
                <a:latin typeface="72 Brand" panose="020B0504030603020204" pitchFamily="34" charset="0"/>
                <a:ea typeface="Arial Unicode MS" pitchFamily="34" charset="-128"/>
                <a:cs typeface="72" panose="020B0503030000000003" pitchFamily="34" charset="0"/>
              </a:rPr>
              <a:t>Technical extension building blocks</a:t>
            </a:r>
          </a:p>
        </p:txBody>
      </p:sp>
      <p:sp>
        <p:nvSpPr>
          <p:cNvPr id="201" name="Rechteck 28">
            <a:extLst>
              <a:ext uri="{FF2B5EF4-FFF2-40B4-BE49-F238E27FC236}">
                <a16:creationId xmlns:a16="http://schemas.microsoft.com/office/drawing/2014/main" id="{A92FF101-45DE-7DD2-CA32-4AD0F6C0D6FC}"/>
              </a:ext>
            </a:extLst>
          </p:cNvPr>
          <p:cNvSpPr/>
          <p:nvPr/>
        </p:nvSpPr>
        <p:spPr bwMode="gray">
          <a:xfrm>
            <a:off x="8357347" y="1254896"/>
            <a:ext cx="3348000" cy="5000248"/>
          </a:xfrm>
          <a:prstGeom prst="roundRect">
            <a:avLst>
              <a:gd name="adj" fmla="val 1619"/>
            </a:avLst>
          </a:prstGeom>
          <a:noFill/>
          <a:ln w="15875" algn="ctr">
            <a:solidFill>
              <a:srgbClr val="A9B4BE"/>
            </a:solidFill>
            <a:miter lim="800000"/>
            <a:headEnd/>
            <a:tailEnd/>
            <a:extLst>
              <a:ext uri="{C807C97D-BFC1-408E-A445-0C87EB9F89A2}">
                <ask:lineSketchStyleProps xmlns:ask="http://schemas.microsoft.com/office/drawing/2018/sketchyshapes" sd="1219033472">
                  <a:custGeom>
                    <a:avLst/>
                    <a:gdLst>
                      <a:gd name="connsiteX0" fmla="*/ 0 w 3384000"/>
                      <a:gd name="connsiteY0" fmla="*/ 0 h 5039142"/>
                      <a:gd name="connsiteX1" fmla="*/ 642960 w 3384000"/>
                      <a:gd name="connsiteY1" fmla="*/ 0 h 5039142"/>
                      <a:gd name="connsiteX2" fmla="*/ 1218240 w 3384000"/>
                      <a:gd name="connsiteY2" fmla="*/ 0 h 5039142"/>
                      <a:gd name="connsiteX3" fmla="*/ 1962720 w 3384000"/>
                      <a:gd name="connsiteY3" fmla="*/ 0 h 5039142"/>
                      <a:gd name="connsiteX4" fmla="*/ 2605680 w 3384000"/>
                      <a:gd name="connsiteY4" fmla="*/ 0 h 5039142"/>
                      <a:gd name="connsiteX5" fmla="*/ 3384000 w 3384000"/>
                      <a:gd name="connsiteY5" fmla="*/ 0 h 5039142"/>
                      <a:gd name="connsiteX6" fmla="*/ 3384000 w 3384000"/>
                      <a:gd name="connsiteY6" fmla="*/ 730676 h 5039142"/>
                      <a:gd name="connsiteX7" fmla="*/ 3384000 w 3384000"/>
                      <a:gd name="connsiteY7" fmla="*/ 1360568 h 5039142"/>
                      <a:gd name="connsiteX8" fmla="*/ 3384000 w 3384000"/>
                      <a:gd name="connsiteY8" fmla="*/ 1990461 h 5039142"/>
                      <a:gd name="connsiteX9" fmla="*/ 3384000 w 3384000"/>
                      <a:gd name="connsiteY9" fmla="*/ 2519571 h 5039142"/>
                      <a:gd name="connsiteX10" fmla="*/ 3384000 w 3384000"/>
                      <a:gd name="connsiteY10" fmla="*/ 3048681 h 5039142"/>
                      <a:gd name="connsiteX11" fmla="*/ 3384000 w 3384000"/>
                      <a:gd name="connsiteY11" fmla="*/ 3678574 h 5039142"/>
                      <a:gd name="connsiteX12" fmla="*/ 3384000 w 3384000"/>
                      <a:gd name="connsiteY12" fmla="*/ 4358858 h 5039142"/>
                      <a:gd name="connsiteX13" fmla="*/ 3384000 w 3384000"/>
                      <a:gd name="connsiteY13" fmla="*/ 5039142 h 5039142"/>
                      <a:gd name="connsiteX14" fmla="*/ 2707200 w 3384000"/>
                      <a:gd name="connsiteY14" fmla="*/ 5039142 h 5039142"/>
                      <a:gd name="connsiteX15" fmla="*/ 2098080 w 3384000"/>
                      <a:gd name="connsiteY15" fmla="*/ 5039142 h 5039142"/>
                      <a:gd name="connsiteX16" fmla="*/ 1421280 w 3384000"/>
                      <a:gd name="connsiteY16" fmla="*/ 5039142 h 5039142"/>
                      <a:gd name="connsiteX17" fmla="*/ 676800 w 3384000"/>
                      <a:gd name="connsiteY17" fmla="*/ 5039142 h 5039142"/>
                      <a:gd name="connsiteX18" fmla="*/ 0 w 3384000"/>
                      <a:gd name="connsiteY18" fmla="*/ 5039142 h 5039142"/>
                      <a:gd name="connsiteX19" fmla="*/ 0 w 3384000"/>
                      <a:gd name="connsiteY19" fmla="*/ 4560424 h 5039142"/>
                      <a:gd name="connsiteX20" fmla="*/ 0 w 3384000"/>
                      <a:gd name="connsiteY20" fmla="*/ 4031314 h 5039142"/>
                      <a:gd name="connsiteX21" fmla="*/ 0 w 3384000"/>
                      <a:gd name="connsiteY21" fmla="*/ 3451812 h 5039142"/>
                      <a:gd name="connsiteX22" fmla="*/ 0 w 3384000"/>
                      <a:gd name="connsiteY22" fmla="*/ 2721137 h 5039142"/>
                      <a:gd name="connsiteX23" fmla="*/ 0 w 3384000"/>
                      <a:gd name="connsiteY23" fmla="*/ 2091244 h 5039142"/>
                      <a:gd name="connsiteX24" fmla="*/ 0 w 3384000"/>
                      <a:gd name="connsiteY24" fmla="*/ 1511743 h 5039142"/>
                      <a:gd name="connsiteX25" fmla="*/ 0 w 3384000"/>
                      <a:gd name="connsiteY25" fmla="*/ 1033024 h 5039142"/>
                      <a:gd name="connsiteX26" fmla="*/ 0 w 3384000"/>
                      <a:gd name="connsiteY26" fmla="*/ 554306 h 5039142"/>
                      <a:gd name="connsiteX27" fmla="*/ 0 w 3384000"/>
                      <a:gd name="connsiteY27" fmla="*/ 0 h 5039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384000" h="5039142" extrusionOk="0">
                        <a:moveTo>
                          <a:pt x="0" y="0"/>
                        </a:moveTo>
                        <a:cubicBezTo>
                          <a:pt x="271185" y="29039"/>
                          <a:pt x="328782" y="-28129"/>
                          <a:pt x="642960" y="0"/>
                        </a:cubicBezTo>
                        <a:cubicBezTo>
                          <a:pt x="957138" y="28129"/>
                          <a:pt x="1032733" y="9365"/>
                          <a:pt x="1218240" y="0"/>
                        </a:cubicBezTo>
                        <a:cubicBezTo>
                          <a:pt x="1403747" y="-9365"/>
                          <a:pt x="1722595" y="19949"/>
                          <a:pt x="1962720" y="0"/>
                        </a:cubicBezTo>
                        <a:cubicBezTo>
                          <a:pt x="2202845" y="-19949"/>
                          <a:pt x="2294374" y="-15471"/>
                          <a:pt x="2605680" y="0"/>
                        </a:cubicBezTo>
                        <a:cubicBezTo>
                          <a:pt x="2916986" y="15471"/>
                          <a:pt x="3056482" y="-1523"/>
                          <a:pt x="3384000" y="0"/>
                        </a:cubicBezTo>
                        <a:cubicBezTo>
                          <a:pt x="3391804" y="351232"/>
                          <a:pt x="3398473" y="465272"/>
                          <a:pt x="3384000" y="730676"/>
                        </a:cubicBezTo>
                        <a:cubicBezTo>
                          <a:pt x="3369527" y="996080"/>
                          <a:pt x="3364958" y="1100114"/>
                          <a:pt x="3384000" y="1360568"/>
                        </a:cubicBezTo>
                        <a:cubicBezTo>
                          <a:pt x="3403042" y="1621022"/>
                          <a:pt x="3401480" y="1745457"/>
                          <a:pt x="3384000" y="1990461"/>
                        </a:cubicBezTo>
                        <a:cubicBezTo>
                          <a:pt x="3366520" y="2235465"/>
                          <a:pt x="3400781" y="2334793"/>
                          <a:pt x="3384000" y="2519571"/>
                        </a:cubicBezTo>
                        <a:cubicBezTo>
                          <a:pt x="3367220" y="2704349"/>
                          <a:pt x="3395504" y="2938777"/>
                          <a:pt x="3384000" y="3048681"/>
                        </a:cubicBezTo>
                        <a:cubicBezTo>
                          <a:pt x="3372497" y="3158585"/>
                          <a:pt x="3379870" y="3417460"/>
                          <a:pt x="3384000" y="3678574"/>
                        </a:cubicBezTo>
                        <a:cubicBezTo>
                          <a:pt x="3388130" y="3939688"/>
                          <a:pt x="3390425" y="4135215"/>
                          <a:pt x="3384000" y="4358858"/>
                        </a:cubicBezTo>
                        <a:cubicBezTo>
                          <a:pt x="3377575" y="4582501"/>
                          <a:pt x="3393976" y="4724127"/>
                          <a:pt x="3384000" y="5039142"/>
                        </a:cubicBezTo>
                        <a:cubicBezTo>
                          <a:pt x="3046876" y="5050303"/>
                          <a:pt x="2922171" y="5035741"/>
                          <a:pt x="2707200" y="5039142"/>
                        </a:cubicBezTo>
                        <a:cubicBezTo>
                          <a:pt x="2492229" y="5042543"/>
                          <a:pt x="2335721" y="5011483"/>
                          <a:pt x="2098080" y="5039142"/>
                        </a:cubicBezTo>
                        <a:cubicBezTo>
                          <a:pt x="1860439" y="5066801"/>
                          <a:pt x="1648647" y="5069859"/>
                          <a:pt x="1421280" y="5039142"/>
                        </a:cubicBezTo>
                        <a:cubicBezTo>
                          <a:pt x="1193913" y="5008425"/>
                          <a:pt x="980245" y="5075806"/>
                          <a:pt x="676800" y="5039142"/>
                        </a:cubicBezTo>
                        <a:cubicBezTo>
                          <a:pt x="373355" y="5002478"/>
                          <a:pt x="186733" y="5035812"/>
                          <a:pt x="0" y="5039142"/>
                        </a:cubicBezTo>
                        <a:cubicBezTo>
                          <a:pt x="18411" y="4868054"/>
                          <a:pt x="-5364" y="4775031"/>
                          <a:pt x="0" y="4560424"/>
                        </a:cubicBezTo>
                        <a:cubicBezTo>
                          <a:pt x="5364" y="4345817"/>
                          <a:pt x="-22783" y="4255096"/>
                          <a:pt x="0" y="4031314"/>
                        </a:cubicBezTo>
                        <a:cubicBezTo>
                          <a:pt x="22783" y="3807532"/>
                          <a:pt x="-17666" y="3647596"/>
                          <a:pt x="0" y="3451812"/>
                        </a:cubicBezTo>
                        <a:cubicBezTo>
                          <a:pt x="17666" y="3256028"/>
                          <a:pt x="-29825" y="2916710"/>
                          <a:pt x="0" y="2721137"/>
                        </a:cubicBezTo>
                        <a:cubicBezTo>
                          <a:pt x="29825" y="2525565"/>
                          <a:pt x="-727" y="2310220"/>
                          <a:pt x="0" y="2091244"/>
                        </a:cubicBezTo>
                        <a:cubicBezTo>
                          <a:pt x="727" y="1872268"/>
                          <a:pt x="14542" y="1755568"/>
                          <a:pt x="0" y="1511743"/>
                        </a:cubicBezTo>
                        <a:cubicBezTo>
                          <a:pt x="-14542" y="1267918"/>
                          <a:pt x="6462" y="1213297"/>
                          <a:pt x="0" y="1033024"/>
                        </a:cubicBezTo>
                        <a:cubicBezTo>
                          <a:pt x="-6462" y="852751"/>
                          <a:pt x="-17725" y="738390"/>
                          <a:pt x="0" y="554306"/>
                        </a:cubicBezTo>
                        <a:cubicBezTo>
                          <a:pt x="17725" y="370222"/>
                          <a:pt x="-24059" y="115157"/>
                          <a:pt x="0" y="0"/>
                        </a:cubicBezTo>
                        <a:close/>
                      </a:path>
                    </a:pathLst>
                  </a:custGeom>
                  <ask:type>
                    <ask:lineSketchNone/>
                  </ask:type>
                </ask:lineSketchStyleProps>
              </a:ext>
            </a:extLst>
          </a:ln>
        </p:spPr>
        <p:txBody>
          <a:bodyPr lIns="90000" tIns="54000" rIns="90000" bIns="72000" rtlCol="0" anchor="t"/>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1000" b="0" i="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rPr>
              <a:t>Phase 3</a:t>
            </a:r>
            <a:endParaRPr kumimoji="0" lang="en-US" sz="1000" b="0" u="none" strike="noStrike" kern="0" cap="none" spc="0" normalizeH="0" baseline="0" noProof="0">
              <a:ln>
                <a:noFill/>
              </a:ln>
              <a:solidFill>
                <a:srgbClr val="12171C"/>
              </a:solidFill>
              <a:effectLst/>
              <a:uLnTx/>
              <a:uFillTx/>
              <a:latin typeface="72 Brand" panose="020B0504030603020204" pitchFamily="34" charset="0"/>
              <a:ea typeface="Arial Unicode MS" pitchFamily="34" charset="-128"/>
              <a:cs typeface="72" panose="020B0503030000000003" pitchFamily="34" charset="0"/>
            </a:endParaRPr>
          </a:p>
        </p:txBody>
      </p:sp>
      <p:sp>
        <p:nvSpPr>
          <p:cNvPr id="245" name="Gefaltete Ecke 6">
            <a:extLst>
              <a:ext uri="{FF2B5EF4-FFF2-40B4-BE49-F238E27FC236}">
                <a16:creationId xmlns:a16="http://schemas.microsoft.com/office/drawing/2014/main" id="{3266027A-0859-21A5-C721-97009D75AB74}"/>
              </a:ext>
            </a:extLst>
          </p:cNvPr>
          <p:cNvSpPr/>
          <p:nvPr/>
        </p:nvSpPr>
        <p:spPr bwMode="gray">
          <a:xfrm>
            <a:off x="5033098" y="3222334"/>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latin typeface="72 Brand" panose="020B0504030603020204" pitchFamily="34" charset="0"/>
                <a:cs typeface="72" panose="020B0503030000000003" pitchFamily="34" charset="0"/>
              </a:rPr>
              <a:t>Consume API</a:t>
            </a:r>
          </a:p>
        </p:txBody>
      </p:sp>
      <p:sp>
        <p:nvSpPr>
          <p:cNvPr id="270" name="Gefaltete Ecke 6">
            <a:extLst>
              <a:ext uri="{FF2B5EF4-FFF2-40B4-BE49-F238E27FC236}">
                <a16:creationId xmlns:a16="http://schemas.microsoft.com/office/drawing/2014/main" id="{753CE1F8-5BB0-9388-E9A5-1125547C60D5}"/>
              </a:ext>
            </a:extLst>
          </p:cNvPr>
          <p:cNvSpPr/>
          <p:nvPr/>
        </p:nvSpPr>
        <p:spPr bwMode="gray">
          <a:xfrm>
            <a:off x="8541611" y="3230647"/>
            <a:ext cx="1451883" cy="898971"/>
          </a:xfrm>
          <a:prstGeom prst="rect">
            <a:avLst/>
          </a:prstGeom>
          <a:solidFill>
            <a:srgbClr val="EAECEE"/>
          </a:solidFill>
          <a:ln w="25400" algn="ctr">
            <a:noFill/>
            <a:miter lim="800000"/>
            <a:headEnd/>
            <a:tailEnd/>
          </a:ln>
        </p:spPr>
        <p:txBody>
          <a:bodyPr lIns="36000" tIns="72000" rIns="36000" bIns="0" rtlCol="0" anchor="ctr" anchorCtr="0"/>
          <a:lstStyle/>
          <a:p>
            <a:pPr algn="ctr" defTabSz="1088558"/>
            <a:r>
              <a:rPr lang="en-US" sz="1050" dirty="0">
                <a:solidFill>
                  <a:srgbClr val="12171C"/>
                </a:solidFill>
                <a:latin typeface="72 Brand" panose="020B0504030603020204" pitchFamily="34" charset="0"/>
                <a:cs typeface="Times New Roman"/>
              </a:rPr>
              <a:t>Consume SAP remote API - SAP Business Accelerator Hub (Clean Core Level A)</a:t>
            </a:r>
          </a:p>
        </p:txBody>
      </p:sp>
      <p:sp>
        <p:nvSpPr>
          <p:cNvPr id="31" name="Gefaltete Ecke 7">
            <a:extLst>
              <a:ext uri="{FF2B5EF4-FFF2-40B4-BE49-F238E27FC236}">
                <a16:creationId xmlns:a16="http://schemas.microsoft.com/office/drawing/2014/main" id="{BA3EFF50-1F51-80F9-7C8D-042A55AABD15}"/>
              </a:ext>
            </a:extLst>
          </p:cNvPr>
          <p:cNvSpPr>
            <a:spLocks/>
          </p:cNvSpPr>
          <p:nvPr/>
        </p:nvSpPr>
        <p:spPr bwMode="gray">
          <a:xfrm>
            <a:off x="501651" y="2273212"/>
            <a:ext cx="722700" cy="898971"/>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Actions</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9" name="Gefaltete Ecke 8">
            <a:extLst>
              <a:ext uri="{FF2B5EF4-FFF2-40B4-BE49-F238E27FC236}">
                <a16:creationId xmlns:a16="http://schemas.microsoft.com/office/drawing/2014/main" id="{3B878B0D-4CDC-1691-1E34-0AB5FF987885}"/>
              </a:ext>
            </a:extLst>
          </p:cNvPr>
          <p:cNvSpPr>
            <a:spLocks/>
          </p:cNvSpPr>
          <p:nvPr/>
        </p:nvSpPr>
        <p:spPr bwMode="gray">
          <a:xfrm>
            <a:off x="501650" y="3229618"/>
            <a:ext cx="722699" cy="897944"/>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Application Logic</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7" name="Gefaltete Ecke 9">
            <a:extLst>
              <a:ext uri="{FF2B5EF4-FFF2-40B4-BE49-F238E27FC236}">
                <a16:creationId xmlns:a16="http://schemas.microsoft.com/office/drawing/2014/main" id="{798D9CC0-7B90-C4DE-5D00-BC4E03D575EC}"/>
              </a:ext>
            </a:extLst>
          </p:cNvPr>
          <p:cNvSpPr>
            <a:spLocks/>
          </p:cNvSpPr>
          <p:nvPr/>
        </p:nvSpPr>
        <p:spPr bwMode="gray">
          <a:xfrm>
            <a:off x="501650" y="4184997"/>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System</a:t>
            </a:r>
            <a:endParaRPr kumimoji="0" lang="en-US" sz="700" u="none" strike="noStrike" kern="0" cap="none" spc="0" normalizeH="0" baseline="0" noProof="0" err="1">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5" name="Gefaltete Ecke 10">
            <a:extLst>
              <a:ext uri="{FF2B5EF4-FFF2-40B4-BE49-F238E27FC236}">
                <a16:creationId xmlns:a16="http://schemas.microsoft.com/office/drawing/2014/main" id="{D79CB794-27BF-0485-6421-2E6830C89373}"/>
              </a:ext>
            </a:extLst>
          </p:cNvPr>
          <p:cNvSpPr>
            <a:spLocks/>
          </p:cNvSpPr>
          <p:nvPr/>
        </p:nvSpPr>
        <p:spPr bwMode="gray">
          <a:xfrm>
            <a:off x="501650" y="5140375"/>
            <a:ext cx="722699" cy="897943"/>
          </a:xfrm>
          <a:prstGeom prst="rect">
            <a:avLst/>
          </a:prstGeom>
          <a:solidFill>
            <a:srgbClr val="EAECEE"/>
          </a:solidFill>
          <a:ln w="25400" algn="ctr">
            <a:noFill/>
            <a:miter lim="800000"/>
            <a:headEnd/>
            <a:tailEnd/>
          </a:ln>
        </p:spPr>
        <p:txBody>
          <a:bodyPr lIns="144000" tIns="144000" rIns="36000" bIns="0" rtlCol="0" anchor="t" anchorCtr="0"/>
          <a:lstStyle/>
          <a:p>
            <a:pPr defTabSz="914400" fontAlgn="base">
              <a:spcBef>
                <a:spcPct val="50000"/>
              </a:spcBef>
              <a:spcAft>
                <a:spcPct val="0"/>
              </a:spcAft>
              <a:buClr>
                <a:srgbClr val="F0AB00"/>
              </a:buClr>
              <a:buSzPct val="80000"/>
            </a:pPr>
            <a:r>
              <a:rPr lang="en-US" sz="700" kern="0">
                <a:solidFill>
                  <a:srgbClr val="12171C"/>
                </a:solidFill>
                <a:latin typeface="72 Brand Medium" panose="020B0504030603020204" pitchFamily="34" charset="0"/>
                <a:ea typeface="Arial Unicode MS" pitchFamily="34" charset="-128"/>
                <a:cs typeface="72" panose="020B0503030000000003" pitchFamily="34" charset="0"/>
              </a:rPr>
              <a:t>Required </a:t>
            </a:r>
            <a:br>
              <a:rPr lang="en-US" sz="700" kern="0">
                <a:solidFill>
                  <a:srgbClr val="12171C"/>
                </a:solidFill>
                <a:latin typeface="72 Brand Medium" panose="020B0504030603020204" pitchFamily="34" charset="0"/>
                <a:ea typeface="Arial Unicode MS" pitchFamily="34" charset="-128"/>
                <a:cs typeface="72" panose="020B0503030000000003" pitchFamily="34" charset="0"/>
              </a:rPr>
            </a:br>
            <a:r>
              <a:rPr lang="en-US" sz="700" kern="0">
                <a:solidFill>
                  <a:srgbClr val="12171C"/>
                </a:solidFill>
                <a:latin typeface="72 Brand Medium" panose="020B0504030603020204" pitchFamily="34" charset="0"/>
                <a:ea typeface="Arial Unicode MS" pitchFamily="34" charset="-128"/>
                <a:cs typeface="72" panose="020B0503030000000003" pitchFamily="34" charset="0"/>
              </a:rPr>
              <a:t>Data</a:t>
            </a:r>
            <a:endParaRPr kumimoji="0" lang="en-US" sz="700" u="none" strike="noStrike" kern="0" cap="none" spc="0" normalizeH="0" baseline="0" noProof="0">
              <a:ln>
                <a:noFill/>
              </a:ln>
              <a:solidFill>
                <a:srgbClr val="12171C"/>
              </a:solidFill>
              <a:effectLst/>
              <a:uLnTx/>
              <a:uFillTx/>
              <a:latin typeface="72 Brand Medium" panose="020B0504030603020204" pitchFamily="34" charset="0"/>
              <a:ea typeface="Arial Unicode MS" pitchFamily="34" charset="-128"/>
              <a:cs typeface="72" panose="020B0503030000000003" pitchFamily="34" charset="0"/>
            </a:endParaRPr>
          </a:p>
        </p:txBody>
      </p:sp>
      <p:sp>
        <p:nvSpPr>
          <p:cNvPr id="26" name="Gefaltete Ecke 6">
            <a:extLst>
              <a:ext uri="{FF2B5EF4-FFF2-40B4-BE49-F238E27FC236}">
                <a16:creationId xmlns:a16="http://schemas.microsoft.com/office/drawing/2014/main" id="{C4B9B38B-F367-B6F9-4C30-B8109D9F29F4}"/>
              </a:ext>
            </a:extLst>
          </p:cNvPr>
          <p:cNvSpPr/>
          <p:nvPr/>
        </p:nvSpPr>
        <p:spPr bwMode="gray">
          <a:xfrm>
            <a:off x="501650" y="5140907"/>
            <a:ext cx="58853" cy="896917"/>
          </a:xfrm>
          <a:prstGeom prst="rect">
            <a:avLst/>
          </a:prstGeom>
          <a:solidFill>
            <a:srgbClr val="7858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32" name="Gefaltete Ecke 6">
            <a:extLst>
              <a:ext uri="{FF2B5EF4-FFF2-40B4-BE49-F238E27FC236}">
                <a16:creationId xmlns:a16="http://schemas.microsoft.com/office/drawing/2014/main" id="{7E9385E3-C6BC-FBA8-6246-880C1325E6D5}"/>
              </a:ext>
            </a:extLst>
          </p:cNvPr>
          <p:cNvSpPr/>
          <p:nvPr/>
        </p:nvSpPr>
        <p:spPr bwMode="gray">
          <a:xfrm>
            <a:off x="501650" y="2273213"/>
            <a:ext cx="58853" cy="897944"/>
          </a:xfrm>
          <a:prstGeom prst="rect">
            <a:avLst/>
          </a:prstGeom>
          <a:solidFill>
            <a:srgbClr val="97DD40"/>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92" name="Gefaltete Ecke 6">
            <a:extLst>
              <a:ext uri="{FF2B5EF4-FFF2-40B4-BE49-F238E27FC236}">
                <a16:creationId xmlns:a16="http://schemas.microsoft.com/office/drawing/2014/main" id="{FE78C8E6-63AC-2C6F-DB0A-0CDF6C89F6AE}"/>
              </a:ext>
            </a:extLst>
          </p:cNvPr>
          <p:cNvSpPr/>
          <p:nvPr/>
        </p:nvSpPr>
        <p:spPr bwMode="gray">
          <a:xfrm>
            <a:off x="148592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44" name="Gefaltete Ecke 6">
            <a:extLst>
              <a:ext uri="{FF2B5EF4-FFF2-40B4-BE49-F238E27FC236}">
                <a16:creationId xmlns:a16="http://schemas.microsoft.com/office/drawing/2014/main" id="{2F8FA00C-FFB5-EBEC-C3EC-9B136E79321E}"/>
              </a:ext>
            </a:extLst>
          </p:cNvPr>
          <p:cNvSpPr/>
          <p:nvPr/>
        </p:nvSpPr>
        <p:spPr bwMode="gray">
          <a:xfrm>
            <a:off x="4992834"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69" name="Gefaltete Ecke 6">
            <a:extLst>
              <a:ext uri="{FF2B5EF4-FFF2-40B4-BE49-F238E27FC236}">
                <a16:creationId xmlns:a16="http://schemas.microsoft.com/office/drawing/2014/main" id="{0515A857-2D14-B519-DE23-6DA05AC22C04}"/>
              </a:ext>
            </a:extLst>
          </p:cNvPr>
          <p:cNvSpPr/>
          <p:nvPr/>
        </p:nvSpPr>
        <p:spPr bwMode="gray">
          <a:xfrm>
            <a:off x="8501347" y="3229618"/>
            <a:ext cx="45125" cy="898971"/>
          </a:xfrm>
          <a:prstGeom prst="rect">
            <a:avLst/>
          </a:prstGeom>
          <a:solidFill>
            <a:srgbClr val="FFC933"/>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30" name="Gefaltete Ecke 6">
            <a:extLst>
              <a:ext uri="{FF2B5EF4-FFF2-40B4-BE49-F238E27FC236}">
                <a16:creationId xmlns:a16="http://schemas.microsoft.com/office/drawing/2014/main" id="{3BDE0FB0-99DC-E39C-9090-2CE51BD7D287}"/>
              </a:ext>
            </a:extLst>
          </p:cNvPr>
          <p:cNvSpPr/>
          <p:nvPr/>
        </p:nvSpPr>
        <p:spPr bwMode="gray">
          <a:xfrm>
            <a:off x="501650" y="3230128"/>
            <a:ext cx="58853" cy="896919"/>
          </a:xfrm>
          <a:prstGeom prst="rect">
            <a:avLst/>
          </a:prstGeom>
          <a:solidFill>
            <a:srgbClr val="FFC933"/>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sp>
        <p:nvSpPr>
          <p:cNvPr id="188" name="Gefaltete Ecke 6">
            <a:extLst>
              <a:ext uri="{FF2B5EF4-FFF2-40B4-BE49-F238E27FC236}">
                <a16:creationId xmlns:a16="http://schemas.microsoft.com/office/drawing/2014/main" id="{F8636749-F33E-E59D-9E4C-2F688705CA0E}"/>
              </a:ext>
            </a:extLst>
          </p:cNvPr>
          <p:cNvSpPr/>
          <p:nvPr/>
        </p:nvSpPr>
        <p:spPr bwMode="gray">
          <a:xfrm>
            <a:off x="1485927" y="4186023"/>
            <a:ext cx="45125" cy="898971"/>
          </a:xfrm>
          <a:prstGeom prst="rect">
            <a:avLst/>
          </a:prstGeom>
          <a:solidFill>
            <a:srgbClr val="1B90FF"/>
          </a:solidFill>
          <a:ln w="25400" algn="ctr">
            <a:noFill/>
            <a:miter lim="800000"/>
            <a:headEnd/>
            <a:tailEnd/>
          </a:ln>
        </p:spPr>
        <p:txBody>
          <a:bodyPr lIns="108000" tIns="108000" rIns="108000" bIns="0" rtlCol="0" anchor="t" anchorCtr="0"/>
          <a:lstStyle/>
          <a:p>
            <a:pPr lvl="0" defTabSz="1088558">
              <a:defRPr/>
            </a:pPr>
            <a:endParaRPr lang="en-US" sz="900">
              <a:latin typeface="72 Brand" panose="020B0504030603020204" pitchFamily="34" charset="0"/>
              <a:cs typeface="72" panose="020B0503030000000003" pitchFamily="34" charset="0"/>
            </a:endParaRPr>
          </a:p>
        </p:txBody>
      </p:sp>
      <p:sp>
        <p:nvSpPr>
          <p:cNvPr id="28" name="Gefaltete Ecke 6">
            <a:extLst>
              <a:ext uri="{FF2B5EF4-FFF2-40B4-BE49-F238E27FC236}">
                <a16:creationId xmlns:a16="http://schemas.microsoft.com/office/drawing/2014/main" id="{54B26429-BF8B-05F4-D4D2-ECA62F49BEF5}"/>
              </a:ext>
            </a:extLst>
          </p:cNvPr>
          <p:cNvSpPr/>
          <p:nvPr/>
        </p:nvSpPr>
        <p:spPr bwMode="gray">
          <a:xfrm>
            <a:off x="502344" y="4185517"/>
            <a:ext cx="58853" cy="896917"/>
          </a:xfrm>
          <a:prstGeom prst="rect">
            <a:avLst/>
          </a:prstGeom>
          <a:solidFill>
            <a:srgbClr val="1B90FF"/>
          </a:solidFill>
          <a:ln w="25400" algn="ctr">
            <a:noFill/>
            <a:miter lim="800000"/>
            <a:headEnd/>
            <a:tailEnd/>
          </a:ln>
        </p:spPr>
        <p:txBody>
          <a:bodyPr lIns="144000" tIns="108000" rIns="108000" bIns="0" rtlCol="0" anchor="t" anchorCtr="0"/>
          <a:lstStyle/>
          <a:p>
            <a:pPr lvl="0" defTabSz="1088558">
              <a:defRPr/>
            </a:pPr>
            <a:endParaRPr lang="en-US" sz="700">
              <a:latin typeface="72 Brand" panose="020B0504030603020204" pitchFamily="34" charset="0"/>
              <a:cs typeface="72" panose="020B0503030000000003" pitchFamily="34" charset="0"/>
            </a:endParaRPr>
          </a:p>
        </p:txBody>
      </p:sp>
      <p:pic>
        <p:nvPicPr>
          <p:cNvPr id="10" name="Picture 9">
            <a:hlinkClick r:id="rId3"/>
            <a:extLst>
              <a:ext uri="{FF2B5EF4-FFF2-40B4-BE49-F238E27FC236}">
                <a16:creationId xmlns:a16="http://schemas.microsoft.com/office/drawing/2014/main" id="{23BECED4-1612-15DD-6766-98E97D7566C0}"/>
              </a:ext>
            </a:extLst>
          </p:cNvPr>
          <p:cNvPicPr>
            <a:picLocks noChangeAspect="1"/>
          </p:cNvPicPr>
          <p:nvPr/>
        </p:nvPicPr>
        <p:blipFill>
          <a:blip r:embed="rId4"/>
          <a:stretch>
            <a:fillRect/>
          </a:stretch>
        </p:blipFill>
        <p:spPr>
          <a:xfrm>
            <a:off x="8650281" y="4184994"/>
            <a:ext cx="1291031" cy="260953"/>
          </a:xfrm>
          <a:prstGeom prst="rect">
            <a:avLst/>
          </a:prstGeom>
        </p:spPr>
      </p:pic>
      <p:sp>
        <p:nvSpPr>
          <p:cNvPr id="8" name="Rounded Rectangle 2">
            <a:extLst>
              <a:ext uri="{FF2B5EF4-FFF2-40B4-BE49-F238E27FC236}">
                <a16:creationId xmlns:a16="http://schemas.microsoft.com/office/drawing/2014/main" id="{3E33F555-A703-1B4A-F9D0-F6E7ACC2AB80}"/>
              </a:ext>
            </a:extLst>
          </p:cNvPr>
          <p:cNvSpPr/>
          <p:nvPr/>
        </p:nvSpPr>
        <p:spPr bwMode="gray">
          <a:xfrm>
            <a:off x="513050" y="810962"/>
            <a:ext cx="1054885" cy="233316"/>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a:solidFill>
                  <a:schemeClr val="bg1"/>
                </a:solidFill>
                <a:latin typeface="72 Brand" panose="020B0504030603020204" pitchFamily="34" charset="0"/>
                <a:ea typeface="Arial Unicode MS" pitchFamily="34" charset="-128"/>
                <a:cs typeface="Arial Unicode MS" pitchFamily="34" charset="-128"/>
                <a:sym typeface="Arial"/>
              </a:rPr>
              <a:t>Example</a:t>
            </a:r>
          </a:p>
        </p:txBody>
      </p:sp>
      <p:sp>
        <p:nvSpPr>
          <p:cNvPr id="11" name="Rounded Rectangle 2">
            <a:extLst>
              <a:ext uri="{FF2B5EF4-FFF2-40B4-BE49-F238E27FC236}">
                <a16:creationId xmlns:a16="http://schemas.microsoft.com/office/drawing/2014/main" id="{F0F33D21-F27F-A339-4344-3D8FEE5A697D}"/>
              </a:ext>
            </a:extLst>
          </p:cNvPr>
          <p:cNvSpPr/>
          <p:nvPr/>
        </p:nvSpPr>
        <p:spPr bwMode="gray">
          <a:xfrm>
            <a:off x="4992834"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1.3</a:t>
            </a:r>
          </a:p>
        </p:txBody>
      </p:sp>
      <p:sp>
        <p:nvSpPr>
          <p:cNvPr id="13" name="Rounded Rectangle 2">
            <a:extLst>
              <a:ext uri="{FF2B5EF4-FFF2-40B4-BE49-F238E27FC236}">
                <a16:creationId xmlns:a16="http://schemas.microsoft.com/office/drawing/2014/main" id="{44CB8A6C-D0C9-A6A9-ABCB-75F66EBD667D}"/>
              </a:ext>
            </a:extLst>
          </p:cNvPr>
          <p:cNvSpPr/>
          <p:nvPr/>
        </p:nvSpPr>
        <p:spPr bwMode="gray">
          <a:xfrm>
            <a:off x="8501347" y="974710"/>
            <a:ext cx="3060000"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1.4</a:t>
            </a:r>
          </a:p>
        </p:txBody>
      </p:sp>
      <p:sp>
        <p:nvSpPr>
          <p:cNvPr id="14" name="Rounded Rectangle 2">
            <a:extLst>
              <a:ext uri="{FF2B5EF4-FFF2-40B4-BE49-F238E27FC236}">
                <a16:creationId xmlns:a16="http://schemas.microsoft.com/office/drawing/2014/main" id="{0DBAF65F-9225-AC81-DFFC-4B82FC028705}"/>
              </a:ext>
            </a:extLst>
          </p:cNvPr>
          <p:cNvSpPr/>
          <p:nvPr/>
        </p:nvSpPr>
        <p:spPr bwMode="gray">
          <a:xfrm>
            <a:off x="1484319" y="974710"/>
            <a:ext cx="3061607" cy="227442"/>
          </a:xfrm>
          <a:prstGeom prst="roundRect">
            <a:avLst>
              <a:gd name="adj" fmla="val 21664"/>
            </a:avLst>
          </a:prstGeom>
          <a:solidFill>
            <a:srgbClr val="36A41D"/>
          </a:solidFill>
          <a:ln w="19050" cap="rnd" cmpd="sng">
            <a:noFill/>
            <a:headEnd/>
            <a:tailEnd/>
          </a:ln>
          <a:effectLst/>
        </p:spPr>
        <p:style>
          <a:lnRef idx="3">
            <a:schemeClr val="lt1"/>
          </a:lnRef>
          <a:fillRef idx="1">
            <a:schemeClr val="accent6"/>
          </a:fillRef>
          <a:effectRef idx="1">
            <a:schemeClr val="accent6"/>
          </a:effectRef>
          <a:fontRef idx="minor">
            <a:schemeClr val="lt1"/>
          </a:fontRef>
        </p:style>
        <p:txBody>
          <a:bodyPr wrap="square" lIns="0" tIns="0" rIns="0" bIns="0" rtlCol="0" anchor="ctr">
            <a:noAutofit/>
          </a:bodyPr>
          <a:lstStyle/>
          <a:p>
            <a:pPr algn="ctr" fontAlgn="base">
              <a:spcBef>
                <a:spcPct val="50000"/>
              </a:spcBef>
              <a:spcAft>
                <a:spcPct val="0"/>
              </a:spcAft>
              <a:buClr>
                <a:srgbClr val="F0AB00"/>
              </a:buClr>
              <a:buSzPct val="80000"/>
            </a:pPr>
            <a:r>
              <a:rPr lang="en-US" sz="1000" kern="0" dirty="0">
                <a:solidFill>
                  <a:schemeClr val="bg1"/>
                </a:solidFill>
                <a:latin typeface="72 Brand" panose="020B0504030603020204" pitchFamily="34" charset="0"/>
                <a:ea typeface="Arial Unicode MS" pitchFamily="34" charset="-128"/>
                <a:cs typeface="Arial Unicode MS" pitchFamily="34" charset="-128"/>
                <a:sym typeface="Arial"/>
              </a:rPr>
              <a:t>Exercise 1.2</a:t>
            </a:r>
          </a:p>
        </p:txBody>
      </p:sp>
    </p:spTree>
    <p:extLst>
      <p:ext uri="{BB962C8B-B14F-4D97-AF65-F5344CB8AC3E}">
        <p14:creationId xmlns:p14="http://schemas.microsoft.com/office/powerpoint/2010/main" val="39522668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Rounded Rectangle 22">
            <a:extLst>
              <a:ext uri="{FF2B5EF4-FFF2-40B4-BE49-F238E27FC236}">
                <a16:creationId xmlns:a16="http://schemas.microsoft.com/office/drawing/2014/main" id="{72C7A51F-9DA5-9B90-8F48-C68BB234FA02}"/>
              </a:ext>
            </a:extLst>
          </p:cNvPr>
          <p:cNvSpPr/>
          <p:nvPr/>
        </p:nvSpPr>
        <p:spPr>
          <a:xfrm>
            <a:off x="8808329" y="1140264"/>
            <a:ext cx="2314002" cy="3667126"/>
          </a:xfrm>
          <a:prstGeom prst="roundRect">
            <a:avLst>
              <a:gd name="adj" fmla="val 5659"/>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DE" sz="1100" dirty="0">
              <a:solidFill>
                <a:srgbClr val="FFFFFF"/>
              </a:solidFill>
              <a:latin typeface="72" panose="020B0503030000000003" pitchFamily="34" charset="0"/>
              <a:cs typeface="72" panose="020B0503030000000003" pitchFamily="34" charset="0"/>
            </a:endParaRPr>
          </a:p>
        </p:txBody>
      </p:sp>
      <p:sp>
        <p:nvSpPr>
          <p:cNvPr id="203" name="Rounded Rectangle 19">
            <a:extLst>
              <a:ext uri="{FF2B5EF4-FFF2-40B4-BE49-F238E27FC236}">
                <a16:creationId xmlns:a16="http://schemas.microsoft.com/office/drawing/2014/main" id="{F7500D9B-1676-B770-E65D-824E27094718}"/>
              </a:ext>
            </a:extLst>
          </p:cNvPr>
          <p:cNvSpPr/>
          <p:nvPr/>
        </p:nvSpPr>
        <p:spPr>
          <a:xfrm>
            <a:off x="8928435" y="2184528"/>
            <a:ext cx="2038531" cy="351396"/>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2" name="Rounded Rectangle 19">
            <a:extLst>
              <a:ext uri="{FF2B5EF4-FFF2-40B4-BE49-F238E27FC236}">
                <a16:creationId xmlns:a16="http://schemas.microsoft.com/office/drawing/2014/main" id="{1D07A19C-7473-8AA7-B2F1-97477B454EDB}"/>
              </a:ext>
            </a:extLst>
          </p:cNvPr>
          <p:cNvSpPr/>
          <p:nvPr/>
        </p:nvSpPr>
        <p:spPr>
          <a:xfrm>
            <a:off x="8928436" y="1723789"/>
            <a:ext cx="2038531" cy="351396"/>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178" name="Straight Arrow Connector 177">
            <a:extLst>
              <a:ext uri="{FF2B5EF4-FFF2-40B4-BE49-F238E27FC236}">
                <a16:creationId xmlns:a16="http://schemas.microsoft.com/office/drawing/2014/main" id="{6E144481-BF6F-CCCD-C49B-27AFDDD79189}"/>
              </a:ext>
            </a:extLst>
          </p:cNvPr>
          <p:cNvCxnSpPr>
            <a:cxnSpLocks/>
          </p:cNvCxnSpPr>
          <p:nvPr/>
        </p:nvCxnSpPr>
        <p:spPr>
          <a:xfrm>
            <a:off x="7897437" y="1199411"/>
            <a:ext cx="0" cy="4915573"/>
          </a:xfrm>
          <a:prstGeom prst="straightConnector1">
            <a:avLst/>
          </a:prstGeom>
          <a:ln w="38100">
            <a:solidFill>
              <a:srgbClr val="5B738B"/>
            </a:solidFill>
            <a:headEnd w="sm" len="sm"/>
            <a:tailEnd type="none" w="sm" len="sm"/>
          </a:ln>
        </p:spPr>
        <p:style>
          <a:lnRef idx="1">
            <a:schemeClr val="accent1"/>
          </a:lnRef>
          <a:fillRef idx="0">
            <a:schemeClr val="accent1"/>
          </a:fillRef>
          <a:effectRef idx="0">
            <a:schemeClr val="accent1"/>
          </a:effectRef>
          <a:fontRef idx="minor">
            <a:schemeClr val="tx1"/>
          </a:fontRef>
        </p:style>
      </p:cxnSp>
      <p:sp>
        <p:nvSpPr>
          <p:cNvPr id="4" name="Rounded Rectangle 3">
            <a:extLst>
              <a:ext uri="{FF2B5EF4-FFF2-40B4-BE49-F238E27FC236}">
                <a16:creationId xmlns:a16="http://schemas.microsoft.com/office/drawing/2014/main" id="{71710F06-087C-F24F-55DA-AA83D132CAC6}"/>
              </a:ext>
            </a:extLst>
          </p:cNvPr>
          <p:cNvSpPr/>
          <p:nvPr/>
        </p:nvSpPr>
        <p:spPr>
          <a:xfrm>
            <a:off x="2290964" y="1140264"/>
            <a:ext cx="4719297" cy="5091584"/>
          </a:xfrm>
          <a:prstGeom prst="roundRect">
            <a:avLst>
              <a:gd name="adj" fmla="val 3112"/>
            </a:avLst>
          </a:prstGeom>
          <a:solidFill>
            <a:srgbClr val="EBF8FF"/>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400"/>
          </a:p>
        </p:txBody>
      </p:sp>
      <p:sp>
        <p:nvSpPr>
          <p:cNvPr id="6" name="Rounded Rectangle 5">
            <a:extLst>
              <a:ext uri="{FF2B5EF4-FFF2-40B4-BE49-F238E27FC236}">
                <a16:creationId xmlns:a16="http://schemas.microsoft.com/office/drawing/2014/main" id="{434A7A41-7451-6B47-8402-BBE728101A26}"/>
              </a:ext>
            </a:extLst>
          </p:cNvPr>
          <p:cNvSpPr/>
          <p:nvPr/>
        </p:nvSpPr>
        <p:spPr>
          <a:xfrm>
            <a:off x="2450945" y="1622388"/>
            <a:ext cx="4354460" cy="2370190"/>
          </a:xfrm>
          <a:prstGeom prst="roundRect">
            <a:avLst>
              <a:gd name="adj" fmla="val 3984"/>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DE" sz="1100" dirty="0">
              <a:solidFill>
                <a:srgbClr val="FFFFFF"/>
              </a:solidFill>
              <a:latin typeface="72" panose="020B0503030000000003" pitchFamily="34" charset="0"/>
              <a:cs typeface="72" panose="020B0503030000000003" pitchFamily="34" charset="0"/>
            </a:endParaRPr>
          </a:p>
        </p:txBody>
      </p:sp>
      <p:sp>
        <p:nvSpPr>
          <p:cNvPr id="131" name="Rounded Rectangle 19">
            <a:extLst>
              <a:ext uri="{FF2B5EF4-FFF2-40B4-BE49-F238E27FC236}">
                <a16:creationId xmlns:a16="http://schemas.microsoft.com/office/drawing/2014/main" id="{11D7332D-4E6D-E63C-A348-3B6E7B4605BF}"/>
              </a:ext>
            </a:extLst>
          </p:cNvPr>
          <p:cNvSpPr/>
          <p:nvPr/>
        </p:nvSpPr>
        <p:spPr>
          <a:xfrm>
            <a:off x="2533064" y="2083230"/>
            <a:ext cx="2649596" cy="1612768"/>
          </a:xfrm>
          <a:prstGeom prst="roundRect">
            <a:avLst>
              <a:gd name="adj" fmla="val 7872"/>
            </a:avLst>
          </a:prstGeom>
          <a:solidFill>
            <a:srgbClr val="EBF8FF"/>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1400"/>
          </a:p>
        </p:txBody>
      </p:sp>
      <p:sp>
        <p:nvSpPr>
          <p:cNvPr id="7" name="Text 26">
            <a:extLst>
              <a:ext uri="{FF2B5EF4-FFF2-40B4-BE49-F238E27FC236}">
                <a16:creationId xmlns:a16="http://schemas.microsoft.com/office/drawing/2014/main" id="{01C8621F-F5C7-87F5-7F14-7D9160C7BE3A}"/>
              </a:ext>
            </a:extLst>
          </p:cNvPr>
          <p:cNvSpPr/>
          <p:nvPr/>
        </p:nvSpPr>
        <p:spPr>
          <a:xfrm>
            <a:off x="2582072" y="1758994"/>
            <a:ext cx="928569" cy="128901"/>
          </a:xfrm>
          <a:prstGeom prst="rect">
            <a:avLst/>
          </a:prstGeom>
          <a:noFill/>
          <a:ln/>
        </p:spPr>
        <p:txBody>
          <a:bodyPr wrap="square" lIns="0" tIns="0" rIns="0" bIns="0" rtlCol="0" anchor="t"/>
          <a:lstStyle/>
          <a:p>
            <a:pPr marL="0" indent="0" algn="l">
              <a:lnSpc>
                <a:spcPts val="1100"/>
              </a:lnSpc>
              <a:buNone/>
            </a:pPr>
            <a:r>
              <a:rPr lang="en-US" sz="900" dirty="0">
                <a:solidFill>
                  <a:srgbClr val="354A5F"/>
                </a:solidFill>
                <a:latin typeface="72 Bold" pitchFamily="34" charset="0"/>
                <a:ea typeface="72 Bold" pitchFamily="34" charset="-122"/>
                <a:cs typeface="72 Bold" pitchFamily="34" charset="-120"/>
              </a:rPr>
              <a:t>Subaccount</a:t>
            </a:r>
            <a:endParaRPr lang="en-US" sz="900" dirty="0">
              <a:solidFill>
                <a:srgbClr val="354A5F"/>
              </a:solidFill>
            </a:endParaRPr>
          </a:p>
        </p:txBody>
      </p:sp>
      <p:sp>
        <p:nvSpPr>
          <p:cNvPr id="8" name="Text 29">
            <a:extLst>
              <a:ext uri="{FF2B5EF4-FFF2-40B4-BE49-F238E27FC236}">
                <a16:creationId xmlns:a16="http://schemas.microsoft.com/office/drawing/2014/main" id="{5322F152-7261-2970-A310-CDF8E42802BE}"/>
              </a:ext>
            </a:extLst>
          </p:cNvPr>
          <p:cNvSpPr/>
          <p:nvPr/>
        </p:nvSpPr>
        <p:spPr>
          <a:xfrm>
            <a:off x="2579238" y="1899901"/>
            <a:ext cx="739609" cy="153113"/>
          </a:xfrm>
          <a:prstGeom prst="rect">
            <a:avLst/>
          </a:prstGeom>
          <a:noFill/>
          <a:ln/>
        </p:spPr>
        <p:txBody>
          <a:bodyPr wrap="square" lIns="0" tIns="0" rIns="0" bIns="0" rtlCol="0" anchor="t"/>
          <a:lstStyle/>
          <a:p>
            <a:pPr marL="0" indent="0" algn="l">
              <a:buNone/>
            </a:pPr>
            <a:r>
              <a:rPr lang="en-US" sz="800" dirty="0">
                <a:solidFill>
                  <a:srgbClr val="1D2D3E"/>
                </a:solidFill>
                <a:latin typeface="72" panose="020B0503030000000003" pitchFamily="34" charset="0"/>
                <a:ea typeface="72 Semibold" pitchFamily="34" charset="-122"/>
                <a:cs typeface="72" panose="020B0503030000000003" pitchFamily="34" charset="0"/>
              </a:rPr>
              <a:t>Multi-Cloud</a:t>
            </a:r>
            <a:endParaRPr lang="en-US" sz="800" dirty="0">
              <a:solidFill>
                <a:srgbClr val="1D2D3E"/>
              </a:solidFill>
              <a:latin typeface="72" panose="020B0503030000000003" pitchFamily="34" charset="0"/>
              <a:cs typeface="72" panose="020B0503030000000003" pitchFamily="34" charset="0"/>
            </a:endParaRPr>
          </a:p>
        </p:txBody>
      </p:sp>
      <p:sp>
        <p:nvSpPr>
          <p:cNvPr id="21" name="Rounded Rectangle 20">
            <a:extLst>
              <a:ext uri="{FF2B5EF4-FFF2-40B4-BE49-F238E27FC236}">
                <a16:creationId xmlns:a16="http://schemas.microsoft.com/office/drawing/2014/main" id="{8D5E03DA-3A0F-CA9A-4AC1-6777031A306A}"/>
              </a:ext>
            </a:extLst>
          </p:cNvPr>
          <p:cNvSpPr/>
          <p:nvPr/>
        </p:nvSpPr>
        <p:spPr>
          <a:xfrm>
            <a:off x="2450946" y="5112339"/>
            <a:ext cx="1548697" cy="969789"/>
          </a:xfrm>
          <a:prstGeom prst="roundRect">
            <a:avLst>
              <a:gd name="adj" fmla="val 6525"/>
            </a:avLst>
          </a:prstGeom>
          <a:solidFill>
            <a:schemeClr val="bg1"/>
          </a:solidFill>
          <a:ln w="19050">
            <a:solidFill>
              <a:srgbClr val="0070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00"/>
            <a:endParaRPr lang="en-DE" sz="1100" dirty="0">
              <a:solidFill>
                <a:srgbClr val="FFFFFF"/>
              </a:solidFill>
              <a:latin typeface="72" panose="020B0503030000000003" pitchFamily="34" charset="0"/>
              <a:cs typeface="72" panose="020B0503030000000003" pitchFamily="34" charset="0"/>
            </a:endParaRPr>
          </a:p>
        </p:txBody>
      </p:sp>
      <p:sp>
        <p:nvSpPr>
          <p:cNvPr id="26" name="Text 36">
            <a:extLst>
              <a:ext uri="{FF2B5EF4-FFF2-40B4-BE49-F238E27FC236}">
                <a16:creationId xmlns:a16="http://schemas.microsoft.com/office/drawing/2014/main" id="{3A2FD2D5-5FB5-35BF-380D-846F6D8FAA33}"/>
              </a:ext>
            </a:extLst>
          </p:cNvPr>
          <p:cNvSpPr/>
          <p:nvPr/>
        </p:nvSpPr>
        <p:spPr>
          <a:xfrm>
            <a:off x="7984907" y="1310343"/>
            <a:ext cx="823422" cy="228600"/>
          </a:xfrm>
          <a:prstGeom prst="rect">
            <a:avLst/>
          </a:prstGeom>
          <a:noFill/>
          <a:ln/>
        </p:spPr>
        <p:txBody>
          <a:bodyPr wrap="square" lIns="0" tIns="0" rIns="0" bIns="0" rtlCol="0" anchor="t"/>
          <a:lstStyle/>
          <a:p>
            <a:pPr>
              <a:lnSpc>
                <a:spcPts val="1400"/>
              </a:lnSpc>
            </a:pPr>
            <a:r>
              <a:rPr lang="en-US" sz="700" dirty="0">
                <a:solidFill>
                  <a:srgbClr val="475E75"/>
                </a:solidFill>
                <a:latin typeface="72" panose="020B0503030000000003" pitchFamily="34" charset="0"/>
                <a:ea typeface="72 Black" pitchFamily="34" charset="-122"/>
                <a:cs typeface="72" panose="020B0503030000000003" pitchFamily="34" charset="0"/>
              </a:rPr>
              <a:t>NETWORK</a:t>
            </a:r>
            <a:endParaRPr lang="en-US" sz="700" dirty="0">
              <a:solidFill>
                <a:srgbClr val="475E75"/>
              </a:solidFill>
              <a:latin typeface="72" panose="020B0503030000000003" pitchFamily="34" charset="0"/>
              <a:cs typeface="72" panose="020B0503030000000003" pitchFamily="34" charset="0"/>
            </a:endParaRPr>
          </a:p>
        </p:txBody>
      </p:sp>
      <p:pic>
        <p:nvPicPr>
          <p:cNvPr id="28" name="Graphic 27">
            <a:extLst>
              <a:ext uri="{FF2B5EF4-FFF2-40B4-BE49-F238E27FC236}">
                <a16:creationId xmlns:a16="http://schemas.microsoft.com/office/drawing/2014/main" id="{B620831B-C9F7-6FE3-6BE5-4472165DBC5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006393" y="5228673"/>
            <a:ext cx="417600" cy="417600"/>
          </a:xfrm>
          <a:prstGeom prst="rect">
            <a:avLst/>
          </a:prstGeom>
        </p:spPr>
      </p:pic>
      <p:sp>
        <p:nvSpPr>
          <p:cNvPr id="29" name="Text 26">
            <a:extLst>
              <a:ext uri="{FF2B5EF4-FFF2-40B4-BE49-F238E27FC236}">
                <a16:creationId xmlns:a16="http://schemas.microsoft.com/office/drawing/2014/main" id="{C537CF2D-B0CD-B2A7-86AD-1263F3F374E8}"/>
              </a:ext>
            </a:extLst>
          </p:cNvPr>
          <p:cNvSpPr/>
          <p:nvPr/>
        </p:nvSpPr>
        <p:spPr>
          <a:xfrm>
            <a:off x="2578539" y="5730683"/>
            <a:ext cx="127451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SAP Cloud Identity Service</a:t>
            </a:r>
            <a:endParaRPr lang="en-US" sz="900" dirty="0">
              <a:solidFill>
                <a:srgbClr val="1D2D3E"/>
              </a:solidFill>
            </a:endParaRPr>
          </a:p>
        </p:txBody>
      </p:sp>
      <p:cxnSp>
        <p:nvCxnSpPr>
          <p:cNvPr id="70" name="Straight Arrow Connector 69">
            <a:extLst>
              <a:ext uri="{FF2B5EF4-FFF2-40B4-BE49-F238E27FC236}">
                <a16:creationId xmlns:a16="http://schemas.microsoft.com/office/drawing/2014/main" id="{EF6C6B20-6D02-58B4-F80D-18655FC953AE}"/>
              </a:ext>
            </a:extLst>
          </p:cNvPr>
          <p:cNvCxnSpPr>
            <a:cxnSpLocks/>
            <a:endCxn id="141" idx="1"/>
          </p:cNvCxnSpPr>
          <p:nvPr/>
        </p:nvCxnSpPr>
        <p:spPr>
          <a:xfrm flipH="1">
            <a:off x="1651652" y="5882173"/>
            <a:ext cx="808723" cy="0"/>
          </a:xfrm>
          <a:prstGeom prst="straightConnector1">
            <a:avLst/>
          </a:prstGeom>
          <a:ln w="19050">
            <a:solidFill>
              <a:srgbClr val="354A5F"/>
            </a:solidFill>
            <a:prstDash val="dash"/>
            <a:headEnd w="sm" len="sm"/>
            <a:tailEnd type="none" w="med" len="lg"/>
          </a:ln>
        </p:spPr>
        <p:style>
          <a:lnRef idx="1">
            <a:schemeClr val="accent1"/>
          </a:lnRef>
          <a:fillRef idx="0">
            <a:schemeClr val="accent1"/>
          </a:fillRef>
          <a:effectRef idx="0">
            <a:schemeClr val="accent1"/>
          </a:effectRef>
          <a:fontRef idx="minor">
            <a:schemeClr val="tx1"/>
          </a:fontRef>
        </p:style>
      </p:cxnSp>
      <p:pic>
        <p:nvPicPr>
          <p:cNvPr id="5" name="Graphic 4">
            <a:extLst>
              <a:ext uri="{FF2B5EF4-FFF2-40B4-BE49-F238E27FC236}">
                <a16:creationId xmlns:a16="http://schemas.microsoft.com/office/drawing/2014/main" id="{B49B8BBD-2672-637B-42AF-AAC5364AB52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460375" y="1311609"/>
            <a:ext cx="551797" cy="153277"/>
          </a:xfrm>
          <a:prstGeom prst="rect">
            <a:avLst/>
          </a:prstGeom>
        </p:spPr>
      </p:pic>
      <p:cxnSp>
        <p:nvCxnSpPr>
          <p:cNvPr id="170" name="Elbow Connector 169">
            <a:extLst>
              <a:ext uri="{FF2B5EF4-FFF2-40B4-BE49-F238E27FC236}">
                <a16:creationId xmlns:a16="http://schemas.microsoft.com/office/drawing/2014/main" id="{5F4879FB-3FDA-CFEF-2633-9A8A9B0B1D09}"/>
              </a:ext>
            </a:extLst>
          </p:cNvPr>
          <p:cNvCxnSpPr>
            <a:cxnSpLocks/>
            <a:stCxn id="21" idx="3"/>
            <a:endCxn id="23" idx="2"/>
          </p:cNvCxnSpPr>
          <p:nvPr/>
        </p:nvCxnSpPr>
        <p:spPr>
          <a:xfrm flipV="1">
            <a:off x="3999643" y="4807390"/>
            <a:ext cx="5965687" cy="789844"/>
          </a:xfrm>
          <a:prstGeom prst="bentConnector2">
            <a:avLst/>
          </a:prstGeom>
          <a:ln w="19050" cap="rnd">
            <a:solidFill>
              <a:srgbClr val="188918"/>
            </a:solidFill>
            <a:round/>
            <a:headEnd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4" name="Rounded Rectangle 19">
            <a:extLst>
              <a:ext uri="{FF2B5EF4-FFF2-40B4-BE49-F238E27FC236}">
                <a16:creationId xmlns:a16="http://schemas.microsoft.com/office/drawing/2014/main" id="{3096D667-A88A-ED4F-DF30-9DC6660E1A29}"/>
              </a:ext>
            </a:extLst>
          </p:cNvPr>
          <p:cNvSpPr/>
          <p:nvPr/>
        </p:nvSpPr>
        <p:spPr>
          <a:xfrm>
            <a:off x="2660514" y="2447129"/>
            <a:ext cx="2394124" cy="1047273"/>
          </a:xfrm>
          <a:prstGeom prst="roundRect">
            <a:avLst>
              <a:gd name="adj" fmla="val 7872"/>
            </a:avLst>
          </a:prstGeom>
          <a:solidFill>
            <a:schemeClr val="bg1"/>
          </a:solidFill>
          <a:ln w="12700">
            <a:solidFill>
              <a:srgbClr val="0070F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3" name="Graphic 12">
            <a:extLst>
              <a:ext uri="{FF2B5EF4-FFF2-40B4-BE49-F238E27FC236}">
                <a16:creationId xmlns:a16="http://schemas.microsoft.com/office/drawing/2014/main" id="{97D366B4-A10D-DB60-47B4-A95C1F1C823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28184" y="2763894"/>
            <a:ext cx="417600" cy="417600"/>
          </a:xfrm>
          <a:prstGeom prst="rect">
            <a:avLst/>
          </a:prstGeom>
        </p:spPr>
      </p:pic>
      <p:sp>
        <p:nvSpPr>
          <p:cNvPr id="14" name="Text 26">
            <a:extLst>
              <a:ext uri="{FF2B5EF4-FFF2-40B4-BE49-F238E27FC236}">
                <a16:creationId xmlns:a16="http://schemas.microsoft.com/office/drawing/2014/main" id="{B6FBBBA6-D200-928D-67EC-A9A299E26D94}"/>
              </a:ext>
            </a:extLst>
          </p:cNvPr>
          <p:cNvSpPr/>
          <p:nvPr/>
        </p:nvSpPr>
        <p:spPr>
          <a:xfrm>
            <a:off x="5270129" y="3254345"/>
            <a:ext cx="127451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Destination</a:t>
            </a:r>
            <a:endParaRPr lang="en-US" sz="900" dirty="0">
              <a:solidFill>
                <a:srgbClr val="1D2D3E"/>
              </a:solidFill>
            </a:endParaRPr>
          </a:p>
        </p:txBody>
      </p:sp>
      <p:cxnSp>
        <p:nvCxnSpPr>
          <p:cNvPr id="18" name="Straight Arrow Connector 17">
            <a:extLst>
              <a:ext uri="{FF2B5EF4-FFF2-40B4-BE49-F238E27FC236}">
                <a16:creationId xmlns:a16="http://schemas.microsoft.com/office/drawing/2014/main" id="{2D576AE8-14F6-CDA3-AA6D-26CC140130BE}"/>
              </a:ext>
            </a:extLst>
          </p:cNvPr>
          <p:cNvCxnSpPr>
            <a:cxnSpLocks/>
            <a:stCxn id="74" idx="3"/>
            <a:endCxn id="13" idx="1"/>
          </p:cNvCxnSpPr>
          <p:nvPr/>
        </p:nvCxnSpPr>
        <p:spPr>
          <a:xfrm>
            <a:off x="5054638" y="2970766"/>
            <a:ext cx="673546" cy="1928"/>
          </a:xfrm>
          <a:prstGeom prst="straightConnector1">
            <a:avLst/>
          </a:prstGeom>
          <a:ln w="19050">
            <a:solidFill>
              <a:srgbClr val="354A5F"/>
            </a:solidFill>
            <a:headEnd w="med" len="med"/>
            <a:tailEnd type="triangle" w="sm" len="med"/>
          </a:ln>
        </p:spPr>
        <p:style>
          <a:lnRef idx="1">
            <a:schemeClr val="accent1"/>
          </a:lnRef>
          <a:fillRef idx="0">
            <a:schemeClr val="accent1"/>
          </a:fillRef>
          <a:effectRef idx="0">
            <a:schemeClr val="accent1"/>
          </a:effectRef>
          <a:fontRef idx="minor">
            <a:schemeClr val="tx1"/>
          </a:fontRef>
        </p:style>
      </p:cxnSp>
      <p:grpSp>
        <p:nvGrpSpPr>
          <p:cNvPr id="204" name="Gruppieren 203">
            <a:extLst>
              <a:ext uri="{FF2B5EF4-FFF2-40B4-BE49-F238E27FC236}">
                <a16:creationId xmlns:a16="http://schemas.microsoft.com/office/drawing/2014/main" id="{BCA908F9-0E40-978B-609D-E2E044601605}"/>
              </a:ext>
            </a:extLst>
          </p:cNvPr>
          <p:cNvGrpSpPr/>
          <p:nvPr/>
        </p:nvGrpSpPr>
        <p:grpSpPr>
          <a:xfrm>
            <a:off x="2412345" y="2535923"/>
            <a:ext cx="1274516" cy="721572"/>
            <a:chOff x="2412343" y="2499711"/>
            <a:chExt cx="1274516" cy="721572"/>
          </a:xfrm>
        </p:grpSpPr>
        <p:sp>
          <p:nvSpPr>
            <p:cNvPr id="11" name="Text 26">
              <a:extLst>
                <a:ext uri="{FF2B5EF4-FFF2-40B4-BE49-F238E27FC236}">
                  <a16:creationId xmlns:a16="http://schemas.microsoft.com/office/drawing/2014/main" id="{623920D6-7F2B-F290-003C-08B86807CBD7}"/>
                </a:ext>
              </a:extLst>
            </p:cNvPr>
            <p:cNvSpPr/>
            <p:nvPr/>
          </p:nvSpPr>
          <p:spPr>
            <a:xfrm>
              <a:off x="2412343" y="2988030"/>
              <a:ext cx="127451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SAP Build</a:t>
              </a:r>
            </a:p>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Work Zone</a:t>
              </a:r>
            </a:p>
          </p:txBody>
        </p:sp>
        <p:pic>
          <p:nvPicPr>
            <p:cNvPr id="73" name="Picture 72">
              <a:extLst>
                <a:ext uri="{FF2B5EF4-FFF2-40B4-BE49-F238E27FC236}">
                  <a16:creationId xmlns:a16="http://schemas.microsoft.com/office/drawing/2014/main" id="{F52C34F8-B752-EB25-DD4E-32B1049B67EB}"/>
                </a:ext>
              </a:extLst>
            </p:cNvPr>
            <p:cNvPicPr>
              <a:picLocks noChangeAspect="1"/>
            </p:cNvPicPr>
            <p:nvPr/>
          </p:nvPicPr>
          <p:blipFill>
            <a:blip r:embed="rId8"/>
            <a:stretch>
              <a:fillRect/>
            </a:stretch>
          </p:blipFill>
          <p:spPr>
            <a:xfrm>
              <a:off x="2849603" y="2499711"/>
              <a:ext cx="418390" cy="418390"/>
            </a:xfrm>
            <a:prstGeom prst="rect">
              <a:avLst/>
            </a:prstGeom>
          </p:spPr>
        </p:pic>
      </p:grpSp>
      <p:grpSp>
        <p:nvGrpSpPr>
          <p:cNvPr id="105" name="Group 37">
            <a:extLst>
              <a:ext uri="{FF2B5EF4-FFF2-40B4-BE49-F238E27FC236}">
                <a16:creationId xmlns:a16="http://schemas.microsoft.com/office/drawing/2014/main" id="{B9B61E2D-D83C-759D-4543-9B795D84AAC9}"/>
              </a:ext>
            </a:extLst>
          </p:cNvPr>
          <p:cNvGrpSpPr/>
          <p:nvPr/>
        </p:nvGrpSpPr>
        <p:grpSpPr>
          <a:xfrm>
            <a:off x="3322523" y="2546096"/>
            <a:ext cx="1059476" cy="749461"/>
            <a:chOff x="3208800" y="2400569"/>
            <a:chExt cx="1059476" cy="749461"/>
          </a:xfrm>
        </p:grpSpPr>
        <p:pic>
          <p:nvPicPr>
            <p:cNvPr id="106" name="Picture 32">
              <a:extLst>
                <a:ext uri="{FF2B5EF4-FFF2-40B4-BE49-F238E27FC236}">
                  <a16:creationId xmlns:a16="http://schemas.microsoft.com/office/drawing/2014/main" id="{C3EB7EAE-B6EC-FB09-B81F-812BA2C0B522}"/>
                </a:ext>
              </a:extLst>
            </p:cNvPr>
            <p:cNvPicPr>
              <a:picLocks noChangeAspect="1"/>
            </p:cNvPicPr>
            <p:nvPr/>
          </p:nvPicPr>
          <p:blipFill>
            <a:blip r:embed="rId9"/>
            <a:stretch>
              <a:fillRect/>
            </a:stretch>
          </p:blipFill>
          <p:spPr>
            <a:xfrm>
              <a:off x="3530544" y="2400569"/>
              <a:ext cx="417600" cy="417600"/>
            </a:xfrm>
            <a:prstGeom prst="rect">
              <a:avLst/>
            </a:prstGeom>
          </p:spPr>
        </p:pic>
        <p:sp>
          <p:nvSpPr>
            <p:cNvPr id="107" name="Text 26">
              <a:extLst>
                <a:ext uri="{FF2B5EF4-FFF2-40B4-BE49-F238E27FC236}">
                  <a16:creationId xmlns:a16="http://schemas.microsoft.com/office/drawing/2014/main" id="{34B8E62A-957A-1F59-8183-692E0671F054}"/>
                </a:ext>
              </a:extLst>
            </p:cNvPr>
            <p:cNvSpPr/>
            <p:nvPr/>
          </p:nvSpPr>
          <p:spPr>
            <a:xfrm>
              <a:off x="3208800" y="2916777"/>
              <a:ext cx="105947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SAP Build </a:t>
              </a:r>
              <a:br>
                <a:rPr lang="en-US" sz="900" dirty="0">
                  <a:solidFill>
                    <a:srgbClr val="1D2D3E"/>
                  </a:solidFill>
                  <a:latin typeface="72 Bold" pitchFamily="34" charset="0"/>
                  <a:ea typeface="72 Bold" pitchFamily="34" charset="-122"/>
                  <a:cs typeface="72 Bold" pitchFamily="34" charset="-120"/>
                </a:rPr>
              </a:br>
              <a:r>
                <a:rPr lang="en-US" sz="900" dirty="0">
                  <a:solidFill>
                    <a:srgbClr val="1D2D3E"/>
                  </a:solidFill>
                  <a:latin typeface="72 Bold" pitchFamily="34" charset="0"/>
                  <a:ea typeface="72 Bold" pitchFamily="34" charset="-122"/>
                  <a:cs typeface="72 Bold" pitchFamily="34" charset="-120"/>
                </a:rPr>
                <a:t>Apps</a:t>
              </a:r>
              <a:endParaRPr lang="en-US" sz="900" dirty="0">
                <a:solidFill>
                  <a:srgbClr val="1D2D3E"/>
                </a:solidFill>
              </a:endParaRPr>
            </a:p>
          </p:txBody>
        </p:sp>
      </p:grpSp>
      <p:cxnSp>
        <p:nvCxnSpPr>
          <p:cNvPr id="110" name="Straight Arrow Connector 17">
            <a:extLst>
              <a:ext uri="{FF2B5EF4-FFF2-40B4-BE49-F238E27FC236}">
                <a16:creationId xmlns:a16="http://schemas.microsoft.com/office/drawing/2014/main" id="{3C9B35B1-4398-429B-35C1-A02C41797B94}"/>
              </a:ext>
            </a:extLst>
          </p:cNvPr>
          <p:cNvCxnSpPr>
            <a:cxnSpLocks/>
            <a:stCxn id="13" idx="3"/>
            <a:endCxn id="23" idx="1"/>
          </p:cNvCxnSpPr>
          <p:nvPr/>
        </p:nvCxnSpPr>
        <p:spPr>
          <a:xfrm>
            <a:off x="6145784" y="2972694"/>
            <a:ext cx="2662545" cy="1133"/>
          </a:xfrm>
          <a:prstGeom prst="straightConnector1">
            <a:avLst/>
          </a:prstGeom>
          <a:ln w="19050">
            <a:solidFill>
              <a:srgbClr val="354A5F"/>
            </a:solidFill>
            <a:headEnd w="med" len="med"/>
            <a:tailEnd type="triangle" w="sm" len="med"/>
          </a:ln>
        </p:spPr>
        <p:style>
          <a:lnRef idx="1">
            <a:schemeClr val="accent1"/>
          </a:lnRef>
          <a:fillRef idx="0">
            <a:schemeClr val="accent1"/>
          </a:fillRef>
          <a:effectRef idx="0">
            <a:schemeClr val="accent1"/>
          </a:effectRef>
          <a:fontRef idx="minor">
            <a:schemeClr val="tx1"/>
          </a:fontRef>
        </p:style>
      </p:cxnSp>
      <p:sp>
        <p:nvSpPr>
          <p:cNvPr id="113" name="Text 29">
            <a:extLst>
              <a:ext uri="{FF2B5EF4-FFF2-40B4-BE49-F238E27FC236}">
                <a16:creationId xmlns:a16="http://schemas.microsoft.com/office/drawing/2014/main" id="{BC6422A3-4F77-7EFA-7A14-538C603EB3AE}"/>
              </a:ext>
            </a:extLst>
          </p:cNvPr>
          <p:cNvSpPr/>
          <p:nvPr/>
        </p:nvSpPr>
        <p:spPr>
          <a:xfrm>
            <a:off x="9035714" y="1831612"/>
            <a:ext cx="739609" cy="176014"/>
          </a:xfrm>
          <a:prstGeom prst="rect">
            <a:avLst/>
          </a:prstGeom>
          <a:noFill/>
          <a:ln/>
        </p:spPr>
        <p:txBody>
          <a:bodyPr wrap="square" lIns="0" tIns="0" rIns="0" bIns="0" rtlCol="0" anchor="t"/>
          <a:lstStyle/>
          <a:p>
            <a:pPr marL="0" indent="0" algn="l">
              <a:buNone/>
            </a:pPr>
            <a:r>
              <a:rPr lang="en-US" sz="1000" dirty="0">
                <a:solidFill>
                  <a:srgbClr val="1D2D3E"/>
                </a:solidFill>
                <a:latin typeface="72" panose="020B0503030000000003" pitchFamily="34" charset="0"/>
                <a:cs typeface="72" panose="020B0503030000000003" pitchFamily="34" charset="0"/>
              </a:rPr>
              <a:t>Sales Order</a:t>
            </a:r>
          </a:p>
        </p:txBody>
      </p:sp>
      <p:sp>
        <p:nvSpPr>
          <p:cNvPr id="114" name="Text 29">
            <a:extLst>
              <a:ext uri="{FF2B5EF4-FFF2-40B4-BE49-F238E27FC236}">
                <a16:creationId xmlns:a16="http://schemas.microsoft.com/office/drawing/2014/main" id="{101319B1-7B5B-DE97-6547-1DD896343AD5}"/>
              </a:ext>
            </a:extLst>
          </p:cNvPr>
          <p:cNvSpPr/>
          <p:nvPr/>
        </p:nvSpPr>
        <p:spPr>
          <a:xfrm>
            <a:off x="9015586" y="2279587"/>
            <a:ext cx="942943" cy="153113"/>
          </a:xfrm>
          <a:prstGeom prst="rect">
            <a:avLst/>
          </a:prstGeom>
          <a:noFill/>
          <a:ln/>
        </p:spPr>
        <p:txBody>
          <a:bodyPr wrap="square" lIns="0" tIns="0" rIns="0" bIns="0" rtlCol="0" anchor="t"/>
          <a:lstStyle/>
          <a:p>
            <a:pPr marL="0" indent="0" algn="l">
              <a:buNone/>
            </a:pPr>
            <a:r>
              <a:rPr lang="en-US" sz="1000" dirty="0">
                <a:solidFill>
                  <a:srgbClr val="1D2D3E"/>
                </a:solidFill>
                <a:latin typeface="72" panose="020B0503030000000003" pitchFamily="34" charset="0"/>
                <a:cs typeface="72" panose="020B0503030000000003" pitchFamily="34" charset="0"/>
              </a:rPr>
              <a:t>Business Partner</a:t>
            </a:r>
          </a:p>
        </p:txBody>
      </p:sp>
      <p:grpSp>
        <p:nvGrpSpPr>
          <p:cNvPr id="115" name="Group 43">
            <a:extLst>
              <a:ext uri="{FF2B5EF4-FFF2-40B4-BE49-F238E27FC236}">
                <a16:creationId xmlns:a16="http://schemas.microsoft.com/office/drawing/2014/main" id="{6AB4857E-E206-20D5-BF82-E88400C6C564}"/>
              </a:ext>
            </a:extLst>
          </p:cNvPr>
          <p:cNvGrpSpPr/>
          <p:nvPr/>
        </p:nvGrpSpPr>
        <p:grpSpPr>
          <a:xfrm>
            <a:off x="4133791" y="2528319"/>
            <a:ext cx="1059476" cy="773708"/>
            <a:chOff x="5894336" y="2400569"/>
            <a:chExt cx="1059476" cy="773708"/>
          </a:xfrm>
        </p:grpSpPr>
        <p:pic>
          <p:nvPicPr>
            <p:cNvPr id="116" name="Picture 23">
              <a:extLst>
                <a:ext uri="{FF2B5EF4-FFF2-40B4-BE49-F238E27FC236}">
                  <a16:creationId xmlns:a16="http://schemas.microsoft.com/office/drawing/2014/main" id="{27F3AC06-80AA-20EC-649D-814869CE79A0}"/>
                </a:ext>
              </a:extLst>
            </p:cNvPr>
            <p:cNvPicPr>
              <a:picLocks noChangeAspect="1"/>
            </p:cNvPicPr>
            <p:nvPr/>
          </p:nvPicPr>
          <p:blipFill>
            <a:blip r:embed="rId10"/>
            <a:stretch>
              <a:fillRect/>
            </a:stretch>
          </p:blipFill>
          <p:spPr>
            <a:xfrm>
              <a:off x="6216886" y="2400569"/>
              <a:ext cx="417600" cy="417600"/>
            </a:xfrm>
            <a:prstGeom prst="rect">
              <a:avLst/>
            </a:prstGeom>
          </p:spPr>
        </p:pic>
        <p:sp>
          <p:nvSpPr>
            <p:cNvPr id="117" name="Text 26">
              <a:extLst>
                <a:ext uri="{FF2B5EF4-FFF2-40B4-BE49-F238E27FC236}">
                  <a16:creationId xmlns:a16="http://schemas.microsoft.com/office/drawing/2014/main" id="{3B50FF3A-F7C4-7CF5-4B4B-AAFEDB32AB6C}"/>
                </a:ext>
              </a:extLst>
            </p:cNvPr>
            <p:cNvSpPr/>
            <p:nvPr/>
          </p:nvSpPr>
          <p:spPr>
            <a:xfrm>
              <a:off x="5894336" y="2941024"/>
              <a:ext cx="105947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SAP Build</a:t>
              </a:r>
            </a:p>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Process Automation</a:t>
              </a:r>
            </a:p>
          </p:txBody>
        </p:sp>
      </p:grpSp>
      <p:grpSp>
        <p:nvGrpSpPr>
          <p:cNvPr id="220" name="Group 219">
            <a:extLst>
              <a:ext uri="{FF2B5EF4-FFF2-40B4-BE49-F238E27FC236}">
                <a16:creationId xmlns:a16="http://schemas.microsoft.com/office/drawing/2014/main" id="{94B33E0E-BC0A-FC40-D5A9-1E1F5F4EE97B}"/>
              </a:ext>
            </a:extLst>
          </p:cNvPr>
          <p:cNvGrpSpPr/>
          <p:nvPr/>
        </p:nvGrpSpPr>
        <p:grpSpPr>
          <a:xfrm>
            <a:off x="9452867" y="5867529"/>
            <a:ext cx="1428800" cy="842799"/>
            <a:chOff x="1975412" y="5009002"/>
            <a:chExt cx="1428800" cy="842799"/>
          </a:xfrm>
        </p:grpSpPr>
        <p:sp>
          <p:nvSpPr>
            <p:cNvPr id="210" name="Rectangle 209">
              <a:extLst>
                <a:ext uri="{FF2B5EF4-FFF2-40B4-BE49-F238E27FC236}">
                  <a16:creationId xmlns:a16="http://schemas.microsoft.com/office/drawing/2014/main" id="{BD43829C-0F2E-E2E2-A131-B9D106288C43}"/>
                </a:ext>
              </a:extLst>
            </p:cNvPr>
            <p:cNvSpPr/>
            <p:nvPr/>
          </p:nvSpPr>
          <p:spPr bwMode="gray">
            <a:xfrm>
              <a:off x="1975412" y="5009002"/>
              <a:ext cx="1428800" cy="842799"/>
            </a:xfrm>
            <a:prstGeom prst="rect">
              <a:avLst/>
            </a:prstGeom>
            <a:solidFill>
              <a:srgbClr val="F5F6F8"/>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8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212" name="Text 29">
              <a:extLst>
                <a:ext uri="{FF2B5EF4-FFF2-40B4-BE49-F238E27FC236}">
                  <a16:creationId xmlns:a16="http://schemas.microsoft.com/office/drawing/2014/main" id="{62075755-B623-5BEB-FD98-6BCC3DA274BC}"/>
                </a:ext>
              </a:extLst>
            </p:cNvPr>
            <p:cNvSpPr/>
            <p:nvPr/>
          </p:nvSpPr>
          <p:spPr>
            <a:xfrm>
              <a:off x="2059443" y="5071708"/>
              <a:ext cx="588600" cy="120909"/>
            </a:xfrm>
            <a:prstGeom prst="rect">
              <a:avLst/>
            </a:prstGeom>
            <a:noFill/>
            <a:ln/>
          </p:spPr>
          <p:txBody>
            <a:bodyPr wrap="square" lIns="0" tIns="0" rIns="0" bIns="0" rtlCol="0" anchor="t"/>
            <a:lstStyle/>
            <a:p>
              <a:pPr marL="0" indent="0" algn="l">
                <a:buNone/>
              </a:pPr>
              <a:r>
                <a:rPr lang="en-US" sz="800" dirty="0">
                  <a:solidFill>
                    <a:srgbClr val="1D2D3E"/>
                  </a:solidFill>
                  <a:latin typeface="72 Semibold" pitchFamily="34" charset="0"/>
                  <a:ea typeface="72 Semibold" pitchFamily="34" charset="-122"/>
                  <a:cs typeface="72 Semibold" pitchFamily="34" charset="-120"/>
                </a:rPr>
                <a:t>Legend</a:t>
              </a:r>
              <a:endParaRPr lang="en-US" sz="800" dirty="0">
                <a:solidFill>
                  <a:srgbClr val="1D2D3E"/>
                </a:solidFill>
              </a:endParaRPr>
            </a:p>
          </p:txBody>
        </p:sp>
        <p:sp>
          <p:nvSpPr>
            <p:cNvPr id="213" name="Text 32">
              <a:extLst>
                <a:ext uri="{FF2B5EF4-FFF2-40B4-BE49-F238E27FC236}">
                  <a16:creationId xmlns:a16="http://schemas.microsoft.com/office/drawing/2014/main" id="{CF2C2ACF-2330-AFA6-1661-6A9448BDF8DD}"/>
                </a:ext>
              </a:extLst>
            </p:cNvPr>
            <p:cNvSpPr/>
            <p:nvPr/>
          </p:nvSpPr>
          <p:spPr>
            <a:xfrm>
              <a:off x="2494963" y="5369946"/>
              <a:ext cx="868854" cy="120909"/>
            </a:xfrm>
            <a:prstGeom prst="rect">
              <a:avLst/>
            </a:prstGeom>
            <a:noFill/>
            <a:ln/>
          </p:spPr>
          <p:txBody>
            <a:bodyPr wrap="square" lIns="0" tIns="0" rIns="0" bIns="0" rtlCol="0" anchor="t"/>
            <a:lstStyle/>
            <a:p>
              <a:pPr marL="0" indent="0" algn="l">
                <a:buNone/>
              </a:pPr>
              <a:r>
                <a:rPr lang="en-US" sz="700" dirty="0">
                  <a:solidFill>
                    <a:srgbClr val="5B738B">
                      <a:alpha val="100000"/>
                    </a:srgbClr>
                  </a:solidFill>
                  <a:latin typeface="72 Semibold" pitchFamily="34" charset="0"/>
                  <a:ea typeface="72 Semibold" pitchFamily="34" charset="-122"/>
                  <a:cs typeface="72 Semibold" pitchFamily="34" charset="-120"/>
                </a:rPr>
                <a:t>Request - Response</a:t>
              </a:r>
              <a:endParaRPr lang="en-US" sz="700" dirty="0"/>
            </a:p>
          </p:txBody>
        </p:sp>
        <p:cxnSp>
          <p:nvCxnSpPr>
            <p:cNvPr id="215" name="Straight Arrow Connector 214">
              <a:extLst>
                <a:ext uri="{FF2B5EF4-FFF2-40B4-BE49-F238E27FC236}">
                  <a16:creationId xmlns:a16="http://schemas.microsoft.com/office/drawing/2014/main" id="{766FF6FA-0777-7DC9-DD7C-79CAE11B7797}"/>
                </a:ext>
              </a:extLst>
            </p:cNvPr>
            <p:cNvCxnSpPr>
              <a:cxnSpLocks/>
            </p:cNvCxnSpPr>
            <p:nvPr/>
          </p:nvCxnSpPr>
          <p:spPr>
            <a:xfrm>
              <a:off x="2058899" y="5434206"/>
              <a:ext cx="352577" cy="0"/>
            </a:xfrm>
            <a:prstGeom prst="straightConnector1">
              <a:avLst/>
            </a:prstGeom>
            <a:ln w="19050">
              <a:solidFill>
                <a:srgbClr val="354A5F"/>
              </a:solidFill>
              <a:headEnd w="sm" len="sm"/>
              <a:tailEnd type="triangle" w="sm" len="sm"/>
            </a:ln>
          </p:spPr>
          <p:style>
            <a:lnRef idx="1">
              <a:schemeClr val="accent1"/>
            </a:lnRef>
            <a:fillRef idx="0">
              <a:schemeClr val="accent1"/>
            </a:fillRef>
            <a:effectRef idx="0">
              <a:schemeClr val="accent1"/>
            </a:effectRef>
            <a:fontRef idx="minor">
              <a:schemeClr val="tx1"/>
            </a:fontRef>
          </p:style>
        </p:cxnSp>
        <p:cxnSp>
          <p:nvCxnSpPr>
            <p:cNvPr id="216" name="Straight Arrow Connector 215">
              <a:extLst>
                <a:ext uri="{FF2B5EF4-FFF2-40B4-BE49-F238E27FC236}">
                  <a16:creationId xmlns:a16="http://schemas.microsoft.com/office/drawing/2014/main" id="{8FDF773A-902B-F851-9D05-9C2DC103EA1E}"/>
                </a:ext>
              </a:extLst>
            </p:cNvPr>
            <p:cNvCxnSpPr>
              <a:cxnSpLocks/>
            </p:cNvCxnSpPr>
            <p:nvPr/>
          </p:nvCxnSpPr>
          <p:spPr>
            <a:xfrm>
              <a:off x="2063989" y="5588530"/>
              <a:ext cx="347487" cy="0"/>
            </a:xfrm>
            <a:prstGeom prst="straightConnector1">
              <a:avLst/>
            </a:prstGeom>
            <a:ln w="19050">
              <a:solidFill>
                <a:srgbClr val="188918"/>
              </a:solidFill>
              <a:headEnd w="sm" len="sm"/>
              <a:tailEnd type="triangle" w="sm" len="sm"/>
            </a:ln>
          </p:spPr>
          <p:style>
            <a:lnRef idx="1">
              <a:schemeClr val="accent1"/>
            </a:lnRef>
            <a:fillRef idx="0">
              <a:schemeClr val="accent1"/>
            </a:fillRef>
            <a:effectRef idx="0">
              <a:schemeClr val="accent1"/>
            </a:effectRef>
            <a:fontRef idx="minor">
              <a:schemeClr val="tx1"/>
            </a:fontRef>
          </p:style>
        </p:cxnSp>
        <p:sp>
          <p:nvSpPr>
            <p:cNvPr id="219" name="Text 32">
              <a:extLst>
                <a:ext uri="{FF2B5EF4-FFF2-40B4-BE49-F238E27FC236}">
                  <a16:creationId xmlns:a16="http://schemas.microsoft.com/office/drawing/2014/main" id="{B60F7564-8B07-90D8-3777-4FE2E47EE184}"/>
                </a:ext>
              </a:extLst>
            </p:cNvPr>
            <p:cNvSpPr/>
            <p:nvPr/>
          </p:nvSpPr>
          <p:spPr>
            <a:xfrm>
              <a:off x="2494963" y="5528075"/>
              <a:ext cx="868854" cy="120909"/>
            </a:xfrm>
            <a:prstGeom prst="rect">
              <a:avLst/>
            </a:prstGeom>
            <a:noFill/>
            <a:ln/>
          </p:spPr>
          <p:txBody>
            <a:bodyPr wrap="square" lIns="0" tIns="0" rIns="0" bIns="0" rtlCol="0" anchor="t"/>
            <a:lstStyle/>
            <a:p>
              <a:pPr marL="0" indent="0" algn="l">
                <a:buNone/>
              </a:pPr>
              <a:r>
                <a:rPr lang="en-US" sz="700" dirty="0">
                  <a:solidFill>
                    <a:srgbClr val="5B738B">
                      <a:alpha val="100000"/>
                    </a:srgbClr>
                  </a:solidFill>
                  <a:latin typeface="72 Semibold" pitchFamily="34" charset="0"/>
                  <a:ea typeface="72 Semibold" pitchFamily="34" charset="-122"/>
                  <a:cs typeface="72 Semibold" pitchFamily="34" charset="-120"/>
                </a:rPr>
                <a:t>Authenticate</a:t>
              </a:r>
              <a:endParaRPr lang="en-US" sz="700" dirty="0"/>
            </a:p>
          </p:txBody>
        </p:sp>
      </p:grpSp>
      <p:sp>
        <p:nvSpPr>
          <p:cNvPr id="2" name="Titel 1">
            <a:extLst>
              <a:ext uri="{FF2B5EF4-FFF2-40B4-BE49-F238E27FC236}">
                <a16:creationId xmlns:a16="http://schemas.microsoft.com/office/drawing/2014/main" id="{DAE38B9A-605C-6E45-79DD-BB66D357FBEB}"/>
              </a:ext>
            </a:extLst>
          </p:cNvPr>
          <p:cNvSpPr>
            <a:spLocks noGrp="1"/>
          </p:cNvSpPr>
          <p:nvPr>
            <p:ph type="title"/>
          </p:nvPr>
        </p:nvSpPr>
        <p:spPr>
          <a:xfrm>
            <a:off x="504001" y="504000"/>
            <a:ext cx="11186476" cy="369332"/>
          </a:xfrm>
        </p:spPr>
        <p:txBody>
          <a:bodyPr/>
          <a:lstStyle/>
          <a:p>
            <a:r>
              <a:rPr lang="en-US" dirty="0">
                <a:solidFill>
                  <a:srgbClr val="000000"/>
                </a:solidFill>
              </a:rPr>
              <a:t>XP262 – Solution Diagram </a:t>
            </a:r>
            <a:r>
              <a:rPr lang="en-US" dirty="0">
                <a:solidFill>
                  <a:srgbClr val="12171C"/>
                </a:solidFill>
              </a:rPr>
              <a:t>Sales order process extension</a:t>
            </a:r>
            <a:endParaRPr lang="de-DE" dirty="0"/>
          </a:p>
        </p:txBody>
      </p:sp>
      <p:grpSp>
        <p:nvGrpSpPr>
          <p:cNvPr id="205" name="Gruppieren 204">
            <a:extLst>
              <a:ext uri="{FF2B5EF4-FFF2-40B4-BE49-F238E27FC236}">
                <a16:creationId xmlns:a16="http://schemas.microsoft.com/office/drawing/2014/main" id="{533558D8-8AA6-7EE7-2465-9C7019435608}"/>
              </a:ext>
            </a:extLst>
          </p:cNvPr>
          <p:cNvGrpSpPr/>
          <p:nvPr/>
        </p:nvGrpSpPr>
        <p:grpSpPr>
          <a:xfrm>
            <a:off x="2565006" y="2170782"/>
            <a:ext cx="1274516" cy="271938"/>
            <a:chOff x="2510688" y="2134570"/>
            <a:chExt cx="1274516" cy="271938"/>
          </a:xfrm>
        </p:grpSpPr>
        <p:sp>
          <p:nvSpPr>
            <p:cNvPr id="129" name="Text 26">
              <a:extLst>
                <a:ext uri="{FF2B5EF4-FFF2-40B4-BE49-F238E27FC236}">
                  <a16:creationId xmlns:a16="http://schemas.microsoft.com/office/drawing/2014/main" id="{F97EDEC1-E5B7-EA6F-EE07-AD4171DB0474}"/>
                </a:ext>
              </a:extLst>
            </p:cNvPr>
            <p:cNvSpPr/>
            <p:nvPr/>
          </p:nvSpPr>
          <p:spPr>
            <a:xfrm>
              <a:off x="2510688" y="2173255"/>
              <a:ext cx="1274516" cy="233253"/>
            </a:xfrm>
            <a:prstGeom prst="rect">
              <a:avLst/>
            </a:prstGeom>
            <a:noFill/>
            <a:ln/>
          </p:spPr>
          <p:txBody>
            <a:bodyPr wrap="square" lIns="0" tIns="0" rIns="0" bIns="0" rtlCol="0" anchor="t"/>
            <a:lstStyle/>
            <a:p>
              <a:pPr marL="0" indent="0" algn="ctr">
                <a:lnSpc>
                  <a:spcPts val="1100"/>
                </a:lnSpc>
                <a:buNone/>
              </a:pPr>
              <a:r>
                <a:rPr lang="en-US" sz="900" dirty="0">
                  <a:solidFill>
                    <a:srgbClr val="1D2D3E"/>
                  </a:solidFill>
                  <a:latin typeface="72 Bold" pitchFamily="34" charset="0"/>
                  <a:ea typeface="72 Bold" pitchFamily="34" charset="-122"/>
                  <a:cs typeface="72 Bold" pitchFamily="34" charset="-120"/>
                </a:rPr>
                <a:t>SAP Build</a:t>
              </a:r>
            </a:p>
          </p:txBody>
        </p:sp>
        <p:pic>
          <p:nvPicPr>
            <p:cNvPr id="137" name="Grafik 136">
              <a:extLst>
                <a:ext uri="{FF2B5EF4-FFF2-40B4-BE49-F238E27FC236}">
                  <a16:creationId xmlns:a16="http://schemas.microsoft.com/office/drawing/2014/main" id="{8EDCB46D-CC39-9E83-B299-18643FC4ECE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15244" y="2134570"/>
              <a:ext cx="210643" cy="210643"/>
            </a:xfrm>
            <a:prstGeom prst="rect">
              <a:avLst/>
            </a:prstGeom>
          </p:spPr>
        </p:pic>
      </p:grpSp>
      <p:pic>
        <p:nvPicPr>
          <p:cNvPr id="140" name="Picture 26">
            <a:extLst>
              <a:ext uri="{FF2B5EF4-FFF2-40B4-BE49-F238E27FC236}">
                <a16:creationId xmlns:a16="http://schemas.microsoft.com/office/drawing/2014/main" id="{F3A0C4E4-3C65-96F6-7E41-72929AF78A9B}"/>
              </a:ext>
            </a:extLst>
          </p:cNvPr>
          <p:cNvPicPr>
            <a:picLocks noChangeAspect="1"/>
          </p:cNvPicPr>
          <p:nvPr/>
        </p:nvPicPr>
        <p:blipFill>
          <a:blip r:embed="rId13"/>
          <a:stretch>
            <a:fillRect/>
          </a:stretch>
        </p:blipFill>
        <p:spPr>
          <a:xfrm>
            <a:off x="8981396" y="1309975"/>
            <a:ext cx="1293659" cy="154800"/>
          </a:xfrm>
          <a:prstGeom prst="rect">
            <a:avLst/>
          </a:prstGeom>
        </p:spPr>
      </p:pic>
      <p:pic>
        <p:nvPicPr>
          <p:cNvPr id="141" name="Graphic 45">
            <a:extLst>
              <a:ext uri="{FF2B5EF4-FFF2-40B4-BE49-F238E27FC236}">
                <a16:creationId xmlns:a16="http://schemas.microsoft.com/office/drawing/2014/main" id="{2A470A11-54AC-3077-F654-54A6FC0C66C8}"/>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rot="10800000" flipV="1">
            <a:off x="1234052" y="5673373"/>
            <a:ext cx="417600" cy="417600"/>
          </a:xfrm>
          <a:prstGeom prst="rect">
            <a:avLst/>
          </a:prstGeom>
        </p:spPr>
      </p:pic>
      <p:sp>
        <p:nvSpPr>
          <p:cNvPr id="142" name="Text 32">
            <a:extLst>
              <a:ext uri="{FF2B5EF4-FFF2-40B4-BE49-F238E27FC236}">
                <a16:creationId xmlns:a16="http://schemas.microsoft.com/office/drawing/2014/main" id="{4F73B483-6B07-89FC-A274-C1B475A7DABC}"/>
              </a:ext>
            </a:extLst>
          </p:cNvPr>
          <p:cNvSpPr/>
          <p:nvPr/>
        </p:nvSpPr>
        <p:spPr>
          <a:xfrm>
            <a:off x="709436" y="6178717"/>
            <a:ext cx="1371257" cy="220424"/>
          </a:xfrm>
          <a:prstGeom prst="rect">
            <a:avLst/>
          </a:prstGeom>
          <a:noFill/>
          <a:ln/>
        </p:spPr>
        <p:txBody>
          <a:bodyPr wrap="square" lIns="0" tIns="0" rIns="0" bIns="0" rtlCol="0" anchor="t"/>
          <a:lstStyle/>
          <a:p>
            <a:pPr algn="ctr"/>
            <a:r>
              <a:rPr lang="en-US" sz="700" dirty="0">
                <a:solidFill>
                  <a:srgbClr val="5B738B">
                    <a:alpha val="100000"/>
                  </a:srgbClr>
                </a:solidFill>
                <a:latin typeface="72 Semibold" pitchFamily="34" charset="0"/>
                <a:ea typeface="72 Semibold" pitchFamily="34" charset="-122"/>
                <a:cs typeface="72 Semibold" pitchFamily="34" charset="-120"/>
              </a:rPr>
              <a:t>3rd party identity provider /</a:t>
            </a:r>
          </a:p>
          <a:p>
            <a:pPr algn="ctr"/>
            <a:r>
              <a:rPr lang="en-US" sz="700" dirty="0">
                <a:solidFill>
                  <a:srgbClr val="5B738B">
                    <a:alpha val="100000"/>
                  </a:srgbClr>
                </a:solidFill>
                <a:latin typeface="72 Semibold" pitchFamily="34" charset="0"/>
                <a:ea typeface="72 Semibold" pitchFamily="34" charset="-122"/>
                <a:cs typeface="72 Semibold" pitchFamily="34" charset="-120"/>
              </a:rPr>
              <a:t>Identity management</a:t>
            </a:r>
          </a:p>
          <a:p>
            <a:pPr algn="ctr"/>
            <a:endParaRPr lang="en-US" sz="700" dirty="0"/>
          </a:p>
        </p:txBody>
      </p:sp>
      <p:sp>
        <p:nvSpPr>
          <p:cNvPr id="143" name="Text 26">
            <a:extLst>
              <a:ext uri="{FF2B5EF4-FFF2-40B4-BE49-F238E27FC236}">
                <a16:creationId xmlns:a16="http://schemas.microsoft.com/office/drawing/2014/main" id="{42770775-F51A-BDDC-D3C8-C1DB3744FCD0}"/>
              </a:ext>
            </a:extLst>
          </p:cNvPr>
          <p:cNvSpPr/>
          <p:nvPr/>
        </p:nvSpPr>
        <p:spPr>
          <a:xfrm>
            <a:off x="746492" y="3210983"/>
            <a:ext cx="1371257" cy="218017"/>
          </a:xfrm>
          <a:prstGeom prst="rect">
            <a:avLst/>
          </a:prstGeom>
          <a:noFill/>
          <a:ln/>
        </p:spPr>
        <p:txBody>
          <a:bodyPr wrap="square" lIns="0" tIns="0" rIns="0" bIns="0" rtlCol="0" anchor="t"/>
          <a:lstStyle/>
          <a:p>
            <a:pPr marL="0" indent="0" algn="ctr">
              <a:lnSpc>
                <a:spcPts val="1100"/>
              </a:lnSpc>
              <a:buNone/>
            </a:pPr>
            <a:r>
              <a:rPr lang="en-US" sz="1100" dirty="0">
                <a:solidFill>
                  <a:srgbClr val="1D2D3E"/>
                </a:solidFill>
                <a:latin typeface="72 Bold" pitchFamily="34" charset="0"/>
                <a:ea typeface="72 Bold" pitchFamily="34" charset="-122"/>
                <a:cs typeface="72 Bold" pitchFamily="34" charset="-120"/>
              </a:rPr>
              <a:t>Application Clients</a:t>
            </a:r>
            <a:endParaRPr lang="en-US" sz="1100" dirty="0">
              <a:solidFill>
                <a:srgbClr val="1D2D3E"/>
              </a:solidFill>
            </a:endParaRPr>
          </a:p>
        </p:txBody>
      </p:sp>
      <p:sp>
        <p:nvSpPr>
          <p:cNvPr id="144" name="Text 26">
            <a:extLst>
              <a:ext uri="{FF2B5EF4-FFF2-40B4-BE49-F238E27FC236}">
                <a16:creationId xmlns:a16="http://schemas.microsoft.com/office/drawing/2014/main" id="{F6E369B3-655F-3088-1F28-D10CB9ED0B1D}"/>
              </a:ext>
            </a:extLst>
          </p:cNvPr>
          <p:cNvSpPr/>
          <p:nvPr/>
        </p:nvSpPr>
        <p:spPr>
          <a:xfrm>
            <a:off x="1014247" y="2142924"/>
            <a:ext cx="835746" cy="141456"/>
          </a:xfrm>
          <a:prstGeom prst="rect">
            <a:avLst/>
          </a:prstGeom>
          <a:noFill/>
          <a:ln/>
        </p:spPr>
        <p:txBody>
          <a:bodyPr wrap="square" lIns="0" tIns="0" rIns="0" bIns="0" rtlCol="0" anchor="t"/>
          <a:lstStyle/>
          <a:p>
            <a:pPr marL="0" indent="0" algn="ctr">
              <a:lnSpc>
                <a:spcPts val="1100"/>
              </a:lnSpc>
              <a:buNone/>
            </a:pPr>
            <a:r>
              <a:rPr lang="en-US" sz="1000" dirty="0">
                <a:solidFill>
                  <a:srgbClr val="1D2D3E"/>
                </a:solidFill>
                <a:latin typeface="72 Bold" pitchFamily="34" charset="0"/>
                <a:ea typeface="72 Bold" pitchFamily="34" charset="-122"/>
                <a:cs typeface="72 Bold" pitchFamily="34" charset="-120"/>
              </a:rPr>
              <a:t>End User</a:t>
            </a:r>
            <a:endParaRPr lang="en-US" sz="1000" dirty="0">
              <a:solidFill>
                <a:srgbClr val="1D2D3E"/>
              </a:solidFill>
            </a:endParaRPr>
          </a:p>
        </p:txBody>
      </p:sp>
      <p:cxnSp>
        <p:nvCxnSpPr>
          <p:cNvPr id="145" name="Straight Arrow Connector 93">
            <a:extLst>
              <a:ext uri="{FF2B5EF4-FFF2-40B4-BE49-F238E27FC236}">
                <a16:creationId xmlns:a16="http://schemas.microsoft.com/office/drawing/2014/main" id="{70DF433A-D3FF-9B09-3E53-1E3D54909B57}"/>
              </a:ext>
            </a:extLst>
          </p:cNvPr>
          <p:cNvCxnSpPr>
            <a:cxnSpLocks/>
            <a:stCxn id="144" idx="2"/>
            <a:endCxn id="147" idx="0"/>
          </p:cNvCxnSpPr>
          <p:nvPr/>
        </p:nvCxnSpPr>
        <p:spPr>
          <a:xfrm>
            <a:off x="1432120" y="2284380"/>
            <a:ext cx="0" cy="479514"/>
          </a:xfrm>
          <a:prstGeom prst="straightConnector1">
            <a:avLst/>
          </a:prstGeom>
          <a:ln w="19050">
            <a:solidFill>
              <a:srgbClr val="354A5F"/>
            </a:solidFill>
            <a:headEnd w="med" len="med"/>
            <a:tailEnd type="triangle" w="sm" len="med"/>
          </a:ln>
        </p:spPr>
        <p:style>
          <a:lnRef idx="1">
            <a:schemeClr val="accent1"/>
          </a:lnRef>
          <a:fillRef idx="0">
            <a:schemeClr val="accent1"/>
          </a:fillRef>
          <a:effectRef idx="0">
            <a:schemeClr val="accent1"/>
          </a:effectRef>
          <a:fontRef idx="minor">
            <a:schemeClr val="tx1"/>
          </a:fontRef>
        </p:style>
      </p:cxnSp>
      <p:sp>
        <p:nvSpPr>
          <p:cNvPr id="146" name="Text 32">
            <a:extLst>
              <a:ext uri="{FF2B5EF4-FFF2-40B4-BE49-F238E27FC236}">
                <a16:creationId xmlns:a16="http://schemas.microsoft.com/office/drawing/2014/main" id="{10747F5D-8EA0-8851-479E-E182F17AE679}"/>
              </a:ext>
            </a:extLst>
          </p:cNvPr>
          <p:cNvSpPr/>
          <p:nvPr/>
        </p:nvSpPr>
        <p:spPr>
          <a:xfrm>
            <a:off x="1004478" y="3365441"/>
            <a:ext cx="855285" cy="139700"/>
          </a:xfrm>
          <a:prstGeom prst="rect">
            <a:avLst/>
          </a:prstGeom>
          <a:noFill/>
          <a:ln/>
        </p:spPr>
        <p:txBody>
          <a:bodyPr wrap="square" lIns="0" tIns="0" rIns="0" bIns="0" rtlCol="0" anchor="t"/>
          <a:lstStyle/>
          <a:p>
            <a:pPr algn="ctr"/>
            <a:r>
              <a:rPr lang="en-US" sz="700" dirty="0">
                <a:solidFill>
                  <a:srgbClr val="5B738B">
                    <a:alpha val="100000"/>
                  </a:srgbClr>
                </a:solidFill>
                <a:latin typeface="72 Semibold" pitchFamily="34" charset="0"/>
                <a:ea typeface="72 Semibold" pitchFamily="34" charset="-122"/>
                <a:cs typeface="72 Semibold" pitchFamily="34" charset="-120"/>
              </a:rPr>
              <a:t>Mobile or Desktop</a:t>
            </a:r>
            <a:endParaRPr lang="en-US" sz="700" dirty="0"/>
          </a:p>
        </p:txBody>
      </p:sp>
      <p:pic>
        <p:nvPicPr>
          <p:cNvPr id="147" name="Graphic 121">
            <a:extLst>
              <a:ext uri="{FF2B5EF4-FFF2-40B4-BE49-F238E27FC236}">
                <a16:creationId xmlns:a16="http://schemas.microsoft.com/office/drawing/2014/main" id="{064F5D14-F336-5E55-55A1-3663124F6934}"/>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223320" y="2763894"/>
            <a:ext cx="417600" cy="417600"/>
          </a:xfrm>
          <a:prstGeom prst="rect">
            <a:avLst/>
          </a:prstGeom>
        </p:spPr>
      </p:pic>
      <p:pic>
        <p:nvPicPr>
          <p:cNvPr id="149" name="Graphic 122">
            <a:extLst>
              <a:ext uri="{FF2B5EF4-FFF2-40B4-BE49-F238E27FC236}">
                <a16:creationId xmlns:a16="http://schemas.microsoft.com/office/drawing/2014/main" id="{24DDBD82-95FB-5D44-9CAF-F792B02AA0BF}"/>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228208" y="1657584"/>
            <a:ext cx="417600" cy="417600"/>
          </a:xfrm>
          <a:prstGeom prst="rect">
            <a:avLst/>
          </a:prstGeom>
        </p:spPr>
      </p:pic>
      <p:cxnSp>
        <p:nvCxnSpPr>
          <p:cNvPr id="153" name="Straight Arrow Connector 17">
            <a:extLst>
              <a:ext uri="{FF2B5EF4-FFF2-40B4-BE49-F238E27FC236}">
                <a16:creationId xmlns:a16="http://schemas.microsoft.com/office/drawing/2014/main" id="{A93B1F1D-C0EB-5AF9-FAEB-D409F40D5D3A}"/>
              </a:ext>
            </a:extLst>
          </p:cNvPr>
          <p:cNvCxnSpPr>
            <a:cxnSpLocks/>
            <a:stCxn id="147" idx="3"/>
            <a:endCxn id="74" idx="1"/>
          </p:cNvCxnSpPr>
          <p:nvPr/>
        </p:nvCxnSpPr>
        <p:spPr>
          <a:xfrm flipV="1">
            <a:off x="1640920" y="2970766"/>
            <a:ext cx="1019594" cy="1928"/>
          </a:xfrm>
          <a:prstGeom prst="straightConnector1">
            <a:avLst/>
          </a:prstGeom>
          <a:ln w="19050">
            <a:solidFill>
              <a:srgbClr val="354A5F"/>
            </a:solidFill>
            <a:headEnd w="med" len="med"/>
            <a:tailEnd type="triangle" w="sm" len="med"/>
          </a:ln>
        </p:spPr>
        <p:style>
          <a:lnRef idx="1">
            <a:schemeClr val="accent1"/>
          </a:lnRef>
          <a:fillRef idx="0">
            <a:schemeClr val="accent1"/>
          </a:fillRef>
          <a:effectRef idx="0">
            <a:schemeClr val="accent1"/>
          </a:effectRef>
          <a:fontRef idx="minor">
            <a:schemeClr val="tx1"/>
          </a:fontRef>
        </p:style>
      </p:cxnSp>
      <p:cxnSp>
        <p:nvCxnSpPr>
          <p:cNvPr id="168" name="Elbow Connector 123">
            <a:extLst>
              <a:ext uri="{FF2B5EF4-FFF2-40B4-BE49-F238E27FC236}">
                <a16:creationId xmlns:a16="http://schemas.microsoft.com/office/drawing/2014/main" id="{A794A99C-DEDA-25A1-693B-1D60435177FA}"/>
              </a:ext>
            </a:extLst>
          </p:cNvPr>
          <p:cNvCxnSpPr>
            <a:cxnSpLocks/>
            <a:stCxn id="146" idx="2"/>
            <a:endCxn id="21" idx="1"/>
          </p:cNvCxnSpPr>
          <p:nvPr/>
        </p:nvCxnSpPr>
        <p:spPr>
          <a:xfrm rot="16200000" flipH="1">
            <a:off x="895487" y="4041774"/>
            <a:ext cx="2092093" cy="1018825"/>
          </a:xfrm>
          <a:prstGeom prst="bentConnector2">
            <a:avLst/>
          </a:prstGeom>
          <a:ln w="19050" cap="rnd">
            <a:solidFill>
              <a:srgbClr val="188918"/>
            </a:solidFill>
            <a:round/>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3" name="Straight Arrow Connector 147">
            <a:extLst>
              <a:ext uri="{FF2B5EF4-FFF2-40B4-BE49-F238E27FC236}">
                <a16:creationId xmlns:a16="http://schemas.microsoft.com/office/drawing/2014/main" id="{D950DB87-5443-86BF-90CA-A385C40E5893}"/>
              </a:ext>
            </a:extLst>
          </p:cNvPr>
          <p:cNvCxnSpPr>
            <a:cxnSpLocks/>
            <a:stCxn id="21" idx="0"/>
          </p:cNvCxnSpPr>
          <p:nvPr/>
        </p:nvCxnSpPr>
        <p:spPr>
          <a:xfrm flipV="1">
            <a:off x="3225295" y="3992578"/>
            <a:ext cx="0" cy="1119761"/>
          </a:xfrm>
          <a:prstGeom prst="straightConnector1">
            <a:avLst/>
          </a:prstGeom>
          <a:ln w="19050">
            <a:solidFill>
              <a:srgbClr val="188918"/>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778524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 TechEd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SAP_TechEd_2025_Template_PUBLIC-A" id="{10D49F29-D161-9B49-891D-783B4CCEE81C}" vid="{B5706E98-A1C5-AD4D-ADAB-E5326EFA2E93}"/>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Override1.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2.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3.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4.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5.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theme/themeOverride6.xml><?xml version="1.0" encoding="utf-8"?>
<a:themeOverride xmlns:a="http://schemas.openxmlformats.org/drawingml/2006/main">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themeOverrid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1f418d83-6e52-415a-a3ca-9bc770cb2d09" xsi:nil="true"/>
    <_ip_UnifiedCompliancePolicyProperties xmlns="http://schemas.microsoft.com/sharepoint/v3" xsi:nil="true"/>
    <lcf76f155ced4ddcb4097134ff3c332f xmlns="6fada369-c962-4c29-90b4-989088d031d8">
      <Terms xmlns="http://schemas.microsoft.com/office/infopath/2007/PartnerControls"/>
    </lcf76f155ced4ddcb4097134ff3c332f>
  </documentManagement>
</p:properties>
</file>

<file path=customXml/item2.xml><?xml version="1.0" encoding="utf-8"?>
<TemplafySlideFormConfiguration><![CDATA[{"formFields":[],"formDataEntries":[]}]]></TemplafySlideFormConfiguration>
</file>

<file path=customXml/item3.xml><?xml version="1.0" encoding="utf-8"?>
<Templafy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required":false,"placeholder":"","lines":1,"defaultValue":"{{UserProfile.Email}}","shareValue":false,"type":"textBox","name":"Email","label":"Email"}],"formDataEntries":[{"name":"SAPLogo","value":"pxB0tb4qiCEYCgGk2fAV86fXsKRk9ZMKiRC3VaLJ5C8="},{"name":"Classification","value":"OmrOP8d402txjl1Zr787gUA6bTWeMdaxGEF9U5BKD64="},{"name":"SpeakerName","value":"YnPwfaWtJd9yqRikMcavEg=="},{"name":"Email","value":"v35+JSpO6F5yjM5PrFdVwQ=="}]}]]></TemplafyFormConfiguration>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TemplafySlideTemplateConfiguration><![CDATA[{"slideVersion":18,"isValidatorEnabled":false,"isLocked":false,"elementsMetadata":[{"type":"shape","elementConfiguration":{"binding":"{{StringJoin(\", \", Form.SpeakerName,\"SAP\")}}","type":"text","disableUpdates":false}},{"type":"shape","elementConfiguration":{"binding":"{{FormatDateTime(Form.Date,\"MMMM dd, yyyy\",\"en-US\")}}","type":"text","disableUpdates":false}},{"type":"shape","elementConfiguration":{"inheritDimensions":"{{InheritDimensions.InheritNone}}","width":"","height":"1 cm","image":"{{Form.SAPLogo.SubbrandWhite}}","visibility":"","type":"image","disableUpdates":false}},{"type":"shape","elementConfiguration":{"binding":"{{Form.Classification.Display}}","visibility":"","type":"text","disableUpdates":false}}],"slideId":"638331234102692406","enableDocumentContentUpdater":false,"version":"2.0"}]]></TemplafySlideTemplateConfiguration>
</file>

<file path=customXml/item6.xml><?xml version="1.0" encoding="utf-8"?>
<TemplafySlideTemplateConfiguration><![CDATA[{"slideVersion":17,"isValidatorEnabled":false,"isLocked":false,"elementsMetadata":[],"slideId":"638331234102931200","enableDocumentContentUpdater":false,"version":"2.0"}]]></TemplafySlideTemplateConfiguration>
</file>

<file path=customXml/item7.xml><?xml version="1.0" encoding="utf-8"?>
<TemplafyTemplateConfiguration><![CDATA[{"elementsMetadata":[{"type":"shape","id":"3f0b8b37-260a-4498-93b8-315483b1dcd9","elementConfiguration":{"binding":"{{ DataSources.Classification[Form.Classification.Name].Display}}","type":"text","disableUpdates":false}},{"type":"shape","id":"290322f9-1797-4b4d-8043-942607235499","elementConfiguration":{"inheritDimensions":"{{InheritDimensions.InheritNone}}","width":"","height":"1 cm","image":"{{Form.SAPLogo.SubbrandBlue}}","visibility":"","type":"image","disableUpdates":false}},{"type":"shape","id":"74f902db-19ce-473e-a6ef-bfcbbe21a93e","elementConfiguration":{"binding":"{{Form.Classification.Display}}","visibility":"","type":"text","disableUpdates":false}},{"type":"shape","id":"15a0c36e-cfcd-42f4-8d96-f48f504a4dda","elementConfiguration":{"binding":"{{Form.Classification.Display}}","visibility":"","type":"text","disableUpdates":false}},{"type":"shape","id":"f018ab10-9877-4c1a-903d-8e20a0516ebf","elementConfiguration":{"inheritDimensions":"{{InheritDimensions.InheritNone}}","width":"","height":"1 cm","image":"{{Form.SAPLogo.SubbrandBlack}}","visibility":"","type":"image","disableUpdates":false}},{"type":"shape","id":"819aee73-a0a2-4380-a436-a557525fa29d","elementConfiguration":{"inheritDimensions":"{{InheritDimensions.InheritNone}}","width":"","height":"1 cm","image":"{{Form.SAPLogo.SubbrandWhite}}","visibility":"","type":"image","disableUpdates":false}},{"type":"shape","id":"281de79b-cce6-4308-a6d3-2c16a47ae934","elementConfiguration":{"binding":"{{Form.Classification.Display}}","visibility":"","type":"text","disableUpdates":false}},{"type":"shape","id":"31fb104a-4bd2-4be1-990c-9956a246a6a6","elementConfiguration":{"inheritDimensions":"{{InheritDimensions.InheritNone}}","width":"","height":"1 cm","image":"{{Form.SAPLogo.SubbrandBlue}}","visibility":"","type":"image","disableUpdates":false}},{"type":"shape","id":"dd500091-516e-4e09-935d-a8446760ab37","elementConfiguration":{"binding":"{{Form.Classification.Display}}","visibility":"","type":"text","disableUpdates":false}},{"type":"shape","id":"b86c6774-bfb5-42ce-af29-ad7c8e956cc6","elementConfiguration":{"inheritDimensions":"{{InheritDimensions.InheritNone}}","width":"","height":"1 cm","image":"{{Form.SAPLogo.SubbrandBlue}}","visibility":"","type":"image","disableUpdates":false}},{"type":"shape","id":"a4489086-5ad1-4eb9-8912-a3dfda15f59c","elementConfiguration":{"binding":"{{Form.Classification.Display}}","visibility":"","type":"text","disableUpdates":false}},{"type":"shape","id":"77d39480-6bb2-4f9e-b166-58e397c730ef","elementConfiguration":{"inheritDimensions":"{{InheritDimensions.InheritNone}}","width":"","height":"1 cm","image":"{{Form.SAPLogo.SubbrandBlue}}","visibility":"","type":"image","disableUpdates":false}},{"type":"shape","id":"c215a143-e24c-42fe-8717-bcd7348f576e","elementConfiguration":{"binding":"{{Form.Classification.Display}}","visibility":"","type":"text","disableUpdates":false}},{"type":"shape","id":"4df62b98-d4a2-4d63-b8e0-3801bf727202","elementConfiguration":{"inheritDimensions":"{{InheritDimensions.InheritNone}}","width":"","height":"1 cm","image":"{{Form.SAPLogo.SubbrandWhite}}","visibility":"","type":"image","disableUpdates":false}},{"type":"shape","id":"8cba19fe-2e13-48e5-b14b-92c3761b1d34","elementConfiguration":{"binding":"{{Form.Classification.Display}}","visibility":"","type":"text","disableUpdates":false}},{"type":"shape","id":"27f15a2f-efbf-4b45-a883-cb50c003bc42","elementConfiguration":{"binding":"{{DataSources.PPTCopyRight[\"Slide 5 copyright\"].CopyrightMessage}}","visibility":"","type":"text","disableUpdates":false}},{"type":"shape","id":"c55a38a9-de1b-495a-8b58-131e1d52fd54","elementConfiguration":{"inheritDimensions":"{{InheritDimensions.InheritNone}}","width":"","height":"1 cm","image":"{{Form.SAPLogo.SubbrandBlack}}","visibility":"","type":"image","disableUpdates":false}},{"type":"shape","id":"874250cf-0daf-4fd4-8228-464988deba1e","elementConfiguration":{"binding":"{{Form.Classification.Display}}","visibility":"","type":"text","disableUpdates":false}},{"type":"shape","id":"d4065cf0-3d7d-4421-8dd7-4a927a682008","elementConfiguration":{"inheritDimensions":"{{InheritDimensions.InheritNone}}","width":"","height":"1 cm","image":"{{Form.SAPLogo.SubbrandWhite}}","visibility":"","type":"image","disableUpdates":false}},{"type":"shape","id":"79cac289-6949-46c4-afc6-3b10b6515444","elementConfiguration":{"binding":"{{Form.Classification.Display}}","visibility":"","type":"text","disableUpdates":false}},{"type":"shape","id":"65841d7c-a25a-482e-8a0b-399fe2060e85","elementConfiguration":{"inheritDimensions":"{{InheritDimensions.InheritNone}}","width":"","height":"1 cm","image":"{{Form.SAPLogo.SubbrandBlack}}","visibility":"","type":"image","disableUpdates":false}},{"type":"shape","id":"9a099f80-0352-4bc9-9d82-a824546006f3","elementConfiguration":{"binding":"{{Form.Classification.Display}}","visibility":"","type":"text","disableUpdates":false}},{"type":"shape","id":"a0696034-9670-4d7b-a80a-e5801256b450","elementConfiguration":{"inheritDimensions":"{{InheritDimensions.InheritNone}}","width":"","height":"1 cm","image":"{{Form.SAPLogo.SubbrandWhite}}","visibility":"","type":"image","disableUpdates":false}},{"type":"shape","id":"efe1d89f-eade-44b0-a576-0c0f42301897","elementConfiguration":{"binding":"{{Form.Classification.Display}}","visibility":"","type":"text","disableUpdates":false}},{"type":"shape","id":"57053213-140f-42e4-b279-3aff034a8e0b","elementConfiguration":{"inheritDimensions":"{{InheritDimensions.InheritNone}}","width":"","height":"1 cm","image":"{{Form.SAPLogo.SubbrandWhite}}","visibility":"","type":"image","disableUpdates":false}},{"type":"shape","id":"d79d039e-49b3-4324-b9e4-2a15bf644364","elementConfiguration":{"binding":"{{Form.Classification.Display}}","visibility":"","type":"text","disableUpdates":false}},{"type":"shape","id":"c329a080-8cac-45b3-9090-29e32358fc6a","elementConfiguration":{"binding":"{{StringJoin(\", \", Form.SpeakerName,\"SAP\")}}","type":"text","disableUpdates":false}},{"type":"shape","id":"036a9aaf-43e1-4444-ab2f-2c19850121cf","elementConfiguration":{"binding":"{{FormatDateTime(Form.Date,\"MMMM dd, yyyy\",\"en-US\")}}","type":"text","disableUpdates":false}},{"type":"shape","id":"473c97bd-6527-4a05-b5f4-5c152564332e","elementConfiguration":{"binding":"{{StringJoin(\", \", Form.SpeakerName,\"SAP\")}}","type":"text","disableUpdates":false}},{"type":"shape","id":"759f30db-fd7e-4644-9268-245a52a87c4a","elementConfiguration":{"binding":"{{FormatDateTime(Form.Date,\"MMMM dd, yyyy\",\"en-US\")}}","type":"text","disableUpdates":false}},{"type":"shape","id":"fde02d00-ce80-4365-9d9b-bf7e02a1508f","elementConfiguration":{"binding":"{{StringJoin(\", \", Form.SpeakerName,\"SAP\")}}","type":"text","disableUpdates":false}},{"type":"shape","id":"cbb0b46e-43e3-433e-b41e-bd146292a8c7","elementConfiguration":{"binding":"{{FormatDateTime(Form.Date,\"MMMM dd, yyyy\",\"en-US\")}}","type":"text","disableUpdates":false}},{"type":"shape","id":"fc45eda2-9531-4c18-9e5b-851b689cb53d","elementConfiguration":{"binding":"{{StringJoin(\", \", Form.SpeakerName,\"SAP\")}}","type":"text","disableUpdates":false}},{"type":"shape","id":"075e6c73-5362-4a19-b37f-56f1675ff574","elementConfiguration":{"binding":"{{FormatDateTime(Form.Date,\"MMMM dd, yyyy\",\"en-US\")}}","type":"text","disableUpdates":false}},{"type":"shape","id":"52894cf0-968a-4afd-9cde-8550dd0fba68","elementConfiguration":{"binding":"{{StringJoin(\", \", Form.SpeakerName,\"SAP\")}}","type":"text","disableUpdates":false}},{"type":"shape","id":"8f89bd7f-10f8-43e3-8d2c-478085b4aae4","elementConfiguration":{"binding":"{{FormatDateTime(Form.Date,\"MMMM dd, yyyy\",\"en-US\")}}","type":"text","disableUpdates":false}},{"type":"shape","id":"8d9e1e6e-f3bd-4759-9efc-58b4b54479c2","elementConfiguration":{"binding":"{{StringJoin(\", \", Form.SpeakerName,\"SAP\")}}","type":"text","disableUpdates":false}},{"type":"shape","id":"416bc492-2ab1-4b95-8e4d-7e2d411f8372","elementConfiguration":{"binding":"{{FormatDateTime(Form.Date,\"MMMM dd, yyyy\",\"en-US\")}}","type":"text","disableUpdates":false}},{"type":"shape","id":"91ea2ed7-0f81-4e49-99ea-28c092a71883","elementConfiguration":{"binding":"{{Form.SpeakerName}}","type":"text","disableUpdates":false}},{"type":"shape","id":"3698467b-0ce9-4ef0-a8f2-89030f025514","elementConfiguration":{"binding":"{{Form.Email}}","type":"text","disableUpdates":false}}],"transformationConfigurations":[],"templateName":"SAP Template NEW","templateDescription":"","enableDocumentContentUpdater":true,"version":"2.0"}]]></TemplafyTemplateConfiguration>
</file>

<file path=customXml/item8.xml><?xml version="1.0" encoding="utf-8"?>
<ct:contentTypeSchema xmlns:ct="http://schemas.microsoft.com/office/2006/metadata/contentType" xmlns:ma="http://schemas.microsoft.com/office/2006/metadata/properties/metaAttributes" ct:_="" ma:_="" ma:contentTypeName="Dokument" ma:contentTypeID="0x010100B8B6DF7A042E324793A7F90E29F12967" ma:contentTypeVersion="20" ma:contentTypeDescription="Ein neues Dokument erstellen." ma:contentTypeScope="" ma:versionID="7d0151b548ca2adc7dfc52f0d298d57c">
  <xsd:schema xmlns:xsd="http://www.w3.org/2001/XMLSchema" xmlns:xs="http://www.w3.org/2001/XMLSchema" xmlns:p="http://schemas.microsoft.com/office/2006/metadata/properties" xmlns:ns1="http://schemas.microsoft.com/sharepoint/v3" xmlns:ns2="6fada369-c962-4c29-90b4-989088d031d8" xmlns:ns3="1f418d83-6e52-415a-a3ca-9bc770cb2d09" targetNamespace="http://schemas.microsoft.com/office/2006/metadata/properties" ma:root="true" ma:fieldsID="4a93353bd70ab1fdd7d8e2381cc836c9" ns1:_="" ns2:_="" ns3:_="">
    <xsd:import namespace="http://schemas.microsoft.com/sharepoint/v3"/>
    <xsd:import namespace="6fada369-c962-4c29-90b4-989088d031d8"/>
    <xsd:import namespace="1f418d83-6e52-415a-a3ca-9bc770cb2d0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Eigenschaften der einheitlichen Compliancerichtlinie" ma:hidden="true" ma:internalName="_ip_UnifiedCompliancePolicyProperties">
      <xsd:simpleType>
        <xsd:restriction base="dms:Note"/>
      </xsd:simpleType>
    </xsd:element>
    <xsd:element name="_ip_UnifiedCompliancePolicyUIAction" ma:index="27" nillable="true" ma:displayName="UI-Aktion der einheitlichen Compliancerichtlinie"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fada369-c962-4c29-90b4-989088d031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Bildmarkierungen" ma:readOnly="false" ma:fieldId="{5cf76f15-5ced-4ddc-b409-7134ff3c332f}" ma:taxonomyMulti="true" ma:sspId="c7b3fb9d-ee0a-40a8-bd42-4026b75186d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f418d83-6e52-415a-a3ca-9bc770cb2d09" elementFormDefault="qualified">
    <xsd:import namespace="http://schemas.microsoft.com/office/2006/documentManagement/types"/>
    <xsd:import namespace="http://schemas.microsoft.com/office/infopath/2007/PartnerControls"/>
    <xsd:element name="SharedWithUsers" ma:index="18"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Freigegeben für - Details" ma:internalName="SharedWithDetails" ma:readOnly="true">
      <xsd:simpleType>
        <xsd:restriction base="dms:Note">
          <xsd:maxLength value="255"/>
        </xsd:restriction>
      </xsd:simpleType>
    </xsd:element>
    <xsd:element name="TaxCatchAll" ma:index="22" nillable="true" ma:displayName="Taxonomy Catch All Column" ma:hidden="true" ma:list="{8a25e9dc-1029-43e4-a384-53a6c5befa85}" ma:internalName="TaxCatchAll" ma:showField="CatchAllData" ma:web="1f418d83-6e52-415a-a3ca-9bc770cb2d0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xml version="1.0" encoding="utf-8"?>
<TemplafySlideFormConfiguration><![CDATA[{"formFields":[{"distinct":false,"hideIfNoUserInteractionRequired":false,"required":true,"autoSelectFirstOption":false,"shareValue":false,"type":"dropDown","dataSourceName":"PPTSubBrandLogos2023","dataSourceFieldName":"Name","name":"SAPLogo","label":"Select Template"},{"distinct":false,"hideIfNoUserInteractionRequired":false,"required":true,"autoSelectFirstOption":false,"shareValue":false,"type":"dropDown","dataSourceName":"Classification","dataSourceFieldName":"Name","name":"Classification","label":"Select Classification"},{"required":false,"shareValue":false,"type":"datePicker","name":"Date","label":"Date"},{"required":false,"placeholder":"","lines":1,"defaultValue":"{{StringJoin(\" \", UserProfile.FirstName,UserProfile.LastName)}}","helpTexts":{"prefix":"After your name, include your preferred pronouns (they/them, she/her, he/him)."},"shareValue":false,"type":"textBox","name":"SpeakerName","label":"Name and Pronouns"}],"formDataEntries":[]}]]></TemplafySlideFormConfiguration>
</file>

<file path=customXml/item10.xml><?xml version="1.0" encoding="utf-8"?>
<TemplafySlideTemplateConfiguration><![CDATA[{"slideVersion":17,"isValidatorEnabled":false,"isLocked":false,"elementsMetadata":[],"slideId":"638331234102931200","enableDocumentContentUpdater":false,"version":"2.0"}]]></TemplafySlideTemplateConfiguration>
</file>

<file path=customXml/item11.xml><?xml version="1.0" encoding="utf-8"?>
<TemplafySlideFormConfiguration><![CDATA[{"formFields":[],"formDataEntries":[]}]]></TemplafySlideFormConfiguration>
</file>

<file path=customXml/itemProps1.xml><?xml version="1.0" encoding="utf-8"?>
<ds:datastoreItem xmlns:ds="http://schemas.openxmlformats.org/officeDocument/2006/customXml" ds:itemID="{C1422F45-04DB-421D-8796-270006657806}">
  <ds:schemaRefs>
    <ds:schemaRef ds:uri="http://purl.org/dc/elements/1.1/"/>
    <ds:schemaRef ds:uri="http://purl.org/dc/dcmitype/"/>
    <ds:schemaRef ds:uri="http://schemas.microsoft.com/office/2006/documentManagement/types"/>
    <ds:schemaRef ds:uri="1f418d83-6e52-415a-a3ca-9bc770cb2d09"/>
    <ds:schemaRef ds:uri="http://www.w3.org/XML/1998/namespace"/>
    <ds:schemaRef ds:uri="http://schemas.openxmlformats.org/package/2006/metadata/core-properties"/>
    <ds:schemaRef ds:uri="http://purl.org/dc/terms/"/>
    <ds:schemaRef ds:uri="http://schemas.microsoft.com/sharepoint/v3"/>
    <ds:schemaRef ds:uri="http://schemas.microsoft.com/office/infopath/2007/PartnerControls"/>
    <ds:schemaRef ds:uri="6fada369-c962-4c29-90b4-989088d031d8"/>
    <ds:schemaRef ds:uri="http://schemas.microsoft.com/office/2006/metadata/properties"/>
  </ds:schemaRefs>
</ds:datastoreItem>
</file>

<file path=customXml/itemProps2.xml><?xml version="1.0" encoding="utf-8"?>
<ds:datastoreItem xmlns:ds="http://schemas.openxmlformats.org/officeDocument/2006/customXml" ds:itemID="{7F6898E6-9ADD-4538-B0E5-FC21C8DB6903}">
  <ds:schemaRefs/>
</ds:datastoreItem>
</file>

<file path=customXml/itemProps3.xml><?xml version="1.0" encoding="utf-8"?>
<ds:datastoreItem xmlns:ds="http://schemas.openxmlformats.org/officeDocument/2006/customXml" ds:itemID="{CC49FFC8-2FF3-4057-96F0-3BCD1A4F0351}">
  <ds:schemaRefs/>
</ds:datastoreItem>
</file>

<file path=customXml/itemProps4.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5.xml><?xml version="1.0" encoding="utf-8"?>
<ds:datastoreItem xmlns:ds="http://schemas.openxmlformats.org/officeDocument/2006/customXml" ds:itemID="{E592BBB8-4E80-3C45-BEE9-486ED596EB3C}">
  <ds:schemaRefs/>
</ds:datastoreItem>
</file>

<file path=customXml/itemProps6.xml><?xml version="1.0" encoding="utf-8"?>
<ds:datastoreItem xmlns:ds="http://schemas.openxmlformats.org/officeDocument/2006/customXml" ds:itemID="{1B6811DB-EB29-F34E-AF33-9D95A7C74A5A}">
  <ds:schemaRefs/>
</ds:datastoreItem>
</file>

<file path=customXml/itemProps7.xml><?xml version="1.0" encoding="utf-8"?>
<ds:datastoreItem xmlns:ds="http://schemas.openxmlformats.org/officeDocument/2006/customXml" ds:itemID="{626BBCBB-1894-4E66-BA48-9E91CE3ACBA0}">
  <ds:schemaRefs/>
</ds:datastoreItem>
</file>

<file path=customXml/itemProps8.xml><?xml version="1.0" encoding="utf-8"?>
<ds:datastoreItem xmlns:ds="http://schemas.openxmlformats.org/officeDocument/2006/customXml" ds:itemID="{260EBD1E-F19E-4E7A-AAA7-3C57F3FABA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fada369-c962-4c29-90b4-989088d031d8"/>
    <ds:schemaRef ds:uri="1f418d83-6e52-415a-a3ca-9bc770cb2d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9.xml><?xml version="1.0" encoding="utf-8"?>
<ds:datastoreItem xmlns:ds="http://schemas.openxmlformats.org/officeDocument/2006/customXml" ds:itemID="{77EBBC25-7217-6047-A6FE-6E3834623618}">
  <ds:schemaRefs/>
</ds:datastoreItem>
</file>

<file path=customXml/itemProps10.xml><?xml version="1.0" encoding="utf-8"?>
<ds:datastoreItem xmlns:ds="http://schemas.openxmlformats.org/officeDocument/2006/customXml" ds:itemID="{97E3BD22-8559-41C7-B32B-85AADBCE3220}">
  <ds:schemaRefs/>
</ds:datastoreItem>
</file>

<file path=customXml/itemProps11.xml><?xml version="1.0" encoding="utf-8"?>
<ds:datastoreItem xmlns:ds="http://schemas.openxmlformats.org/officeDocument/2006/customXml" ds:itemID="{37B21E57-60DC-E548-93C8-09859757A515}">
  <ds:schemaRefs/>
</ds:datastoreItem>
</file>

<file path=docMetadata/LabelInfo.xml><?xml version="1.0" encoding="utf-8"?>
<clbl:labelList xmlns:clbl="http://schemas.microsoft.com/office/2020/mipLabelMetadata">
  <clbl:label id="{42f7676c-f455-423c-82f6-dc2d99791af7}" enabled="0" method="" siteId="{42f7676c-f455-423c-82f6-dc2d99791af7}" removed="1"/>
</clbl:labelList>
</file>

<file path=docProps/app.xml><?xml version="1.0" encoding="utf-8"?>
<Properties xmlns="http://schemas.openxmlformats.org/officeDocument/2006/extended-properties" xmlns:vt="http://schemas.openxmlformats.org/officeDocument/2006/docPropsVTypes">
  <Template>SAP TechEd Template</Template>
  <TotalTime>0</TotalTime>
  <Words>2188</Words>
  <Application>Microsoft Macintosh PowerPoint</Application>
  <PresentationFormat>Benutzerdefiniert</PresentationFormat>
  <Paragraphs>480</Paragraphs>
  <Slides>30</Slides>
  <Notes>16</Notes>
  <HiddenSlides>6</HiddenSlides>
  <MMClips>0</MMClips>
  <ScaleCrop>false</ScaleCrop>
  <HeadingPairs>
    <vt:vector size="8" baseType="variant">
      <vt:variant>
        <vt:lpstr>Verwendete Schriftarten</vt:lpstr>
      </vt:variant>
      <vt:variant>
        <vt:i4>14</vt:i4>
      </vt:variant>
      <vt:variant>
        <vt:lpstr>Design</vt:lpstr>
      </vt:variant>
      <vt:variant>
        <vt:i4>1</vt:i4>
      </vt:variant>
      <vt:variant>
        <vt:lpstr>Eingebettete OLE-Server</vt:lpstr>
      </vt:variant>
      <vt:variant>
        <vt:i4>1</vt:i4>
      </vt:variant>
      <vt:variant>
        <vt:lpstr>Folientitel</vt:lpstr>
      </vt:variant>
      <vt:variant>
        <vt:i4>30</vt:i4>
      </vt:variant>
    </vt:vector>
  </HeadingPairs>
  <TitlesOfParts>
    <vt:vector size="46" baseType="lpstr">
      <vt:lpstr>Symbol</vt:lpstr>
      <vt:lpstr>72 Semibold</vt:lpstr>
      <vt:lpstr>SAPRegular</vt:lpstr>
      <vt:lpstr>Calibri</vt:lpstr>
      <vt:lpstr>Wingdings</vt:lpstr>
      <vt:lpstr>72</vt:lpstr>
      <vt:lpstr>72 Bold</vt:lpstr>
      <vt:lpstr>Arial</vt:lpstr>
      <vt:lpstr>Courier New</vt:lpstr>
      <vt:lpstr>Segoe UI</vt:lpstr>
      <vt:lpstr>Arial Unicode MS</vt:lpstr>
      <vt:lpstr>72 Brand Medium</vt:lpstr>
      <vt:lpstr>72 Brand</vt:lpstr>
      <vt:lpstr>Wingdings</vt:lpstr>
      <vt:lpstr>SAP TechEd Template</vt:lpstr>
      <vt:lpstr>think-cell Slide</vt:lpstr>
      <vt:lpstr>XP262  |  Best practices for a successful clean core journey with SAP Build solutions</vt:lpstr>
      <vt:lpstr>Agenda</vt:lpstr>
      <vt:lpstr>Clean Core</vt:lpstr>
      <vt:lpstr>Clean Core - The five guiding principles</vt:lpstr>
      <vt:lpstr>Clean core extensibility model</vt:lpstr>
      <vt:lpstr>SAP Application Extension Methodology</vt:lpstr>
      <vt:lpstr>Extension architecture SAP Application Extension Methodology</vt:lpstr>
      <vt:lpstr>PowerPoint-Präsentation</vt:lpstr>
      <vt:lpstr>PowerPoint-Präsentation</vt:lpstr>
      <vt:lpstr>PowerPoint-Präsentation</vt:lpstr>
      <vt:lpstr>Exercise 1   SAP Application Extension Methodology</vt:lpstr>
      <vt:lpstr>Exercise 1.1:   Use case example:  Sales order process extension</vt:lpstr>
      <vt:lpstr>Use case example: Sales order process extension</vt:lpstr>
      <vt:lpstr>Exercise 1.2:   Assess Extension  Use Case</vt:lpstr>
      <vt:lpstr>PowerPoint-Präsentation</vt:lpstr>
      <vt:lpstr>II. Business Context &amp; Requirement – Template</vt:lpstr>
      <vt:lpstr>III. Application Extension Use Case Scene - Sales order process extension</vt:lpstr>
      <vt:lpstr>Exercise 1.3 &amp; 1.4:   Assess Extension Technology</vt:lpstr>
      <vt:lpstr>Extension Technology per Extension Task Mapping - Scene 01: Sales Order data entry  </vt:lpstr>
      <vt:lpstr>Extension Technology per Extension Task Mapping - Scene 02: Sales Order sent for approval </vt:lpstr>
      <vt:lpstr>Extension Technology per Extension Task Mapping - Scene 03: Sales Order approval</vt:lpstr>
      <vt:lpstr>Extension Technology per Extension Task Mapping – Scene 04 Sales Order post into Cloud ERP   </vt:lpstr>
      <vt:lpstr>Exercise 1.4.1:   Extension Target Solution Diagram</vt:lpstr>
      <vt:lpstr>XP262 – Solution Diagram Sales order process extension</vt:lpstr>
      <vt:lpstr>⚠️ Spoiler alert ⚠️  Example Solution </vt:lpstr>
      <vt:lpstr>Extension Technology per Extension Task Mapping - Scene 01: Sales Order data entry  </vt:lpstr>
      <vt:lpstr>Extension Technology per Extension Task Mapping - Scene 02: Sales Order sent for approval </vt:lpstr>
      <vt:lpstr>Extension Technology per Extension Task Mapping - Scene 03: Sales Order approval</vt:lpstr>
      <vt:lpstr>Extension Technology per Extension Task Mapping – Scene 04 Sales Order post into Cloud ERP   </vt:lpstr>
      <vt:lpstr>XP262 – Solution Diagram Sales order process extension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Matha, Marco</dc:creator>
  <cp:keywords/>
  <dc:description/>
  <cp:lastModifiedBy>Matha, Marco</cp:lastModifiedBy>
  <cp:revision>3</cp:revision>
  <dcterms:created xsi:type="dcterms:W3CDTF">2025-08-19T14:11:37Z</dcterms:created>
  <dcterms:modified xsi:type="dcterms:W3CDTF">2025-09-17T11:13:45Z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1101452479</vt:i4>
  </property>
  <property fmtid="{D5CDD505-2E9C-101B-9397-08002B2CF9AE}" pid="3" name="_NewReviewCycle">
    <vt:lpwstr/>
  </property>
  <property fmtid="{D5CDD505-2E9C-101B-9397-08002B2CF9AE}" pid="4" name="_EmailSubject">
    <vt:lpwstr>SAP - PPT Exploration (Updated)</vt:lpwstr>
  </property>
  <property fmtid="{D5CDD505-2E9C-101B-9397-08002B2CF9AE}" pid="5" name="_PreviousAdHocReviewCycleID">
    <vt:i4>1357826825</vt:i4>
  </property>
  <property fmtid="{D5CDD505-2E9C-101B-9397-08002B2CF9AE}" pid="6" name="ContentTypeId">
    <vt:lpwstr>0x010100B8B6DF7A042E324793A7F90E29F12967</vt:lpwstr>
  </property>
  <property fmtid="{D5CDD505-2E9C-101B-9397-08002B2CF9AE}" pid="7" name="TemplafyTimeStamp">
    <vt:lpwstr>2024-09-17T07:55:49</vt:lpwstr>
  </property>
  <property fmtid="{D5CDD505-2E9C-101B-9397-08002B2CF9AE}" pid="8" name="TemplafyTenantId">
    <vt:lpwstr>sap</vt:lpwstr>
  </property>
  <property fmtid="{D5CDD505-2E9C-101B-9397-08002B2CF9AE}" pid="9" name="TemplafyTemplateId">
    <vt:lpwstr>743088030174412800</vt:lpwstr>
  </property>
  <property fmtid="{D5CDD505-2E9C-101B-9397-08002B2CF9AE}" pid="10" name="TemplafyUserProfileId">
    <vt:lpwstr>637653955260011855</vt:lpwstr>
  </property>
  <property fmtid="{D5CDD505-2E9C-101B-9397-08002B2CF9AE}" pid="11" name="TemplafyLanguageCode">
    <vt:lpwstr>en-US</vt:lpwstr>
  </property>
  <property fmtid="{D5CDD505-2E9C-101B-9397-08002B2CF9AE}" pid="12" name="TemplafyFromBlank">
    <vt:bool>false</vt:bool>
  </property>
  <property fmtid="{D5CDD505-2E9C-101B-9397-08002B2CF9AE}" pid="13" name="MediaServiceImageTags">
    <vt:lpwstr/>
  </property>
</Properties>
</file>